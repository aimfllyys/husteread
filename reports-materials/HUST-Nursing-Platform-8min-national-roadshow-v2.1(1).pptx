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6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0" r:id="rId11"/>
    <p:sldId id="273" r:id="rId12"/>
    <p:sldId id="278" r:id="rId13"/>
    <p:sldId id="268" r:id="rId14"/>
    <p:sldId id="282" r:id="rId15"/>
    <p:sldId id="269" r:id="rId16"/>
    <p:sldId id="275" r:id="rId1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58"/>
  </p:normalViewPr>
  <p:slideViewPr>
    <p:cSldViewPr snapToGrid="0">
      <p:cViewPr varScale="1">
        <p:scale>
          <a:sx n="120" d="100"/>
          <a:sy n="120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项目标准名称由用户于2026-08-10确认</a:t>
            </a:r>
          </a:p>
          <a:p>
            <a:r>
              <a:rPr dirty="0"/>
              <a:t>- 项目事实与边界：recorded-ppt-authoritative-data-report-2026-08-09.md</a:t>
            </a:r>
          </a:p>
          <a:p>
            <a:r>
              <a:rPr dirty="0"/>
              <a:t>- </a:t>
            </a:r>
            <a:r>
              <a:rPr dirty="0" err="1"/>
              <a:t>产品界面：浏览器实测学员端原型；其中界面数值为模拟演示</a:t>
            </a:r>
            <a:endParaRPr dirty="0"/>
          </a:p>
          <a:p>
            <a:r>
              <a:rPr dirty="0"/>
              <a:t>- </a:t>
            </a:r>
            <a:r>
              <a:rPr dirty="0" err="1"/>
              <a:t>背景素材：OpenAI内置图像生成；无人物、无文字、无虚构数据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章节结构来自用户定向要求</a:t>
            </a:r>
            <a:endParaRPr dirty="0"/>
          </a:p>
          <a:p>
            <a:r>
              <a:rPr dirty="0"/>
              <a:t>- 视觉参考：prototype-v2/prototype-01-05.png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国家统计局《2025年国民经济和社会发展统计公报》，2026-02-28</a:t>
            </a:r>
          </a:p>
          <a:p>
            <a:r>
              <a:rPr dirty="0"/>
              <a:t>- 国家卫健委全国护理工作发展情况，2026-05-11</a:t>
            </a:r>
          </a:p>
          <a:p>
            <a:r>
              <a:rPr dirty="0"/>
              <a:t>- 权威汇总：recorded-ppt-authoritative-data-report-2026-08-09.md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武汉市统计局《武汉市2025年国民经济和社会发展统计公报》</a:t>
            </a:r>
          </a:p>
          <a:p>
            <a:r>
              <a:rPr dirty="0"/>
              <a:t>- 武汉市医保局2025年政协提案答复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人社部、民政部《养老服务技能人才专项培训实施方案</a:t>
            </a:r>
            <a:r>
              <a:rPr dirty="0"/>
              <a:t>》</a:t>
            </a:r>
          </a:p>
          <a:p>
            <a:r>
              <a:rPr dirty="0"/>
              <a:t>- 政策目标为2025—2027年任务，不得写成项目成果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项目四端原型与七阶段路径：recorded-ppt-authoritative-data-report-2026-08-09.md</a:t>
            </a:r>
          </a:p>
          <a:p>
            <a:r>
              <a:t>- 四端界面：浏览器实测 /prototype 截图；其中数值为模拟演示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产品界面：浏览器实测 /prototype 四端截图</a:t>
            </a:r>
          </a:p>
          <a:p>
            <a:r>
              <a:t>- 界面数值均为mock演示数据，不作为运营成绩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项目事实：已设计12个Agent概念角色；未接入模型服务或生产环境</a:t>
            </a:r>
          </a:p>
          <a:p>
            <a:r>
              <a:t>- 七阶段路径来自项目方案与权威报告项目状态卡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项目Git、源码与构建复核：2026-08-09</a:t>
            </a:r>
          </a:p>
          <a:p>
            <a:r>
              <a:t>- 界面素材：浏览器实测 /agentdemo 截图；数值为模拟演示</a:t>
            </a:r>
          </a:p>
          <a:p>
            <a:r>
              <a:t>- 详细口径：recorded-ppt-authoritative-data-report-2026-08-09.md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项目事实与数据边界：docs/recorded-ppt-authoritative-data-report-2026-08-09.md</a:t>
            </a:r>
          </a:p>
          <a:p>
            <a:r>
              <a:t>- 公开资源：华中科技大学同济医学院护理学院简介（本硕博培养链、直属附属医院与实践基地）</a:t>
            </a:r>
          </a:p>
          <a:p>
            <a:r>
              <a:t>- 师资表述采用‘学科资源支撑’，不等于学院已批准、参与、背书或项目已取得正式授权</a:t>
            </a:r>
          </a:p>
          <a:p>
            <a:r>
              <a:t>- 四端架构：学员、培训机构、用人机构、家庭；属于当前产品信息架构</a:t>
            </a:r>
          </a:p>
          <a:p>
            <a:r>
              <a:t>- AI 流程和全链路为当前 Agent 概念与产品架构设计，真实效果与运营闭环待真实场景 PoC 验证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recorded-ppt-authoritative-data-report-2026-08-09.md，第9节</a:t>
            </a:r>
          </a:p>
          <a:p>
            <a:r>
              <a:t>- 本页展示商业模式结构，不代表已形成真实收入或运营结果</a:t>
            </a:r>
          </a:p>
          <a:p>
            <a:r>
              <a:t>- 构图方法参考 Miro ecosystem mapping 与 BCG ecosystem flywheel，仅作视觉方法参考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项目事实与数据边界：docs/recorded-ppt-authoritative-data-report-2026-08-09.md</a:t>
            </a:r>
          </a:p>
          <a:p>
            <a:r>
              <a:t>- 项目标准名称：颐路同行——基于多智能体协同的护理康养人才成长与照护服务平台</a:t>
            </a:r>
          </a:p>
          <a:p>
            <a:r>
              <a:t>- MVP在本页特指可交互产品原型阶段，不等于真实运营或商业化上线</a:t>
            </a:r>
          </a:p>
          <a:p>
            <a:r>
              <a:t>- 主界面为浏览器实测原型截图；界面数字为模拟演示</a:t>
            </a:r>
          </a:p>
          <a:p>
            <a:r>
              <a:t>- 四周证据卡为项目当前可证明的研究、架构与概念设计事实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竞争页采用类型对照，不使用未经核实的具体竞品评分</a:t>
            </a:r>
          </a:p>
          <a:p>
            <a:r>
              <a:t>- 本项目仅能证明原型已呈现相关任务链，真实效果待PoC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项目事实与数据边界：docs</a:t>
            </a:r>
            <a:r>
              <a:rPr dirty="0"/>
              <a:t>/recorded-ppt-authoritative-data-report-2026-08-09.md</a:t>
            </a:r>
          </a:p>
          <a:p>
            <a:r>
              <a:rPr dirty="0"/>
              <a:t>- </a:t>
            </a:r>
            <a:r>
              <a:rPr dirty="0" err="1"/>
              <a:t>项目标准名称：颐路同行</a:t>
            </a:r>
            <a:r>
              <a:rPr dirty="0"/>
              <a:t>——</a:t>
            </a:r>
            <a:r>
              <a:rPr dirty="0" err="1"/>
              <a:t>基于多智能体协同的护理康养人才成长与照护服务平台</a:t>
            </a:r>
            <a:endParaRPr dirty="0"/>
          </a:p>
          <a:p>
            <a:r>
              <a:rPr dirty="0"/>
              <a:t>- </a:t>
            </a:r>
            <a:r>
              <a:rPr dirty="0" err="1"/>
              <a:t>本页按‘个人头像</a:t>
            </a:r>
            <a:r>
              <a:rPr dirty="0"/>
              <a:t> + </a:t>
            </a:r>
            <a:r>
              <a:rPr dirty="0" err="1"/>
              <a:t>姓名</a:t>
            </a:r>
            <a:r>
              <a:rPr dirty="0"/>
              <a:t> + </a:t>
            </a:r>
            <a:r>
              <a:rPr dirty="0" err="1"/>
              <a:t>身份</a:t>
            </a:r>
            <a:r>
              <a:rPr dirty="0"/>
              <a:t> + </a:t>
            </a:r>
            <a:r>
              <a:rPr dirty="0" err="1"/>
              <a:t>履历</a:t>
            </a:r>
            <a:r>
              <a:rPr dirty="0"/>
              <a:t> + </a:t>
            </a:r>
            <a:r>
              <a:rPr dirty="0" err="1"/>
              <a:t>获奖经历’组织，四张卡等权并行，不表达个人职责层级</a:t>
            </a:r>
            <a:endParaRPr dirty="0"/>
          </a:p>
          <a:p>
            <a:r>
              <a:rPr dirty="0"/>
              <a:t>- </a:t>
            </a:r>
            <a:r>
              <a:rPr dirty="0" err="1"/>
              <a:t>当前仓库没有项目成员的授权头像、姓名、履历与获奖原始证明，因此全部为明确占位；不得把抽象头像当作真实人物</a:t>
            </a:r>
            <a:endParaRPr dirty="0"/>
          </a:p>
          <a:p>
            <a:r>
              <a:rPr dirty="0"/>
              <a:t>- portrait() </a:t>
            </a:r>
            <a:r>
              <a:rPr dirty="0" err="1"/>
              <a:t>已预留真实头像文件替换入口；替换后保持纵向长方形照片和卡片布局不变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PoC指标名称来自权威报告第9.2节</a:t>
            </a:r>
          </a:p>
          <a:p>
            <a:r>
              <a:t>- 全部字段为待采集指标，不代表已实现结果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项目事实与数据边界：docs/recorded-ppt-authoritative-data-report-2026-08-09.md</a:t>
            </a:r>
          </a:p>
          <a:p>
            <a:r>
              <a:t>- 项目标准名称：颐路同行——基于多智能体协同的护理康养人才成长与照护服务平台</a:t>
            </a:r>
          </a:p>
          <a:p>
            <a:r>
              <a:t>- 本文件是独立的线下路演最后一页，不替换完整路演 deck</a:t>
            </a:r>
          </a:p>
          <a:p>
            <a:r>
              <a:t>- 页面不引入虚拟人物、未核实指标或财务分析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7.jpe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4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31.xml"/><Relationship Id="rId18" Type="http://schemas.openxmlformats.org/officeDocument/2006/relationships/tags" Target="../tags/tag36.xml"/><Relationship Id="rId26" Type="http://schemas.openxmlformats.org/officeDocument/2006/relationships/tags" Target="../tags/tag44.xml"/><Relationship Id="rId3" Type="http://schemas.openxmlformats.org/officeDocument/2006/relationships/tags" Target="../tags/tag21.xml"/><Relationship Id="rId21" Type="http://schemas.openxmlformats.org/officeDocument/2006/relationships/tags" Target="../tags/tag39.xml"/><Relationship Id="rId34" Type="http://schemas.openxmlformats.org/officeDocument/2006/relationships/image" Target="../media/image11.png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5" Type="http://schemas.openxmlformats.org/officeDocument/2006/relationships/tags" Target="../tags/tag43.xml"/><Relationship Id="rId33" Type="http://schemas.openxmlformats.org/officeDocument/2006/relationships/image" Target="../media/image10.png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tags" Target="../tags/tag38.xml"/><Relationship Id="rId29" Type="http://schemas.openxmlformats.org/officeDocument/2006/relationships/notesSlide" Target="../notesSlides/notesSlide6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24" Type="http://schemas.openxmlformats.org/officeDocument/2006/relationships/tags" Target="../tags/tag42.xml"/><Relationship Id="rId32" Type="http://schemas.openxmlformats.org/officeDocument/2006/relationships/image" Target="../media/image9.png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23" Type="http://schemas.openxmlformats.org/officeDocument/2006/relationships/tags" Target="../tags/tag41.xml"/><Relationship Id="rId28" Type="http://schemas.openxmlformats.org/officeDocument/2006/relationships/slideLayout" Target="../slideLayouts/slideLayout1.xml"/><Relationship Id="rId10" Type="http://schemas.openxmlformats.org/officeDocument/2006/relationships/tags" Target="../tags/tag28.xml"/><Relationship Id="rId19" Type="http://schemas.openxmlformats.org/officeDocument/2006/relationships/tags" Target="../tags/tag37.xml"/><Relationship Id="rId31" Type="http://schemas.openxmlformats.org/officeDocument/2006/relationships/image" Target="../media/image8.png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Relationship Id="rId22" Type="http://schemas.openxmlformats.org/officeDocument/2006/relationships/tags" Target="../tags/tag40.xml"/><Relationship Id="rId27" Type="http://schemas.openxmlformats.org/officeDocument/2006/relationships/tags" Target="../tags/tag45.xml"/><Relationship Id="rId30" Type="http://schemas.openxmlformats.org/officeDocument/2006/relationships/image" Target="../media/image7.jpeg"/><Relationship Id="rId8" Type="http://schemas.openxmlformats.org/officeDocument/2006/relationships/tags" Target="../tags/tag2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slideLayout" Target="../slideLayouts/slideLayout1.xml"/><Relationship Id="rId18" Type="http://schemas.openxmlformats.org/officeDocument/2006/relationships/image" Target="../media/image10.png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image" Target="../media/image9.png"/><Relationship Id="rId2" Type="http://schemas.openxmlformats.org/officeDocument/2006/relationships/tags" Target="../tags/tag47.xml"/><Relationship Id="rId16" Type="http://schemas.openxmlformats.org/officeDocument/2006/relationships/image" Target="../media/image8.png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image" Target="../media/image7.jpeg"/><Relationship Id="rId10" Type="http://schemas.openxmlformats.org/officeDocument/2006/relationships/tags" Target="../tags/tag55.xml"/><Relationship Id="rId19" Type="http://schemas.openxmlformats.org/officeDocument/2006/relationships/image" Target="../media/image11.png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2" Type="http://schemas.openxmlformats.org/officeDocument/2006/relationships/tags" Target="../tags/tag59.xml"/><Relationship Id="rId16" Type="http://schemas.openxmlformats.org/officeDocument/2006/relationships/image" Target="../media/image12.png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image" Target="../media/image7.jpeg"/><Relationship Id="rId10" Type="http://schemas.openxmlformats.org/officeDocument/2006/relationships/tags" Target="../tags/tag67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tags" Target="../tags/tag82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1" Type="http://schemas.openxmlformats.org/officeDocument/2006/relationships/image" Target="../media/image14.png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17" Type="http://schemas.openxmlformats.org/officeDocument/2006/relationships/tags" Target="../tags/tag86.xml"/><Relationship Id="rId2" Type="http://schemas.openxmlformats.org/officeDocument/2006/relationships/tags" Target="../tags/tag71.xml"/><Relationship Id="rId16" Type="http://schemas.openxmlformats.org/officeDocument/2006/relationships/tags" Target="../tags/tag85.xml"/><Relationship Id="rId20" Type="http://schemas.openxmlformats.org/officeDocument/2006/relationships/image" Target="../media/image7.jpeg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5" Type="http://schemas.openxmlformats.org/officeDocument/2006/relationships/tags" Target="../tags/tag84.xml"/><Relationship Id="rId10" Type="http://schemas.openxmlformats.org/officeDocument/2006/relationships/tags" Target="../tags/tag79.xml"/><Relationship Id="rId19" Type="http://schemas.openxmlformats.org/officeDocument/2006/relationships/notesSlide" Target="../notesSlides/notesSlide14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tags" Target="../tags/tag83.xml"/><Relationship Id="rId22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cover-ai-atmosphere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" name="cover-left-gradient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6667500" cy="6858000"/>
          </a:xfrm>
          <a:prstGeom prst="rect">
            <a:avLst/>
          </a:prstGeom>
        </p:spPr>
      </p:pic>
      <p:pic>
        <p:nvPicPr>
          <p:cNvPr id="25" name="cover-right-wash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715000" y="0"/>
            <a:ext cx="6477000" cy="6858000"/>
          </a:xfrm>
          <a:prstGeom prst="rect">
            <a:avLst/>
          </a:prstGeom>
        </p:spPr>
      </p:pic>
      <p:sp>
        <p:nvSpPr>
          <p:cNvPr id="4" name="cover-category"/>
          <p:cNvSpPr>
            <a:spLocks noGrp="1"/>
          </p:cNvSpPr>
          <p:nvPr/>
        </p:nvSpPr>
        <p:spPr>
          <a:xfrm>
            <a:off x="685800" y="4000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护理康养 · 多智能体协同</a:t>
            </a:r>
          </a:p>
        </p:txBody>
      </p:sp>
      <p:sp>
        <p:nvSpPr>
          <p:cNvPr id="5" name="cover-brand-echo"/>
          <p:cNvSpPr>
            <a:spLocks noGrp="1"/>
          </p:cNvSpPr>
          <p:nvPr/>
        </p:nvSpPr>
        <p:spPr>
          <a:xfrm>
            <a:off x="657225" y="923925"/>
            <a:ext cx="4476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5850" b="1">
                <a:solidFill>
                  <a:srgbClr val="92D4BC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defRPr>
            </a:pPr>
            <a:r>
              <a:rPr sz="5850" b="1">
                <a:solidFill>
                  <a:srgbClr val="92D4BC"/>
                </a:solidFill>
                <a:latin typeface="黑体" panose="02010609060101010101" charset="-122"/>
                <a:ea typeface="黑体" panose="02010609060101010101" charset="-122"/>
                <a:cs typeface="华文楷体" panose="02010600040101010101" charset="-122"/>
              </a:rPr>
              <a:t>颐路同行</a:t>
            </a:r>
          </a:p>
        </p:txBody>
      </p:sp>
      <p:sp>
        <p:nvSpPr>
          <p:cNvPr id="6" name="cover-brand"/>
          <p:cNvSpPr>
            <a:spLocks noGrp="1"/>
          </p:cNvSpPr>
          <p:nvPr/>
        </p:nvSpPr>
        <p:spPr>
          <a:xfrm>
            <a:off x="657225" y="908685"/>
            <a:ext cx="4476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5850" b="1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defRPr>
            </a:pPr>
            <a:r>
              <a:rPr sz="5850" b="1" dirty="0" err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华文楷体" panose="02010600040101010101" charset="-122"/>
              </a:rPr>
              <a:t>颐路同行</a:t>
            </a:r>
            <a:endParaRPr sz="585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  <a:cs typeface="华文楷体" panose="02010600040101010101" charset="-122"/>
            </a:endParaRPr>
          </a:p>
        </p:txBody>
      </p:sp>
      <p:sp>
        <p:nvSpPr>
          <p:cNvPr id="7" name="cover-standard-kicker"/>
          <p:cNvSpPr>
            <a:spLocks noGrp="1"/>
          </p:cNvSpPr>
          <p:nvPr/>
        </p:nvSpPr>
        <p:spPr>
          <a:xfrm>
            <a:off x="685800" y="20955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基于多智能体协同的</a:t>
            </a:r>
          </a:p>
        </p:txBody>
      </p:sp>
      <p:sp>
        <p:nvSpPr>
          <p:cNvPr id="8" name="cover-standard-name"/>
          <p:cNvSpPr>
            <a:spLocks noGrp="1"/>
          </p:cNvSpPr>
          <p:nvPr/>
        </p:nvSpPr>
        <p:spPr>
          <a:xfrm>
            <a:off x="666750" y="2476500"/>
            <a:ext cx="5143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>
            <a:normAutofit/>
          </a:bodyPr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护理康养人才成长</a:t>
            </a:r>
            <a:endParaRPr sz="315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2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与照护服务平台</a:t>
            </a:r>
            <a:endParaRPr sz="315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ver-value-chain"/>
          <p:cNvSpPr>
            <a:spLocks noGrp="1"/>
          </p:cNvSpPr>
          <p:nvPr/>
        </p:nvSpPr>
        <p:spPr>
          <a:xfrm>
            <a:off x="685800" y="4476750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人才成长  ·  就业衔接  ·  照护服务</a:t>
            </a:r>
          </a:p>
        </p:txBody>
      </p:sp>
      <p:sp>
        <p:nvSpPr>
          <p:cNvPr id="10" name="cover-roadshow"/>
          <p:cNvSpPr>
            <a:spLocks noGrp="1"/>
          </p:cNvSpPr>
          <p:nvPr/>
        </p:nvSpPr>
        <p:spPr>
          <a:xfrm>
            <a:off x="685800" y="54102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dirty="0" err="1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护理康养协同平台</a:t>
            </a:r>
            <a:r>
              <a:rPr sz="1275" b="1" dirty="0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75" b="1" dirty="0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网谷清禾杯</a:t>
            </a:r>
            <a:r>
              <a:rPr sz="1275" b="1" dirty="0" err="1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路演</a:t>
            </a:r>
            <a:endParaRPr sz="1275" b="1" dirty="0">
              <a:solidFill>
                <a:srgbClr val="C5A3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cover-proof-label"/>
          <p:cNvSpPr>
            <a:spLocks noGrp="1"/>
          </p:cNvSpPr>
          <p:nvPr/>
        </p:nvSpPr>
        <p:spPr>
          <a:xfrm>
            <a:off x="8616315" y="6533515"/>
            <a:ext cx="3390900" cy="266700"/>
          </a:xfrm>
          <a:prstGeom prst="roundRect">
            <a:avLst>
              <a:gd name="adj" fmla="val 17857"/>
            </a:avLst>
          </a:prstGeom>
          <a:solidFill>
            <a:srgbClr val="F4F0E6"/>
          </a:solidFill>
          <a:ln w="9525">
            <a:solidFill>
              <a:srgbClr val="C5A36A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dirty="0" err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真实交互原型｜界面数据为模拟演示</a:t>
            </a:r>
            <a:endParaRPr sz="1125" b="1" dirty="0">
              <a:solidFill>
                <a:srgbClr val="0D3A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folio-box-1"/>
          <p:cNvSpPr>
            <a:spLocks noGrp="1"/>
          </p:cNvSpPr>
          <p:nvPr/>
        </p:nvSpPr>
        <p:spPr>
          <a:xfrm>
            <a:off x="95250" y="6419850"/>
            <a:ext cx="400050" cy="333375"/>
          </a:xfrm>
          <a:prstGeom prst="rect">
            <a:avLst/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22" name="folio-1"/>
          <p:cNvSpPr>
            <a:spLocks noGrp="1"/>
          </p:cNvSpPr>
          <p:nvPr/>
        </p:nvSpPr>
        <p:spPr>
          <a:xfrm>
            <a:off x="114300" y="64198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21240000">
            <a:off x="6760845" y="1360170"/>
            <a:ext cx="4608830" cy="213847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12700"/>
          </a:effectLst>
        </p:spPr>
      </p:pic>
      <p:sp>
        <p:nvSpPr>
          <p:cNvPr id="13" name="cover-shot-label-1"/>
          <p:cNvSpPr>
            <a:spLocks noGrp="1"/>
          </p:cNvSpPr>
          <p:nvPr/>
        </p:nvSpPr>
        <p:spPr>
          <a:xfrm>
            <a:off x="8760460" y="1412875"/>
            <a:ext cx="1066800" cy="257175"/>
          </a:xfrm>
          <a:prstGeom prst="roundRect">
            <a:avLst>
              <a:gd name="adj" fmla="val 22222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  <p:txBody>
          <a:bodyPr lIns="47625" tIns="9525" rIns="47625" bIns="95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学习成长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0000">
            <a:off x="6344285" y="3084830"/>
            <a:ext cx="5045710" cy="19970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</p:pic>
      <p:sp>
        <p:nvSpPr>
          <p:cNvPr id="16" name="cover-shot-label-2"/>
          <p:cNvSpPr>
            <a:spLocks noGrp="1"/>
          </p:cNvSpPr>
          <p:nvPr/>
        </p:nvSpPr>
        <p:spPr>
          <a:xfrm>
            <a:off x="9084310" y="3213100"/>
            <a:ext cx="1066800" cy="257175"/>
          </a:xfrm>
          <a:prstGeom prst="roundRect">
            <a:avLst>
              <a:gd name="adj" fmla="val 22222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  <p:txBody>
          <a:bodyPr lIns="47625" tIns="9525" rIns="47625" bIns="95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Agent协同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420000">
            <a:off x="5577840" y="4210685"/>
            <a:ext cx="5158105" cy="23368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9050"/>
          </a:effectLst>
        </p:spPr>
      </p:pic>
      <p:sp>
        <p:nvSpPr>
          <p:cNvPr id="19" name="cover-shot-label-3"/>
          <p:cNvSpPr>
            <a:spLocks noGrp="1"/>
          </p:cNvSpPr>
          <p:nvPr/>
        </p:nvSpPr>
        <p:spPr>
          <a:xfrm>
            <a:off x="7824470" y="4293235"/>
            <a:ext cx="1066800" cy="257175"/>
          </a:xfrm>
          <a:prstGeom prst="roundRect">
            <a:avLst>
              <a:gd name="adj" fmla="val 22222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  <p:txBody>
          <a:bodyPr lIns="47625" tIns="9525" rIns="47625" bIns="95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照护服务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backgroun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-title"/>
          <p:cNvSpPr>
            <a:spLocks noGrp="1"/>
          </p:cNvSpPr>
          <p:nvPr/>
        </p:nvSpPr>
        <p:spPr>
          <a:xfrm>
            <a:off x="514350" y="51435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 fontScale="97289"/>
          </a:bodyPr>
          <a:lstStyle/>
          <a:p>
            <a:pPr algn="ctr">
              <a:lnSpc>
                <a:spcPct val="108000"/>
              </a:lnSpc>
              <a:buNone/>
              <a:def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3450" b="1" dirty="0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</a:t>
            </a:r>
            <a:r>
              <a:rPr sz="3450" b="1" dirty="0" err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个问题，一路向前</a:t>
            </a:r>
            <a:endParaRPr sz="3450" b="1" dirty="0">
              <a:solidFill>
                <a:srgbClr val="0D3A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genda-1"/>
          <p:cNvSpPr>
            <a:spLocks noGrp="1"/>
          </p:cNvSpPr>
          <p:nvPr/>
        </p:nvSpPr>
        <p:spPr>
          <a:xfrm>
            <a:off x="514350" y="1276350"/>
            <a:ext cx="3543300" cy="1752600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5" name="agenda-rail-1"/>
          <p:cNvSpPr>
            <a:spLocks noGrp="1"/>
          </p:cNvSpPr>
          <p:nvPr/>
        </p:nvSpPr>
        <p:spPr>
          <a:xfrm>
            <a:off x="514350" y="1276350"/>
            <a:ext cx="95250" cy="1752600"/>
          </a:xfrm>
          <a:prstGeom prst="rect">
            <a:avLst/>
          </a:prstGeom>
          <a:solidFill>
            <a:srgbClr val="0D3A2D"/>
          </a:solidFill>
          <a:ln w="0">
            <a:noFill/>
            <a:prstDash val="solid"/>
          </a:ln>
        </p:spPr>
      </p:sp>
      <p:sp>
        <p:nvSpPr>
          <p:cNvPr id="6" name="agenda-num-1"/>
          <p:cNvSpPr>
            <a:spLocks noGrp="1"/>
          </p:cNvSpPr>
          <p:nvPr/>
        </p:nvSpPr>
        <p:spPr>
          <a:xfrm>
            <a:off x="685800" y="14287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625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7" name="agenda-title-1"/>
          <p:cNvSpPr>
            <a:spLocks noGrp="1"/>
          </p:cNvSpPr>
          <p:nvPr/>
        </p:nvSpPr>
        <p:spPr>
          <a:xfrm>
            <a:off x="1485900" y="1447800"/>
            <a:ext cx="228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5785"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</a:p>
          <a:p>
            <a:pPr algn="l">
              <a:lnSpc>
                <a:spcPct val="108000"/>
              </a:lnSpc>
              <a:buNone/>
              <a:defRPr sz="21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与项目意义</a:t>
            </a:r>
          </a:p>
        </p:txBody>
      </p:sp>
      <p:sp>
        <p:nvSpPr>
          <p:cNvPr id="8" name="agenda-hook-1"/>
          <p:cNvSpPr>
            <a:spLocks noGrp="1"/>
          </p:cNvSpPr>
          <p:nvPr/>
        </p:nvSpPr>
        <p:spPr>
          <a:xfrm>
            <a:off x="1485900" y="2228850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供需断点</a:t>
            </a:r>
          </a:p>
        </p:txBody>
      </p:sp>
      <p:sp>
        <p:nvSpPr>
          <p:cNvPr id="9" name="agenda-mark-1-1"/>
          <p:cNvSpPr>
            <a:spLocks noGrp="1"/>
          </p:cNvSpPr>
          <p:nvPr/>
        </p:nvSpPr>
        <p:spPr>
          <a:xfrm>
            <a:off x="3238500" y="2381250"/>
            <a:ext cx="76200" cy="228600"/>
          </a:xfrm>
          <a:prstGeom prst="roundRect">
            <a:avLst>
              <a:gd name="adj" fmla="val 37500"/>
            </a:avLst>
          </a:prstGeom>
          <a:solidFill>
            <a:srgbClr val="2E6A56"/>
          </a:solidFill>
          <a:ln w="0">
            <a:noFill/>
            <a:prstDash val="solid"/>
          </a:ln>
        </p:spPr>
      </p:sp>
      <p:sp>
        <p:nvSpPr>
          <p:cNvPr id="10" name="agenda-mark-1-2"/>
          <p:cNvSpPr>
            <a:spLocks noGrp="1"/>
          </p:cNvSpPr>
          <p:nvPr/>
        </p:nvSpPr>
        <p:spPr>
          <a:xfrm>
            <a:off x="3371850" y="2266950"/>
            <a:ext cx="76200" cy="342900"/>
          </a:xfrm>
          <a:prstGeom prst="roundRect">
            <a:avLst>
              <a:gd name="adj" fmla="val 37500"/>
            </a:avLst>
          </a:prstGeom>
          <a:solidFill>
            <a:srgbClr val="2E6A56"/>
          </a:solidFill>
          <a:ln w="0">
            <a:noFill/>
            <a:prstDash val="solid"/>
          </a:ln>
        </p:spPr>
      </p:sp>
      <p:sp>
        <p:nvSpPr>
          <p:cNvPr id="11" name="agenda-mark-1-3"/>
          <p:cNvSpPr>
            <a:spLocks noGrp="1"/>
          </p:cNvSpPr>
          <p:nvPr/>
        </p:nvSpPr>
        <p:spPr>
          <a:xfrm>
            <a:off x="3505200" y="2152650"/>
            <a:ext cx="76200" cy="457200"/>
          </a:xfrm>
          <a:prstGeom prst="roundRect">
            <a:avLst>
              <a:gd name="adj" fmla="val 37500"/>
            </a:avLst>
          </a:prstGeom>
          <a:solidFill>
            <a:srgbClr val="2E6A56"/>
          </a:solidFill>
          <a:ln w="0">
            <a:noFill/>
            <a:prstDash val="solid"/>
          </a:ln>
        </p:spPr>
      </p:sp>
      <p:sp>
        <p:nvSpPr>
          <p:cNvPr id="12" name="agenda-mark-1-4"/>
          <p:cNvSpPr>
            <a:spLocks noGrp="1"/>
          </p:cNvSpPr>
          <p:nvPr/>
        </p:nvSpPr>
        <p:spPr>
          <a:xfrm>
            <a:off x="3638550" y="2038350"/>
            <a:ext cx="76200" cy="571500"/>
          </a:xfrm>
          <a:prstGeom prst="roundRect">
            <a:avLst>
              <a:gd name="adj" fmla="val 37500"/>
            </a:avLst>
          </a:prstGeom>
          <a:solidFill>
            <a:srgbClr val="B64A3D"/>
          </a:solidFill>
          <a:ln w="0">
            <a:noFill/>
            <a:prstDash val="solid"/>
          </a:ln>
        </p:spPr>
      </p:sp>
      <p:sp>
        <p:nvSpPr>
          <p:cNvPr id="13" name="agenda-2"/>
          <p:cNvSpPr>
            <a:spLocks noGrp="1"/>
          </p:cNvSpPr>
          <p:nvPr/>
        </p:nvSpPr>
        <p:spPr>
          <a:xfrm>
            <a:off x="4324350" y="1276350"/>
            <a:ext cx="3543300" cy="1752600"/>
          </a:xfrm>
          <a:prstGeom prst="roundRect">
            <a:avLst>
              <a:gd name="adj" fmla="val 4348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14" name="agenda-rail-2"/>
          <p:cNvSpPr>
            <a:spLocks noGrp="1"/>
          </p:cNvSpPr>
          <p:nvPr/>
        </p:nvSpPr>
        <p:spPr>
          <a:xfrm>
            <a:off x="4324350" y="1276350"/>
            <a:ext cx="95250" cy="1752600"/>
          </a:xfrm>
          <a:prstGeom prst="rect">
            <a:avLst/>
          </a:prstGeom>
          <a:solidFill>
            <a:srgbClr val="92D4BC"/>
          </a:solidFill>
          <a:ln w="0">
            <a:noFill/>
            <a:prstDash val="solid"/>
          </a:ln>
        </p:spPr>
      </p:sp>
      <p:sp>
        <p:nvSpPr>
          <p:cNvPr id="15" name="agenda-num-2"/>
          <p:cNvSpPr>
            <a:spLocks noGrp="1"/>
          </p:cNvSpPr>
          <p:nvPr/>
        </p:nvSpPr>
        <p:spPr>
          <a:xfrm>
            <a:off x="4495800" y="14287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92D4B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625" b="1">
                <a:solidFill>
                  <a:srgbClr val="92D4B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16" name="agenda-title-2"/>
          <p:cNvSpPr>
            <a:spLocks noGrp="1"/>
          </p:cNvSpPr>
          <p:nvPr/>
        </p:nvSpPr>
        <p:spPr>
          <a:xfrm>
            <a:off x="5295900" y="1447800"/>
            <a:ext cx="228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5785"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产品介绍</a:t>
            </a:r>
          </a:p>
          <a:p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与项目亮点</a:t>
            </a:r>
          </a:p>
        </p:txBody>
      </p:sp>
      <p:sp>
        <p:nvSpPr>
          <p:cNvPr id="17" name="agenda-hook-2"/>
          <p:cNvSpPr>
            <a:spLocks noGrp="1"/>
          </p:cNvSpPr>
          <p:nvPr/>
        </p:nvSpPr>
        <p:spPr>
          <a:xfrm>
            <a:off x="5295900" y="2228850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四端协同</a:t>
            </a:r>
          </a:p>
        </p:txBody>
      </p:sp>
      <p:sp>
        <p:nvSpPr>
          <p:cNvPr id="18" name="agenda-mark-2-1"/>
          <p:cNvSpPr>
            <a:spLocks noGrp="1"/>
          </p:cNvSpPr>
          <p:nvPr/>
        </p:nvSpPr>
        <p:spPr>
          <a:xfrm>
            <a:off x="7048500" y="2381250"/>
            <a:ext cx="76200" cy="228600"/>
          </a:xfrm>
          <a:prstGeom prst="roundRect">
            <a:avLst>
              <a:gd name="adj" fmla="val 37500"/>
            </a:avLst>
          </a:prstGeom>
          <a:solidFill>
            <a:srgbClr val="92D4BC"/>
          </a:solidFill>
          <a:ln w="0">
            <a:noFill/>
            <a:prstDash val="solid"/>
          </a:ln>
        </p:spPr>
      </p:sp>
      <p:sp>
        <p:nvSpPr>
          <p:cNvPr id="19" name="agenda-mark-2-2"/>
          <p:cNvSpPr>
            <a:spLocks noGrp="1"/>
          </p:cNvSpPr>
          <p:nvPr/>
        </p:nvSpPr>
        <p:spPr>
          <a:xfrm>
            <a:off x="7181850" y="2266950"/>
            <a:ext cx="76200" cy="342900"/>
          </a:xfrm>
          <a:prstGeom prst="roundRect">
            <a:avLst>
              <a:gd name="adj" fmla="val 37500"/>
            </a:avLst>
          </a:prstGeom>
          <a:solidFill>
            <a:srgbClr val="92D4BC"/>
          </a:solidFill>
          <a:ln w="0">
            <a:noFill/>
            <a:prstDash val="solid"/>
          </a:ln>
        </p:spPr>
      </p:sp>
      <p:sp>
        <p:nvSpPr>
          <p:cNvPr id="20" name="agenda-mark-2-3"/>
          <p:cNvSpPr>
            <a:spLocks noGrp="1"/>
          </p:cNvSpPr>
          <p:nvPr/>
        </p:nvSpPr>
        <p:spPr>
          <a:xfrm>
            <a:off x="7315200" y="2152650"/>
            <a:ext cx="76200" cy="457200"/>
          </a:xfrm>
          <a:prstGeom prst="roundRect">
            <a:avLst>
              <a:gd name="adj" fmla="val 37500"/>
            </a:avLst>
          </a:prstGeom>
          <a:solidFill>
            <a:srgbClr val="92D4BC"/>
          </a:solidFill>
          <a:ln w="0">
            <a:noFill/>
            <a:prstDash val="solid"/>
          </a:ln>
        </p:spPr>
      </p:sp>
      <p:sp>
        <p:nvSpPr>
          <p:cNvPr id="21" name="agenda-mark-2-4"/>
          <p:cNvSpPr>
            <a:spLocks noGrp="1"/>
          </p:cNvSpPr>
          <p:nvPr/>
        </p:nvSpPr>
        <p:spPr>
          <a:xfrm>
            <a:off x="7448550" y="2038350"/>
            <a:ext cx="76200" cy="571500"/>
          </a:xfrm>
          <a:prstGeom prst="roundRect">
            <a:avLst>
              <a:gd name="adj" fmla="val 37500"/>
            </a:avLst>
          </a:prstGeom>
          <a:solidFill>
            <a:srgbClr val="92D4BC"/>
          </a:solidFill>
          <a:ln w="0">
            <a:noFill/>
            <a:prstDash val="solid"/>
          </a:ln>
        </p:spPr>
      </p:sp>
      <p:sp>
        <p:nvSpPr>
          <p:cNvPr id="31" name="agenda-4"/>
          <p:cNvSpPr>
            <a:spLocks noGrp="1"/>
          </p:cNvSpPr>
          <p:nvPr/>
        </p:nvSpPr>
        <p:spPr>
          <a:xfrm>
            <a:off x="514350" y="3371850"/>
            <a:ext cx="3543300" cy="1752600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32" name="agenda-rail-4"/>
          <p:cNvSpPr>
            <a:spLocks noGrp="1"/>
          </p:cNvSpPr>
          <p:nvPr/>
        </p:nvSpPr>
        <p:spPr>
          <a:xfrm>
            <a:off x="514350" y="3371850"/>
            <a:ext cx="95250" cy="1752600"/>
          </a:xfrm>
          <a:prstGeom prst="rect">
            <a:avLst/>
          </a:prstGeom>
          <a:solidFill>
            <a:srgbClr val="B64A3D"/>
          </a:solidFill>
          <a:ln w="0">
            <a:noFill/>
            <a:prstDash val="solid"/>
          </a:ln>
        </p:spPr>
      </p:sp>
      <p:sp>
        <p:nvSpPr>
          <p:cNvPr id="33" name="agenda-num-4"/>
          <p:cNvSpPr>
            <a:spLocks noGrp="1"/>
          </p:cNvSpPr>
          <p:nvPr/>
        </p:nvSpPr>
        <p:spPr>
          <a:xfrm>
            <a:off x="685800" y="35242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625" b="1" dirty="0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2625" b="1" dirty="0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2625" b="1" dirty="0">
              <a:solidFill>
                <a:srgbClr val="0D3A2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agenda-title-4"/>
          <p:cNvSpPr>
            <a:spLocks noGrp="1"/>
          </p:cNvSpPr>
          <p:nvPr/>
        </p:nvSpPr>
        <p:spPr>
          <a:xfrm>
            <a:off x="1485900" y="3543300"/>
            <a:ext cx="228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竞争分析</a:t>
            </a:r>
          </a:p>
        </p:txBody>
      </p:sp>
      <p:sp>
        <p:nvSpPr>
          <p:cNvPr id="35" name="agenda-hook-4"/>
          <p:cNvSpPr>
            <a:spLocks noGrp="1"/>
          </p:cNvSpPr>
          <p:nvPr/>
        </p:nvSpPr>
        <p:spPr>
          <a:xfrm>
            <a:off x="1485900" y="4324350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任务链</a:t>
            </a:r>
          </a:p>
        </p:txBody>
      </p:sp>
      <p:sp>
        <p:nvSpPr>
          <p:cNvPr id="36" name="agenda-mark-4-1"/>
          <p:cNvSpPr>
            <a:spLocks noGrp="1"/>
          </p:cNvSpPr>
          <p:nvPr/>
        </p:nvSpPr>
        <p:spPr>
          <a:xfrm>
            <a:off x="3238500" y="4476750"/>
            <a:ext cx="76200" cy="228600"/>
          </a:xfrm>
          <a:prstGeom prst="roundRect">
            <a:avLst>
              <a:gd name="adj" fmla="val 37500"/>
            </a:avLst>
          </a:prstGeom>
          <a:solidFill>
            <a:srgbClr val="2E6A56"/>
          </a:solidFill>
          <a:ln w="0">
            <a:noFill/>
            <a:prstDash val="solid"/>
          </a:ln>
        </p:spPr>
      </p:sp>
      <p:sp>
        <p:nvSpPr>
          <p:cNvPr id="37" name="agenda-mark-4-2"/>
          <p:cNvSpPr>
            <a:spLocks noGrp="1"/>
          </p:cNvSpPr>
          <p:nvPr/>
        </p:nvSpPr>
        <p:spPr>
          <a:xfrm>
            <a:off x="3371850" y="4362450"/>
            <a:ext cx="76200" cy="342900"/>
          </a:xfrm>
          <a:prstGeom prst="roundRect">
            <a:avLst>
              <a:gd name="adj" fmla="val 37500"/>
            </a:avLst>
          </a:prstGeom>
          <a:solidFill>
            <a:srgbClr val="2E6A56"/>
          </a:solidFill>
          <a:ln w="0">
            <a:noFill/>
            <a:prstDash val="solid"/>
          </a:ln>
        </p:spPr>
      </p:sp>
      <p:sp>
        <p:nvSpPr>
          <p:cNvPr id="38" name="agenda-mark-4-3"/>
          <p:cNvSpPr>
            <a:spLocks noGrp="1"/>
          </p:cNvSpPr>
          <p:nvPr/>
        </p:nvSpPr>
        <p:spPr>
          <a:xfrm>
            <a:off x="3505200" y="4248150"/>
            <a:ext cx="76200" cy="457200"/>
          </a:xfrm>
          <a:prstGeom prst="roundRect">
            <a:avLst>
              <a:gd name="adj" fmla="val 37500"/>
            </a:avLst>
          </a:prstGeom>
          <a:solidFill>
            <a:srgbClr val="2E6A56"/>
          </a:solidFill>
          <a:ln w="0">
            <a:noFill/>
            <a:prstDash val="solid"/>
          </a:ln>
        </p:spPr>
      </p:sp>
      <p:sp>
        <p:nvSpPr>
          <p:cNvPr id="39" name="agenda-mark-4-4"/>
          <p:cNvSpPr>
            <a:spLocks noGrp="1"/>
          </p:cNvSpPr>
          <p:nvPr/>
        </p:nvSpPr>
        <p:spPr>
          <a:xfrm>
            <a:off x="3638550" y="4133850"/>
            <a:ext cx="76200" cy="571500"/>
          </a:xfrm>
          <a:prstGeom prst="roundRect">
            <a:avLst>
              <a:gd name="adj" fmla="val 37500"/>
            </a:avLst>
          </a:prstGeom>
          <a:solidFill>
            <a:srgbClr val="B64A3D"/>
          </a:solidFill>
          <a:ln w="0">
            <a:noFill/>
            <a:prstDash val="solid"/>
          </a:ln>
        </p:spPr>
      </p:sp>
      <p:sp>
        <p:nvSpPr>
          <p:cNvPr id="40" name="agenda-5"/>
          <p:cNvSpPr>
            <a:spLocks noGrp="1"/>
          </p:cNvSpPr>
          <p:nvPr/>
        </p:nvSpPr>
        <p:spPr>
          <a:xfrm>
            <a:off x="4324350" y="3371850"/>
            <a:ext cx="3543300" cy="1752600"/>
          </a:xfrm>
          <a:prstGeom prst="roundRect">
            <a:avLst>
              <a:gd name="adj" fmla="val 4348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41" name="agenda-rail-5"/>
          <p:cNvSpPr>
            <a:spLocks noGrp="1"/>
          </p:cNvSpPr>
          <p:nvPr/>
        </p:nvSpPr>
        <p:spPr>
          <a:xfrm>
            <a:off x="4324350" y="3371850"/>
            <a:ext cx="95250" cy="1752600"/>
          </a:xfrm>
          <a:prstGeom prst="rect">
            <a:avLst/>
          </a:prstGeom>
          <a:solidFill>
            <a:srgbClr val="92D4BC"/>
          </a:solidFill>
          <a:ln w="0">
            <a:noFill/>
            <a:prstDash val="solid"/>
          </a:ln>
        </p:spPr>
      </p:sp>
      <p:sp>
        <p:nvSpPr>
          <p:cNvPr id="42" name="agenda-num-5"/>
          <p:cNvSpPr>
            <a:spLocks noGrp="1"/>
          </p:cNvSpPr>
          <p:nvPr/>
        </p:nvSpPr>
        <p:spPr>
          <a:xfrm>
            <a:off x="4495800" y="35242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92D4B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625" b="1" dirty="0">
                <a:solidFill>
                  <a:srgbClr val="92D4B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2625" b="1" dirty="0">
                <a:solidFill>
                  <a:srgbClr val="92D4B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2625" b="1" dirty="0">
              <a:solidFill>
                <a:srgbClr val="92D4B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agenda-title-5"/>
          <p:cNvSpPr>
            <a:spLocks noGrp="1"/>
          </p:cNvSpPr>
          <p:nvPr/>
        </p:nvSpPr>
        <p:spPr>
          <a:xfrm>
            <a:off x="5295900" y="3543300"/>
            <a:ext cx="228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未来方向</a:t>
            </a:r>
          </a:p>
        </p:txBody>
      </p:sp>
      <p:sp>
        <p:nvSpPr>
          <p:cNvPr id="44" name="agenda-hook-5"/>
          <p:cNvSpPr>
            <a:spLocks noGrp="1"/>
          </p:cNvSpPr>
          <p:nvPr/>
        </p:nvSpPr>
        <p:spPr>
          <a:xfrm>
            <a:off x="5295900" y="4324350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三类验证</a:t>
            </a:r>
          </a:p>
        </p:txBody>
      </p:sp>
      <p:sp>
        <p:nvSpPr>
          <p:cNvPr id="45" name="agenda-mark-5-1"/>
          <p:cNvSpPr>
            <a:spLocks noGrp="1"/>
          </p:cNvSpPr>
          <p:nvPr/>
        </p:nvSpPr>
        <p:spPr>
          <a:xfrm>
            <a:off x="7048500" y="4476750"/>
            <a:ext cx="76200" cy="228600"/>
          </a:xfrm>
          <a:prstGeom prst="roundRect">
            <a:avLst>
              <a:gd name="adj" fmla="val 37500"/>
            </a:avLst>
          </a:prstGeom>
          <a:solidFill>
            <a:srgbClr val="92D4BC"/>
          </a:solidFill>
          <a:ln w="0">
            <a:noFill/>
            <a:prstDash val="solid"/>
          </a:ln>
        </p:spPr>
      </p:sp>
      <p:sp>
        <p:nvSpPr>
          <p:cNvPr id="46" name="agenda-mark-5-2"/>
          <p:cNvSpPr>
            <a:spLocks noGrp="1"/>
          </p:cNvSpPr>
          <p:nvPr/>
        </p:nvSpPr>
        <p:spPr>
          <a:xfrm>
            <a:off x="7181850" y="4362450"/>
            <a:ext cx="76200" cy="342900"/>
          </a:xfrm>
          <a:prstGeom prst="roundRect">
            <a:avLst>
              <a:gd name="adj" fmla="val 37500"/>
            </a:avLst>
          </a:prstGeom>
          <a:solidFill>
            <a:srgbClr val="92D4BC"/>
          </a:solidFill>
          <a:ln w="0">
            <a:noFill/>
            <a:prstDash val="solid"/>
          </a:ln>
        </p:spPr>
      </p:sp>
      <p:sp>
        <p:nvSpPr>
          <p:cNvPr id="47" name="agenda-mark-5-3"/>
          <p:cNvSpPr>
            <a:spLocks noGrp="1"/>
          </p:cNvSpPr>
          <p:nvPr/>
        </p:nvSpPr>
        <p:spPr>
          <a:xfrm>
            <a:off x="7315200" y="4248150"/>
            <a:ext cx="76200" cy="457200"/>
          </a:xfrm>
          <a:prstGeom prst="roundRect">
            <a:avLst>
              <a:gd name="adj" fmla="val 37500"/>
            </a:avLst>
          </a:prstGeom>
          <a:solidFill>
            <a:srgbClr val="92D4BC"/>
          </a:solidFill>
          <a:ln w="0">
            <a:noFill/>
            <a:prstDash val="solid"/>
          </a:ln>
        </p:spPr>
      </p:sp>
      <p:sp>
        <p:nvSpPr>
          <p:cNvPr id="48" name="agenda-mark-5-4"/>
          <p:cNvSpPr>
            <a:spLocks noGrp="1"/>
          </p:cNvSpPr>
          <p:nvPr/>
        </p:nvSpPr>
        <p:spPr>
          <a:xfrm>
            <a:off x="7448550" y="4133850"/>
            <a:ext cx="76200" cy="571500"/>
          </a:xfrm>
          <a:prstGeom prst="roundRect">
            <a:avLst>
              <a:gd name="adj" fmla="val 37500"/>
            </a:avLst>
          </a:prstGeom>
          <a:solidFill>
            <a:srgbClr val="92D4BC"/>
          </a:solidFill>
          <a:ln w="0">
            <a:noFill/>
            <a:prstDash val="solid"/>
          </a:ln>
        </p:spPr>
      </p:sp>
      <p:sp>
        <p:nvSpPr>
          <p:cNvPr id="49" name="agenda-6"/>
          <p:cNvSpPr>
            <a:spLocks noGrp="1"/>
          </p:cNvSpPr>
          <p:nvPr/>
        </p:nvSpPr>
        <p:spPr>
          <a:xfrm>
            <a:off x="8134350" y="3371850"/>
            <a:ext cx="3543300" cy="1752600"/>
          </a:xfrm>
          <a:prstGeom prst="roundRect">
            <a:avLst>
              <a:gd name="adj" fmla="val 4348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50" name="agenda-rail-6"/>
          <p:cNvSpPr>
            <a:spLocks noGrp="1"/>
          </p:cNvSpPr>
          <p:nvPr/>
        </p:nvSpPr>
        <p:spPr>
          <a:xfrm>
            <a:off x="8134350" y="3371850"/>
            <a:ext cx="95250" cy="1752600"/>
          </a:xfrm>
          <a:prstGeom prst="rect">
            <a:avLst/>
          </a:prstGeom>
          <a:solidFill>
            <a:srgbClr val="0D3A2D"/>
          </a:solidFill>
          <a:ln w="0">
            <a:noFill/>
            <a:prstDash val="solid"/>
          </a:ln>
        </p:spPr>
      </p:sp>
      <p:sp>
        <p:nvSpPr>
          <p:cNvPr id="51" name="agenda-num-6"/>
          <p:cNvSpPr>
            <a:spLocks noGrp="1"/>
          </p:cNvSpPr>
          <p:nvPr/>
        </p:nvSpPr>
        <p:spPr>
          <a:xfrm>
            <a:off x="8305800" y="35242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625" b="1" dirty="0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2625" b="1" dirty="0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2625" b="1" dirty="0">
              <a:solidFill>
                <a:srgbClr val="0D3A2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" name="agenda-title-6"/>
          <p:cNvSpPr>
            <a:spLocks noGrp="1"/>
          </p:cNvSpPr>
          <p:nvPr/>
        </p:nvSpPr>
        <p:spPr>
          <a:xfrm>
            <a:off x="9105900" y="3543300"/>
            <a:ext cx="228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5785"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 dirty="0" err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项目团队</a:t>
            </a:r>
            <a:endParaRPr sz="2175" b="1" dirty="0">
              <a:solidFill>
                <a:srgbClr val="1017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agenda-hook-6"/>
          <p:cNvSpPr>
            <a:spLocks noGrp="1"/>
          </p:cNvSpPr>
          <p:nvPr/>
        </p:nvSpPr>
        <p:spPr>
          <a:xfrm>
            <a:off x="9105900" y="4324350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任务匹配</a:t>
            </a:r>
          </a:p>
        </p:txBody>
      </p:sp>
      <p:sp>
        <p:nvSpPr>
          <p:cNvPr id="54" name="agenda-mark-6-1"/>
          <p:cNvSpPr>
            <a:spLocks noGrp="1"/>
          </p:cNvSpPr>
          <p:nvPr/>
        </p:nvSpPr>
        <p:spPr>
          <a:xfrm>
            <a:off x="10858500" y="4476750"/>
            <a:ext cx="76200" cy="228600"/>
          </a:xfrm>
          <a:prstGeom prst="roundRect">
            <a:avLst>
              <a:gd name="adj" fmla="val 37500"/>
            </a:avLst>
          </a:prstGeom>
          <a:solidFill>
            <a:srgbClr val="2E6A56"/>
          </a:solidFill>
          <a:ln w="0">
            <a:noFill/>
            <a:prstDash val="solid"/>
          </a:ln>
        </p:spPr>
      </p:sp>
      <p:sp>
        <p:nvSpPr>
          <p:cNvPr id="55" name="agenda-mark-6-2"/>
          <p:cNvSpPr>
            <a:spLocks noGrp="1"/>
          </p:cNvSpPr>
          <p:nvPr/>
        </p:nvSpPr>
        <p:spPr>
          <a:xfrm>
            <a:off x="10991850" y="4362450"/>
            <a:ext cx="76200" cy="342900"/>
          </a:xfrm>
          <a:prstGeom prst="roundRect">
            <a:avLst>
              <a:gd name="adj" fmla="val 37500"/>
            </a:avLst>
          </a:prstGeom>
          <a:solidFill>
            <a:srgbClr val="2E6A56"/>
          </a:solidFill>
          <a:ln w="0">
            <a:noFill/>
            <a:prstDash val="solid"/>
          </a:ln>
        </p:spPr>
      </p:sp>
      <p:sp>
        <p:nvSpPr>
          <p:cNvPr id="56" name="agenda-mark-6-3"/>
          <p:cNvSpPr>
            <a:spLocks noGrp="1"/>
          </p:cNvSpPr>
          <p:nvPr/>
        </p:nvSpPr>
        <p:spPr>
          <a:xfrm>
            <a:off x="11125200" y="4248150"/>
            <a:ext cx="76200" cy="457200"/>
          </a:xfrm>
          <a:prstGeom prst="roundRect">
            <a:avLst>
              <a:gd name="adj" fmla="val 37500"/>
            </a:avLst>
          </a:prstGeom>
          <a:solidFill>
            <a:srgbClr val="2E6A56"/>
          </a:solidFill>
          <a:ln w="0">
            <a:noFill/>
            <a:prstDash val="solid"/>
          </a:ln>
        </p:spPr>
      </p:sp>
      <p:sp>
        <p:nvSpPr>
          <p:cNvPr id="57" name="agenda-mark-6-4"/>
          <p:cNvSpPr>
            <a:spLocks noGrp="1"/>
          </p:cNvSpPr>
          <p:nvPr/>
        </p:nvSpPr>
        <p:spPr>
          <a:xfrm>
            <a:off x="11258550" y="4133850"/>
            <a:ext cx="76200" cy="571500"/>
          </a:xfrm>
          <a:prstGeom prst="roundRect">
            <a:avLst>
              <a:gd name="adj" fmla="val 37500"/>
            </a:avLst>
          </a:prstGeom>
          <a:solidFill>
            <a:srgbClr val="B64A3D"/>
          </a:solidFill>
          <a:ln w="0">
            <a:noFill/>
            <a:prstDash val="solid"/>
          </a:ln>
        </p:spPr>
      </p:sp>
      <p:sp>
        <p:nvSpPr>
          <p:cNvPr id="58" name="agenda-path-bg"/>
          <p:cNvSpPr>
            <a:spLocks noGrp="1"/>
          </p:cNvSpPr>
          <p:nvPr/>
        </p:nvSpPr>
        <p:spPr>
          <a:xfrm>
            <a:off x="1219200" y="5657850"/>
            <a:ext cx="9753600" cy="457200"/>
          </a:xfrm>
          <a:prstGeom prst="roundRect">
            <a:avLst>
              <a:gd name="adj" fmla="val 16667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59" name="agenda-path"/>
          <p:cNvSpPr>
            <a:spLocks noGrp="1"/>
          </p:cNvSpPr>
          <p:nvPr/>
        </p:nvSpPr>
        <p:spPr>
          <a:xfrm>
            <a:off x="1352550" y="5657850"/>
            <a:ext cx="948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背景建立张力  →  产品建立理解  →  商业与竞争建立判断  →  团队与行动收束</a:t>
            </a:r>
          </a:p>
        </p:txBody>
      </p:sp>
      <p:sp>
        <p:nvSpPr>
          <p:cNvPr id="60" name="folio-box-2"/>
          <p:cNvSpPr>
            <a:spLocks noGrp="1"/>
          </p:cNvSpPr>
          <p:nvPr/>
        </p:nvSpPr>
        <p:spPr>
          <a:xfrm>
            <a:off x="95250" y="6419850"/>
            <a:ext cx="400050" cy="333375"/>
          </a:xfrm>
          <a:prstGeom prst="rect">
            <a:avLst/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61" name="folio-2"/>
          <p:cNvSpPr>
            <a:spLocks noGrp="1"/>
          </p:cNvSpPr>
          <p:nvPr/>
        </p:nvSpPr>
        <p:spPr>
          <a:xfrm>
            <a:off x="114300" y="64198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62" name="folio-caption-2"/>
          <p:cNvSpPr>
            <a:spLocks noGrp="1"/>
          </p:cNvSpPr>
          <p:nvPr/>
        </p:nvSpPr>
        <p:spPr>
          <a:xfrm>
            <a:off x="552450" y="64770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backgroun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-title"/>
          <p:cNvSpPr>
            <a:spLocks noGrp="1"/>
          </p:cNvSpPr>
          <p:nvPr/>
        </p:nvSpPr>
        <p:spPr>
          <a:xfrm>
            <a:off x="407035" y="188595"/>
            <a:ext cx="863790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 fontScale="92581"/>
          </a:bodyPr>
          <a:lstStyle/>
          <a:p>
            <a:pPr algn="l">
              <a:lnSpc>
                <a:spcPct val="108000"/>
              </a:lnSpc>
              <a:buNone/>
              <a:def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银发浪潮已至，护理服务进入结构性重构</a:t>
            </a: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552450" y="1484630"/>
            <a:ext cx="733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2025年中国60岁及以上人口已达</a:t>
            </a:r>
          </a:p>
        </p:txBody>
      </p:sp>
      <p:sp>
        <p:nvSpPr>
          <p:cNvPr id="4" name="population-value"/>
          <p:cNvSpPr>
            <a:spLocks noGrp="1"/>
          </p:cNvSpPr>
          <p:nvPr/>
        </p:nvSpPr>
        <p:spPr>
          <a:xfrm>
            <a:off x="695325" y="1988820"/>
            <a:ext cx="4000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9716"/>
          </a:bodyPr>
          <a:lstStyle/>
          <a:p>
            <a:pPr algn="l">
              <a:lnSpc>
                <a:spcPct val="108000"/>
              </a:lnSpc>
              <a:buNone/>
              <a:defRPr sz="61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1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3.2338</a:t>
            </a:r>
          </a:p>
        </p:txBody>
      </p:sp>
      <p:sp>
        <p:nvSpPr>
          <p:cNvPr id="5" name="population-unit"/>
          <p:cNvSpPr>
            <a:spLocks noGrp="1"/>
          </p:cNvSpPr>
          <p:nvPr/>
        </p:nvSpPr>
        <p:spPr>
          <a:xfrm>
            <a:off x="3049270" y="2408555"/>
            <a:ext cx="74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亿人</a:t>
            </a:r>
          </a:p>
        </p:txBody>
      </p:sp>
      <p:sp>
        <p:nvSpPr>
          <p:cNvPr id="6" name="population-share"/>
          <p:cNvSpPr>
            <a:spLocks noGrp="1"/>
          </p:cNvSpPr>
          <p:nvPr/>
        </p:nvSpPr>
        <p:spPr>
          <a:xfrm>
            <a:off x="767715" y="3932555"/>
            <a:ext cx="2952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l">
              <a:lnSpc>
                <a:spcPct val="108000"/>
              </a:lnSpc>
              <a:buNone/>
              <a:defRPr sz="4950" b="1">
                <a:solidFill>
                  <a:srgbClr val="174A3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5400" b="1">
                <a:solidFill>
                  <a:srgbClr val="174A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23.0%</a:t>
            </a:r>
          </a:p>
        </p:txBody>
      </p:sp>
      <p:sp>
        <p:nvSpPr>
          <p:cNvPr id="7" name="population-label"/>
          <p:cNvSpPr>
            <a:spLocks noGrp="1"/>
          </p:cNvSpPr>
          <p:nvPr/>
        </p:nvSpPr>
        <p:spPr>
          <a:xfrm>
            <a:off x="552450" y="339915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60岁及以上人口占比</a:t>
            </a:r>
          </a:p>
        </p:txBody>
      </p:sp>
      <p:sp>
        <p:nvSpPr>
          <p:cNvPr id="8" name="age-person-1"/>
          <p:cNvSpPr>
            <a:spLocks noGrp="1"/>
          </p:cNvSpPr>
          <p:nvPr/>
        </p:nvSpPr>
        <p:spPr>
          <a:xfrm>
            <a:off x="4038600" y="2256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9" name="age-person-2"/>
          <p:cNvSpPr>
            <a:spLocks noGrp="1"/>
          </p:cNvSpPr>
          <p:nvPr/>
        </p:nvSpPr>
        <p:spPr>
          <a:xfrm>
            <a:off x="4324350" y="2256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10" name="age-person-3"/>
          <p:cNvSpPr>
            <a:spLocks noGrp="1"/>
          </p:cNvSpPr>
          <p:nvPr/>
        </p:nvSpPr>
        <p:spPr>
          <a:xfrm>
            <a:off x="4610100" y="2256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11" name="age-person-4"/>
          <p:cNvSpPr>
            <a:spLocks noGrp="1"/>
          </p:cNvSpPr>
          <p:nvPr/>
        </p:nvSpPr>
        <p:spPr>
          <a:xfrm>
            <a:off x="4895850" y="2256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12" name="age-person-5"/>
          <p:cNvSpPr>
            <a:spLocks noGrp="1"/>
          </p:cNvSpPr>
          <p:nvPr/>
        </p:nvSpPr>
        <p:spPr>
          <a:xfrm>
            <a:off x="5181600" y="2256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13" name="age-person-6"/>
          <p:cNvSpPr>
            <a:spLocks noGrp="1"/>
          </p:cNvSpPr>
          <p:nvPr/>
        </p:nvSpPr>
        <p:spPr>
          <a:xfrm>
            <a:off x="5467350" y="2256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14" name="age-person-7"/>
          <p:cNvSpPr>
            <a:spLocks noGrp="1"/>
          </p:cNvSpPr>
          <p:nvPr/>
        </p:nvSpPr>
        <p:spPr>
          <a:xfrm>
            <a:off x="5753100" y="2256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15" name="age-person-8"/>
          <p:cNvSpPr>
            <a:spLocks noGrp="1"/>
          </p:cNvSpPr>
          <p:nvPr/>
        </p:nvSpPr>
        <p:spPr>
          <a:xfrm>
            <a:off x="6038850" y="2256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16" name="age-person-9"/>
          <p:cNvSpPr>
            <a:spLocks noGrp="1"/>
          </p:cNvSpPr>
          <p:nvPr/>
        </p:nvSpPr>
        <p:spPr>
          <a:xfrm>
            <a:off x="6324600" y="2256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17" name="age-person-10"/>
          <p:cNvSpPr>
            <a:spLocks noGrp="1"/>
          </p:cNvSpPr>
          <p:nvPr/>
        </p:nvSpPr>
        <p:spPr>
          <a:xfrm>
            <a:off x="6610350" y="2256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18" name="age-person-11"/>
          <p:cNvSpPr>
            <a:spLocks noGrp="1"/>
          </p:cNvSpPr>
          <p:nvPr/>
        </p:nvSpPr>
        <p:spPr>
          <a:xfrm>
            <a:off x="4038600" y="2484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19" name="age-person-12"/>
          <p:cNvSpPr>
            <a:spLocks noGrp="1"/>
          </p:cNvSpPr>
          <p:nvPr/>
        </p:nvSpPr>
        <p:spPr>
          <a:xfrm>
            <a:off x="4324350" y="2484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20" name="age-person-13"/>
          <p:cNvSpPr>
            <a:spLocks noGrp="1"/>
          </p:cNvSpPr>
          <p:nvPr/>
        </p:nvSpPr>
        <p:spPr>
          <a:xfrm>
            <a:off x="4610100" y="2484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21" name="age-person-14"/>
          <p:cNvSpPr>
            <a:spLocks noGrp="1"/>
          </p:cNvSpPr>
          <p:nvPr/>
        </p:nvSpPr>
        <p:spPr>
          <a:xfrm>
            <a:off x="4895850" y="2484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22" name="age-person-15"/>
          <p:cNvSpPr>
            <a:spLocks noGrp="1"/>
          </p:cNvSpPr>
          <p:nvPr/>
        </p:nvSpPr>
        <p:spPr>
          <a:xfrm>
            <a:off x="5181600" y="2484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23" name="age-person-16"/>
          <p:cNvSpPr>
            <a:spLocks noGrp="1"/>
          </p:cNvSpPr>
          <p:nvPr/>
        </p:nvSpPr>
        <p:spPr>
          <a:xfrm>
            <a:off x="5467350" y="2484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24" name="age-person-17"/>
          <p:cNvSpPr>
            <a:spLocks noGrp="1"/>
          </p:cNvSpPr>
          <p:nvPr/>
        </p:nvSpPr>
        <p:spPr>
          <a:xfrm>
            <a:off x="5753100" y="2484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25" name="age-person-18"/>
          <p:cNvSpPr>
            <a:spLocks noGrp="1"/>
          </p:cNvSpPr>
          <p:nvPr/>
        </p:nvSpPr>
        <p:spPr>
          <a:xfrm>
            <a:off x="6038850" y="2484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26" name="age-person-19"/>
          <p:cNvSpPr>
            <a:spLocks noGrp="1"/>
          </p:cNvSpPr>
          <p:nvPr/>
        </p:nvSpPr>
        <p:spPr>
          <a:xfrm>
            <a:off x="6324600" y="2484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27" name="age-person-20"/>
          <p:cNvSpPr>
            <a:spLocks noGrp="1"/>
          </p:cNvSpPr>
          <p:nvPr/>
        </p:nvSpPr>
        <p:spPr>
          <a:xfrm>
            <a:off x="6610350" y="2484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28" name="age-person-21"/>
          <p:cNvSpPr>
            <a:spLocks noGrp="1"/>
          </p:cNvSpPr>
          <p:nvPr/>
        </p:nvSpPr>
        <p:spPr>
          <a:xfrm>
            <a:off x="4038600" y="2713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29" name="age-person-22"/>
          <p:cNvSpPr>
            <a:spLocks noGrp="1"/>
          </p:cNvSpPr>
          <p:nvPr/>
        </p:nvSpPr>
        <p:spPr>
          <a:xfrm>
            <a:off x="4324350" y="2713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30" name="age-person-23"/>
          <p:cNvSpPr>
            <a:spLocks noGrp="1"/>
          </p:cNvSpPr>
          <p:nvPr/>
        </p:nvSpPr>
        <p:spPr>
          <a:xfrm>
            <a:off x="4610100" y="2713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B64A3D"/>
          </a:solidFill>
          <a:ln w="9525">
            <a:solidFill>
              <a:srgbClr val="B64A3D"/>
            </a:solidFill>
            <a:prstDash val="solid"/>
          </a:ln>
        </p:spPr>
      </p:sp>
      <p:sp>
        <p:nvSpPr>
          <p:cNvPr id="31" name="age-person-24"/>
          <p:cNvSpPr>
            <a:spLocks noGrp="1"/>
          </p:cNvSpPr>
          <p:nvPr/>
        </p:nvSpPr>
        <p:spPr>
          <a:xfrm>
            <a:off x="4895850" y="2713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32" name="age-person-25"/>
          <p:cNvSpPr>
            <a:spLocks noGrp="1"/>
          </p:cNvSpPr>
          <p:nvPr/>
        </p:nvSpPr>
        <p:spPr>
          <a:xfrm>
            <a:off x="5181600" y="2713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33" name="age-person-26"/>
          <p:cNvSpPr>
            <a:spLocks noGrp="1"/>
          </p:cNvSpPr>
          <p:nvPr/>
        </p:nvSpPr>
        <p:spPr>
          <a:xfrm>
            <a:off x="5467350" y="2713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34" name="age-person-27"/>
          <p:cNvSpPr>
            <a:spLocks noGrp="1"/>
          </p:cNvSpPr>
          <p:nvPr/>
        </p:nvSpPr>
        <p:spPr>
          <a:xfrm>
            <a:off x="5753100" y="2713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35" name="age-person-28"/>
          <p:cNvSpPr>
            <a:spLocks noGrp="1"/>
          </p:cNvSpPr>
          <p:nvPr/>
        </p:nvSpPr>
        <p:spPr>
          <a:xfrm>
            <a:off x="6038850" y="2713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36" name="age-person-29"/>
          <p:cNvSpPr>
            <a:spLocks noGrp="1"/>
          </p:cNvSpPr>
          <p:nvPr/>
        </p:nvSpPr>
        <p:spPr>
          <a:xfrm>
            <a:off x="6324600" y="2713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37" name="age-person-30"/>
          <p:cNvSpPr>
            <a:spLocks noGrp="1"/>
          </p:cNvSpPr>
          <p:nvPr/>
        </p:nvSpPr>
        <p:spPr>
          <a:xfrm>
            <a:off x="6610350" y="2713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38" name="age-person-31"/>
          <p:cNvSpPr>
            <a:spLocks noGrp="1"/>
          </p:cNvSpPr>
          <p:nvPr/>
        </p:nvSpPr>
        <p:spPr>
          <a:xfrm>
            <a:off x="4038600" y="2941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39" name="age-person-32"/>
          <p:cNvSpPr>
            <a:spLocks noGrp="1"/>
          </p:cNvSpPr>
          <p:nvPr/>
        </p:nvSpPr>
        <p:spPr>
          <a:xfrm>
            <a:off x="4324350" y="2941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40" name="age-person-33"/>
          <p:cNvSpPr>
            <a:spLocks noGrp="1"/>
          </p:cNvSpPr>
          <p:nvPr/>
        </p:nvSpPr>
        <p:spPr>
          <a:xfrm>
            <a:off x="4610100" y="2941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41" name="age-person-34"/>
          <p:cNvSpPr>
            <a:spLocks noGrp="1"/>
          </p:cNvSpPr>
          <p:nvPr/>
        </p:nvSpPr>
        <p:spPr>
          <a:xfrm>
            <a:off x="4895850" y="2941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42" name="age-person-35"/>
          <p:cNvSpPr>
            <a:spLocks noGrp="1"/>
          </p:cNvSpPr>
          <p:nvPr/>
        </p:nvSpPr>
        <p:spPr>
          <a:xfrm>
            <a:off x="5181600" y="2941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43" name="age-person-36"/>
          <p:cNvSpPr>
            <a:spLocks noGrp="1"/>
          </p:cNvSpPr>
          <p:nvPr/>
        </p:nvSpPr>
        <p:spPr>
          <a:xfrm>
            <a:off x="5467350" y="2941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44" name="age-person-37"/>
          <p:cNvSpPr>
            <a:spLocks noGrp="1"/>
          </p:cNvSpPr>
          <p:nvPr/>
        </p:nvSpPr>
        <p:spPr>
          <a:xfrm>
            <a:off x="5753100" y="2941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45" name="age-person-38"/>
          <p:cNvSpPr>
            <a:spLocks noGrp="1"/>
          </p:cNvSpPr>
          <p:nvPr/>
        </p:nvSpPr>
        <p:spPr>
          <a:xfrm>
            <a:off x="6038850" y="2941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46" name="age-person-39"/>
          <p:cNvSpPr>
            <a:spLocks noGrp="1"/>
          </p:cNvSpPr>
          <p:nvPr/>
        </p:nvSpPr>
        <p:spPr>
          <a:xfrm>
            <a:off x="6324600" y="2941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47" name="age-person-40"/>
          <p:cNvSpPr>
            <a:spLocks noGrp="1"/>
          </p:cNvSpPr>
          <p:nvPr/>
        </p:nvSpPr>
        <p:spPr>
          <a:xfrm>
            <a:off x="6610350" y="2941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48" name="age-person-41"/>
          <p:cNvSpPr>
            <a:spLocks noGrp="1"/>
          </p:cNvSpPr>
          <p:nvPr/>
        </p:nvSpPr>
        <p:spPr>
          <a:xfrm>
            <a:off x="4038600" y="3170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49" name="age-person-42"/>
          <p:cNvSpPr>
            <a:spLocks noGrp="1"/>
          </p:cNvSpPr>
          <p:nvPr/>
        </p:nvSpPr>
        <p:spPr>
          <a:xfrm>
            <a:off x="4324350" y="3170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50" name="age-person-43"/>
          <p:cNvSpPr>
            <a:spLocks noGrp="1"/>
          </p:cNvSpPr>
          <p:nvPr/>
        </p:nvSpPr>
        <p:spPr>
          <a:xfrm>
            <a:off x="4610100" y="3170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51" name="age-person-44"/>
          <p:cNvSpPr>
            <a:spLocks noGrp="1"/>
          </p:cNvSpPr>
          <p:nvPr/>
        </p:nvSpPr>
        <p:spPr>
          <a:xfrm>
            <a:off x="4895850" y="3170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52" name="age-person-45"/>
          <p:cNvSpPr>
            <a:spLocks noGrp="1"/>
          </p:cNvSpPr>
          <p:nvPr/>
        </p:nvSpPr>
        <p:spPr>
          <a:xfrm>
            <a:off x="5181600" y="3170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53" name="age-person-46"/>
          <p:cNvSpPr>
            <a:spLocks noGrp="1"/>
          </p:cNvSpPr>
          <p:nvPr/>
        </p:nvSpPr>
        <p:spPr>
          <a:xfrm>
            <a:off x="5467350" y="3170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54" name="age-person-47"/>
          <p:cNvSpPr>
            <a:spLocks noGrp="1"/>
          </p:cNvSpPr>
          <p:nvPr/>
        </p:nvSpPr>
        <p:spPr>
          <a:xfrm>
            <a:off x="5753100" y="3170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55" name="age-person-48"/>
          <p:cNvSpPr>
            <a:spLocks noGrp="1"/>
          </p:cNvSpPr>
          <p:nvPr/>
        </p:nvSpPr>
        <p:spPr>
          <a:xfrm>
            <a:off x="6038850" y="3170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56" name="age-person-49"/>
          <p:cNvSpPr>
            <a:spLocks noGrp="1"/>
          </p:cNvSpPr>
          <p:nvPr/>
        </p:nvSpPr>
        <p:spPr>
          <a:xfrm>
            <a:off x="6324600" y="3170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57" name="age-person-50"/>
          <p:cNvSpPr>
            <a:spLocks noGrp="1"/>
          </p:cNvSpPr>
          <p:nvPr/>
        </p:nvSpPr>
        <p:spPr>
          <a:xfrm>
            <a:off x="6610350" y="3170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58" name="age-person-51"/>
          <p:cNvSpPr>
            <a:spLocks noGrp="1"/>
          </p:cNvSpPr>
          <p:nvPr/>
        </p:nvSpPr>
        <p:spPr>
          <a:xfrm>
            <a:off x="4038600" y="3399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59" name="age-person-52"/>
          <p:cNvSpPr>
            <a:spLocks noGrp="1"/>
          </p:cNvSpPr>
          <p:nvPr/>
        </p:nvSpPr>
        <p:spPr>
          <a:xfrm>
            <a:off x="4324350" y="3399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60" name="age-person-53"/>
          <p:cNvSpPr>
            <a:spLocks noGrp="1"/>
          </p:cNvSpPr>
          <p:nvPr/>
        </p:nvSpPr>
        <p:spPr>
          <a:xfrm>
            <a:off x="4610100" y="3399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61" name="age-person-54"/>
          <p:cNvSpPr>
            <a:spLocks noGrp="1"/>
          </p:cNvSpPr>
          <p:nvPr/>
        </p:nvSpPr>
        <p:spPr>
          <a:xfrm>
            <a:off x="4895850" y="3399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62" name="age-person-55"/>
          <p:cNvSpPr>
            <a:spLocks noGrp="1"/>
          </p:cNvSpPr>
          <p:nvPr/>
        </p:nvSpPr>
        <p:spPr>
          <a:xfrm>
            <a:off x="5181600" y="3399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63" name="age-person-56"/>
          <p:cNvSpPr>
            <a:spLocks noGrp="1"/>
          </p:cNvSpPr>
          <p:nvPr/>
        </p:nvSpPr>
        <p:spPr>
          <a:xfrm>
            <a:off x="5467350" y="3399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64" name="age-person-57"/>
          <p:cNvSpPr>
            <a:spLocks noGrp="1"/>
          </p:cNvSpPr>
          <p:nvPr/>
        </p:nvSpPr>
        <p:spPr>
          <a:xfrm>
            <a:off x="5753100" y="3399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65" name="age-person-58"/>
          <p:cNvSpPr>
            <a:spLocks noGrp="1"/>
          </p:cNvSpPr>
          <p:nvPr/>
        </p:nvSpPr>
        <p:spPr>
          <a:xfrm>
            <a:off x="6038850" y="3399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66" name="age-person-59"/>
          <p:cNvSpPr>
            <a:spLocks noGrp="1"/>
          </p:cNvSpPr>
          <p:nvPr/>
        </p:nvSpPr>
        <p:spPr>
          <a:xfrm>
            <a:off x="6324600" y="3399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67" name="age-person-60"/>
          <p:cNvSpPr>
            <a:spLocks noGrp="1"/>
          </p:cNvSpPr>
          <p:nvPr/>
        </p:nvSpPr>
        <p:spPr>
          <a:xfrm>
            <a:off x="6610350" y="33991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68" name="age-person-61"/>
          <p:cNvSpPr>
            <a:spLocks noGrp="1"/>
          </p:cNvSpPr>
          <p:nvPr/>
        </p:nvSpPr>
        <p:spPr>
          <a:xfrm>
            <a:off x="4038600" y="3627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69" name="age-person-62"/>
          <p:cNvSpPr>
            <a:spLocks noGrp="1"/>
          </p:cNvSpPr>
          <p:nvPr/>
        </p:nvSpPr>
        <p:spPr>
          <a:xfrm>
            <a:off x="4324350" y="3627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70" name="age-person-63"/>
          <p:cNvSpPr>
            <a:spLocks noGrp="1"/>
          </p:cNvSpPr>
          <p:nvPr/>
        </p:nvSpPr>
        <p:spPr>
          <a:xfrm>
            <a:off x="4610100" y="3627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71" name="age-person-64"/>
          <p:cNvSpPr>
            <a:spLocks noGrp="1"/>
          </p:cNvSpPr>
          <p:nvPr/>
        </p:nvSpPr>
        <p:spPr>
          <a:xfrm>
            <a:off x="4895850" y="3627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72" name="age-person-65"/>
          <p:cNvSpPr>
            <a:spLocks noGrp="1"/>
          </p:cNvSpPr>
          <p:nvPr/>
        </p:nvSpPr>
        <p:spPr>
          <a:xfrm>
            <a:off x="5181600" y="3627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73" name="age-person-66"/>
          <p:cNvSpPr>
            <a:spLocks noGrp="1"/>
          </p:cNvSpPr>
          <p:nvPr/>
        </p:nvSpPr>
        <p:spPr>
          <a:xfrm>
            <a:off x="5467350" y="3627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74" name="age-person-67"/>
          <p:cNvSpPr>
            <a:spLocks noGrp="1"/>
          </p:cNvSpPr>
          <p:nvPr/>
        </p:nvSpPr>
        <p:spPr>
          <a:xfrm>
            <a:off x="5753100" y="3627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75" name="age-person-68"/>
          <p:cNvSpPr>
            <a:spLocks noGrp="1"/>
          </p:cNvSpPr>
          <p:nvPr/>
        </p:nvSpPr>
        <p:spPr>
          <a:xfrm>
            <a:off x="6038850" y="3627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76" name="age-person-69"/>
          <p:cNvSpPr>
            <a:spLocks noGrp="1"/>
          </p:cNvSpPr>
          <p:nvPr/>
        </p:nvSpPr>
        <p:spPr>
          <a:xfrm>
            <a:off x="6324600" y="3627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77" name="age-person-70"/>
          <p:cNvSpPr>
            <a:spLocks noGrp="1"/>
          </p:cNvSpPr>
          <p:nvPr/>
        </p:nvSpPr>
        <p:spPr>
          <a:xfrm>
            <a:off x="6610350" y="36277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78" name="age-person-71"/>
          <p:cNvSpPr>
            <a:spLocks noGrp="1"/>
          </p:cNvSpPr>
          <p:nvPr/>
        </p:nvSpPr>
        <p:spPr>
          <a:xfrm>
            <a:off x="4038600" y="3856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79" name="age-person-72"/>
          <p:cNvSpPr>
            <a:spLocks noGrp="1"/>
          </p:cNvSpPr>
          <p:nvPr/>
        </p:nvSpPr>
        <p:spPr>
          <a:xfrm>
            <a:off x="4324350" y="3856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80" name="age-person-73"/>
          <p:cNvSpPr>
            <a:spLocks noGrp="1"/>
          </p:cNvSpPr>
          <p:nvPr/>
        </p:nvSpPr>
        <p:spPr>
          <a:xfrm>
            <a:off x="4610100" y="3856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81" name="age-person-74"/>
          <p:cNvSpPr>
            <a:spLocks noGrp="1"/>
          </p:cNvSpPr>
          <p:nvPr/>
        </p:nvSpPr>
        <p:spPr>
          <a:xfrm>
            <a:off x="4895850" y="3856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82" name="age-person-75"/>
          <p:cNvSpPr>
            <a:spLocks noGrp="1"/>
          </p:cNvSpPr>
          <p:nvPr/>
        </p:nvSpPr>
        <p:spPr>
          <a:xfrm>
            <a:off x="5181600" y="3856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83" name="age-person-76"/>
          <p:cNvSpPr>
            <a:spLocks noGrp="1"/>
          </p:cNvSpPr>
          <p:nvPr/>
        </p:nvSpPr>
        <p:spPr>
          <a:xfrm>
            <a:off x="5467350" y="3856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84" name="age-person-77"/>
          <p:cNvSpPr>
            <a:spLocks noGrp="1"/>
          </p:cNvSpPr>
          <p:nvPr/>
        </p:nvSpPr>
        <p:spPr>
          <a:xfrm>
            <a:off x="5753100" y="3856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85" name="age-person-78"/>
          <p:cNvSpPr>
            <a:spLocks noGrp="1"/>
          </p:cNvSpPr>
          <p:nvPr/>
        </p:nvSpPr>
        <p:spPr>
          <a:xfrm>
            <a:off x="6038850" y="3856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86" name="age-person-79"/>
          <p:cNvSpPr>
            <a:spLocks noGrp="1"/>
          </p:cNvSpPr>
          <p:nvPr/>
        </p:nvSpPr>
        <p:spPr>
          <a:xfrm>
            <a:off x="6324600" y="3856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87" name="age-person-80"/>
          <p:cNvSpPr>
            <a:spLocks noGrp="1"/>
          </p:cNvSpPr>
          <p:nvPr/>
        </p:nvSpPr>
        <p:spPr>
          <a:xfrm>
            <a:off x="6610350" y="38563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88" name="age-person-81"/>
          <p:cNvSpPr>
            <a:spLocks noGrp="1"/>
          </p:cNvSpPr>
          <p:nvPr/>
        </p:nvSpPr>
        <p:spPr>
          <a:xfrm>
            <a:off x="4038600" y="4084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89" name="age-person-82"/>
          <p:cNvSpPr>
            <a:spLocks noGrp="1"/>
          </p:cNvSpPr>
          <p:nvPr/>
        </p:nvSpPr>
        <p:spPr>
          <a:xfrm>
            <a:off x="4324350" y="4084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90" name="age-person-83"/>
          <p:cNvSpPr>
            <a:spLocks noGrp="1"/>
          </p:cNvSpPr>
          <p:nvPr/>
        </p:nvSpPr>
        <p:spPr>
          <a:xfrm>
            <a:off x="4610100" y="4084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91" name="age-person-84"/>
          <p:cNvSpPr>
            <a:spLocks noGrp="1"/>
          </p:cNvSpPr>
          <p:nvPr/>
        </p:nvSpPr>
        <p:spPr>
          <a:xfrm>
            <a:off x="4895850" y="4084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92" name="age-person-85"/>
          <p:cNvSpPr>
            <a:spLocks noGrp="1"/>
          </p:cNvSpPr>
          <p:nvPr/>
        </p:nvSpPr>
        <p:spPr>
          <a:xfrm>
            <a:off x="5181600" y="4084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93" name="age-person-86"/>
          <p:cNvSpPr>
            <a:spLocks noGrp="1"/>
          </p:cNvSpPr>
          <p:nvPr/>
        </p:nvSpPr>
        <p:spPr>
          <a:xfrm>
            <a:off x="5467350" y="4084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94" name="age-person-87"/>
          <p:cNvSpPr>
            <a:spLocks noGrp="1"/>
          </p:cNvSpPr>
          <p:nvPr/>
        </p:nvSpPr>
        <p:spPr>
          <a:xfrm>
            <a:off x="5753100" y="4084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95" name="age-person-88"/>
          <p:cNvSpPr>
            <a:spLocks noGrp="1"/>
          </p:cNvSpPr>
          <p:nvPr/>
        </p:nvSpPr>
        <p:spPr>
          <a:xfrm>
            <a:off x="6038850" y="4084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96" name="age-person-89"/>
          <p:cNvSpPr>
            <a:spLocks noGrp="1"/>
          </p:cNvSpPr>
          <p:nvPr/>
        </p:nvSpPr>
        <p:spPr>
          <a:xfrm>
            <a:off x="6324600" y="4084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97" name="age-person-90"/>
          <p:cNvSpPr>
            <a:spLocks noGrp="1"/>
          </p:cNvSpPr>
          <p:nvPr/>
        </p:nvSpPr>
        <p:spPr>
          <a:xfrm>
            <a:off x="6610350" y="40849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98" name="age-person-91"/>
          <p:cNvSpPr>
            <a:spLocks noGrp="1"/>
          </p:cNvSpPr>
          <p:nvPr/>
        </p:nvSpPr>
        <p:spPr>
          <a:xfrm>
            <a:off x="4038600" y="4313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99" name="age-person-92"/>
          <p:cNvSpPr>
            <a:spLocks noGrp="1"/>
          </p:cNvSpPr>
          <p:nvPr/>
        </p:nvSpPr>
        <p:spPr>
          <a:xfrm>
            <a:off x="4324350" y="4313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100" name="age-person-93"/>
          <p:cNvSpPr>
            <a:spLocks noGrp="1"/>
          </p:cNvSpPr>
          <p:nvPr/>
        </p:nvSpPr>
        <p:spPr>
          <a:xfrm>
            <a:off x="4610100" y="4313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101" name="age-person-94"/>
          <p:cNvSpPr>
            <a:spLocks noGrp="1"/>
          </p:cNvSpPr>
          <p:nvPr/>
        </p:nvSpPr>
        <p:spPr>
          <a:xfrm>
            <a:off x="4895850" y="4313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102" name="age-person-95"/>
          <p:cNvSpPr>
            <a:spLocks noGrp="1"/>
          </p:cNvSpPr>
          <p:nvPr/>
        </p:nvSpPr>
        <p:spPr>
          <a:xfrm>
            <a:off x="5181600" y="4313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103" name="age-person-96"/>
          <p:cNvSpPr>
            <a:spLocks noGrp="1"/>
          </p:cNvSpPr>
          <p:nvPr/>
        </p:nvSpPr>
        <p:spPr>
          <a:xfrm>
            <a:off x="5467350" y="4313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104" name="age-person-97"/>
          <p:cNvSpPr>
            <a:spLocks noGrp="1"/>
          </p:cNvSpPr>
          <p:nvPr/>
        </p:nvSpPr>
        <p:spPr>
          <a:xfrm>
            <a:off x="5753100" y="4313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105" name="age-person-98"/>
          <p:cNvSpPr>
            <a:spLocks noGrp="1"/>
          </p:cNvSpPr>
          <p:nvPr/>
        </p:nvSpPr>
        <p:spPr>
          <a:xfrm>
            <a:off x="6038850" y="4313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106" name="age-person-99"/>
          <p:cNvSpPr>
            <a:spLocks noGrp="1"/>
          </p:cNvSpPr>
          <p:nvPr/>
        </p:nvSpPr>
        <p:spPr>
          <a:xfrm>
            <a:off x="6324600" y="4313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107" name="age-person-100"/>
          <p:cNvSpPr>
            <a:spLocks noGrp="1"/>
          </p:cNvSpPr>
          <p:nvPr/>
        </p:nvSpPr>
        <p:spPr>
          <a:xfrm>
            <a:off x="6610350" y="4313555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108" name="age-chart-label"/>
          <p:cNvSpPr>
            <a:spLocks noGrp="1"/>
          </p:cNvSpPr>
          <p:nvPr/>
        </p:nvSpPr>
        <p:spPr>
          <a:xfrm>
            <a:off x="3943350" y="464693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5437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每100人中约23人为60岁及以上人口</a:t>
            </a:r>
          </a:p>
        </p:txBody>
      </p:sp>
      <p:sp>
        <p:nvSpPr>
          <p:cNvPr id="109" name="supply-panel"/>
          <p:cNvSpPr>
            <a:spLocks noGrp="1"/>
          </p:cNvSpPr>
          <p:nvPr/>
        </p:nvSpPr>
        <p:spPr>
          <a:xfrm>
            <a:off x="7658100" y="1200150"/>
            <a:ext cx="4038600" cy="4305300"/>
          </a:xfrm>
          <a:prstGeom prst="roundRect">
            <a:avLst>
              <a:gd name="adj" fmla="val 3302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110" name="supply-title"/>
          <p:cNvSpPr>
            <a:spLocks noGrp="1"/>
          </p:cNvSpPr>
          <p:nvPr/>
        </p:nvSpPr>
        <p:spPr>
          <a:xfrm>
            <a:off x="7886700" y="1371600"/>
            <a:ext cx="3581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88790"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需求增长之外，供给也需要重新组织</a:t>
            </a:r>
          </a:p>
        </p:txBody>
      </p:sp>
      <p:sp>
        <p:nvSpPr>
          <p:cNvPr id="111" name="nurses-card"/>
          <p:cNvSpPr>
            <a:spLocks noGrp="1"/>
          </p:cNvSpPr>
          <p:nvPr/>
        </p:nvSpPr>
        <p:spPr>
          <a:xfrm>
            <a:off x="7962900" y="2057400"/>
            <a:ext cx="3429000" cy="971550"/>
          </a:xfrm>
          <a:prstGeom prst="roundRect">
            <a:avLst>
              <a:gd name="adj" fmla="val 9804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112" name="nurses-value"/>
          <p:cNvSpPr>
            <a:spLocks noGrp="1"/>
          </p:cNvSpPr>
          <p:nvPr/>
        </p:nvSpPr>
        <p:spPr>
          <a:xfrm>
            <a:off x="8096250" y="2152650"/>
            <a:ext cx="31623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86346"/>
          </a:bodyPr>
          <a:lstStyle/>
          <a:p>
            <a:pPr algn="ctr">
              <a:lnSpc>
                <a:spcPct val="108000"/>
              </a:lnSpc>
              <a:buNone/>
              <a:defRPr sz="31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606.2万</a:t>
            </a:r>
          </a:p>
        </p:txBody>
      </p:sp>
      <p:sp>
        <p:nvSpPr>
          <p:cNvPr id="113" name="nurses-label"/>
          <p:cNvSpPr>
            <a:spLocks noGrp="1"/>
          </p:cNvSpPr>
          <p:nvPr/>
        </p:nvSpPr>
        <p:spPr>
          <a:xfrm>
            <a:off x="8077200" y="2562606"/>
            <a:ext cx="3200400" cy="3400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2025年末注册护士</a:t>
            </a:r>
          </a:p>
        </p:txBody>
      </p:sp>
      <p:sp>
        <p:nvSpPr>
          <p:cNvPr id="114" name="nurse-density-card"/>
          <p:cNvSpPr>
            <a:spLocks noGrp="1"/>
          </p:cNvSpPr>
          <p:nvPr/>
        </p:nvSpPr>
        <p:spPr>
          <a:xfrm>
            <a:off x="7962900" y="3181350"/>
            <a:ext cx="1638300" cy="990600"/>
          </a:xfrm>
          <a:prstGeom prst="roundRect">
            <a:avLst>
              <a:gd name="adj" fmla="val 9615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115" name="nurse-density-value"/>
          <p:cNvSpPr>
            <a:spLocks noGrp="1"/>
          </p:cNvSpPr>
          <p:nvPr/>
        </p:nvSpPr>
        <p:spPr>
          <a:xfrm>
            <a:off x="8096250" y="3276600"/>
            <a:ext cx="137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2593"/>
          </a:bodyPr>
          <a:lstStyle/>
          <a:p>
            <a:pPr algn="ctr">
              <a:lnSpc>
                <a:spcPct val="108000"/>
              </a:lnSpc>
              <a:buNone/>
              <a:defRPr sz="300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4.32</a:t>
            </a:r>
          </a:p>
        </p:txBody>
      </p:sp>
      <p:sp>
        <p:nvSpPr>
          <p:cNvPr id="116" name="nurse-density-label"/>
          <p:cNvSpPr>
            <a:spLocks noGrp="1"/>
          </p:cNvSpPr>
          <p:nvPr/>
        </p:nvSpPr>
        <p:spPr>
          <a:xfrm>
            <a:off x="8077200" y="3696462"/>
            <a:ext cx="1409700" cy="3467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84162" lnSpcReduction="10000"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每千人口注册护士数</a:t>
            </a:r>
          </a:p>
        </p:txBody>
      </p:sp>
      <p:sp>
        <p:nvSpPr>
          <p:cNvPr id="117" name="care-beds-card"/>
          <p:cNvSpPr>
            <a:spLocks noGrp="1"/>
          </p:cNvSpPr>
          <p:nvPr/>
        </p:nvSpPr>
        <p:spPr>
          <a:xfrm>
            <a:off x="9753600" y="3181350"/>
            <a:ext cx="1638300" cy="990600"/>
          </a:xfrm>
          <a:prstGeom prst="roundRect">
            <a:avLst>
              <a:gd name="adj" fmla="val 9615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118" name="care-beds-value"/>
          <p:cNvSpPr>
            <a:spLocks noGrp="1"/>
          </p:cNvSpPr>
          <p:nvPr/>
        </p:nvSpPr>
        <p:spPr>
          <a:xfrm>
            <a:off x="9886950" y="3276600"/>
            <a:ext cx="137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768.0万</a:t>
            </a:r>
          </a:p>
        </p:txBody>
      </p:sp>
      <p:sp>
        <p:nvSpPr>
          <p:cNvPr id="119" name="care-beds-label"/>
          <p:cNvSpPr>
            <a:spLocks noGrp="1"/>
          </p:cNvSpPr>
          <p:nvPr/>
        </p:nvSpPr>
        <p:spPr>
          <a:xfrm>
            <a:off x="9867900" y="3696462"/>
            <a:ext cx="1409700" cy="3467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养老机构床位</a:t>
            </a:r>
          </a:p>
        </p:txBody>
      </p:sp>
      <p:sp>
        <p:nvSpPr>
          <p:cNvPr id="120" name="supply-conclusion"/>
          <p:cNvSpPr>
            <a:spLocks noGrp="1"/>
          </p:cNvSpPr>
          <p:nvPr/>
        </p:nvSpPr>
        <p:spPr>
          <a:xfrm>
            <a:off x="8020050" y="4400550"/>
            <a:ext cx="3314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规模扩大 ≠ 服务链协同</a:t>
            </a:r>
          </a:p>
          <a:p>
            <a:pPr algn="ctr">
              <a:lnSpc>
                <a:spcPct val="108000"/>
              </a:lnSpc>
              <a:buNone/>
              <a:defRPr sz="16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需要连接培养、就业与持续服务</a:t>
            </a:r>
          </a:p>
        </p:txBody>
      </p:sp>
      <p:sp>
        <p:nvSpPr>
          <p:cNvPr id="121" name="age-conclusion-bg"/>
          <p:cNvSpPr>
            <a:spLocks noGrp="1"/>
          </p:cNvSpPr>
          <p:nvPr/>
        </p:nvSpPr>
        <p:spPr>
          <a:xfrm>
            <a:off x="1047750" y="5829300"/>
            <a:ext cx="10077450" cy="457200"/>
          </a:xfrm>
          <a:prstGeom prst="roundRect">
            <a:avLst>
              <a:gd name="adj" fmla="val 16667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122" name="age-conclusion"/>
          <p:cNvSpPr>
            <a:spLocks noGrp="1"/>
          </p:cNvSpPr>
          <p:nvPr/>
        </p:nvSpPr>
        <p:spPr>
          <a:xfrm>
            <a:off x="1181100" y="582930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r>
              <a:rPr lang="zh-CN"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从过去的</a:t>
            </a: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一次护理，</a:t>
            </a:r>
            <a:r>
              <a:rPr lang="zh-CN"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走向</a:t>
            </a: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贯穿学习、就业与服务的能力体系</a:t>
            </a:r>
          </a:p>
        </p:txBody>
      </p:sp>
      <p:sp>
        <p:nvSpPr>
          <p:cNvPr id="123" name="folio-box-3"/>
          <p:cNvSpPr>
            <a:spLocks noGrp="1"/>
          </p:cNvSpPr>
          <p:nvPr/>
        </p:nvSpPr>
        <p:spPr>
          <a:xfrm>
            <a:off x="95250" y="6419850"/>
            <a:ext cx="400050" cy="333375"/>
          </a:xfrm>
          <a:prstGeom prst="rect">
            <a:avLst/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124" name="folio-3"/>
          <p:cNvSpPr>
            <a:spLocks noGrp="1"/>
          </p:cNvSpPr>
          <p:nvPr/>
        </p:nvSpPr>
        <p:spPr>
          <a:xfrm>
            <a:off x="114300" y="64198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125" name="folio-caption-3"/>
          <p:cNvSpPr>
            <a:spLocks noGrp="1"/>
          </p:cNvSpPr>
          <p:nvPr/>
        </p:nvSpPr>
        <p:spPr>
          <a:xfrm>
            <a:off x="552450" y="64770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BACKGROUND EVIDENCE</a:t>
            </a:r>
          </a:p>
        </p:txBody>
      </p:sp>
      <p:sp>
        <p:nvSpPr>
          <p:cNvPr id="126" name="source-footnote"/>
          <p:cNvSpPr>
            <a:spLocks noGrp="1"/>
          </p:cNvSpPr>
          <p:nvPr/>
        </p:nvSpPr>
        <p:spPr>
          <a:xfrm>
            <a:off x="6572250" y="6515100"/>
            <a:ext cx="5219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505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05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来源：国家统计局《2025年国民经济和社会发展统计公报》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background"/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-title"/>
          <p:cNvSpPr>
            <a:spLocks noGrp="1"/>
          </p:cNvSpPr>
          <p:nvPr/>
        </p:nvSpPr>
        <p:spPr>
          <a:xfrm>
            <a:off x="514350" y="2286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 fontScale="97289"/>
          </a:bodyPr>
          <a:lstStyle/>
          <a:p>
            <a:pPr algn="l">
              <a:lnSpc>
                <a:spcPct val="108000"/>
              </a:lnSpc>
              <a:buNone/>
              <a:def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武汉，已经具备真实验证的城市基础</a:t>
            </a: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666750" y="762000"/>
            <a:ext cx="1085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老龄需求、护理人才、医疗资源与社区养老设施在同一城市密集分布</a:t>
            </a:r>
          </a:p>
        </p:txBody>
      </p:sp>
      <p:sp>
        <p:nvSpPr>
          <p:cNvPr id="4" name="wuhan-demand-panel"/>
          <p:cNvSpPr>
            <a:spLocks noGrp="1"/>
          </p:cNvSpPr>
          <p:nvPr/>
        </p:nvSpPr>
        <p:spPr>
          <a:xfrm>
            <a:off x="495300" y="1257300"/>
            <a:ext cx="4114800" cy="4000500"/>
          </a:xfrm>
          <a:prstGeom prst="roundRect">
            <a:avLst>
              <a:gd name="adj" fmla="val 3810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5" name="wuhan-context"/>
          <p:cNvSpPr>
            <a:spLocks noGrp="1"/>
          </p:cNvSpPr>
          <p:nvPr/>
        </p:nvSpPr>
        <p:spPr>
          <a:xfrm>
            <a:off x="781050" y="1485900"/>
            <a:ext cx="3543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武汉本地老龄需求</a:t>
            </a:r>
          </a:p>
        </p:txBody>
      </p:sp>
      <p:sp>
        <p:nvSpPr>
          <p:cNvPr id="6" name="wuhan-age-value"/>
          <p:cNvSpPr>
            <a:spLocks noGrp="1"/>
          </p:cNvSpPr>
          <p:nvPr/>
        </p:nvSpPr>
        <p:spPr>
          <a:xfrm>
            <a:off x="1181100" y="2060575"/>
            <a:ext cx="314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8874"/>
          </a:bodyPr>
          <a:lstStyle/>
          <a:p>
            <a:pPr algn="l">
              <a:lnSpc>
                <a:spcPct val="108000"/>
              </a:lnSpc>
              <a:buNone/>
              <a:defRPr sz="57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57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230.43</a:t>
            </a:r>
          </a:p>
        </p:txBody>
      </p:sp>
      <p:sp>
        <p:nvSpPr>
          <p:cNvPr id="7" name="wuhan-age-unit"/>
          <p:cNvSpPr>
            <a:spLocks noGrp="1"/>
          </p:cNvSpPr>
          <p:nvPr/>
        </p:nvSpPr>
        <p:spPr>
          <a:xfrm>
            <a:off x="3390900" y="2476500"/>
            <a:ext cx="781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万人</a:t>
            </a:r>
          </a:p>
        </p:txBody>
      </p:sp>
      <p:sp>
        <p:nvSpPr>
          <p:cNvPr id="8" name="wuhan-age-label"/>
          <p:cNvSpPr>
            <a:spLocks noGrp="1"/>
          </p:cNvSpPr>
          <p:nvPr/>
        </p:nvSpPr>
        <p:spPr>
          <a:xfrm>
            <a:off x="781050" y="30289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60岁及以上户籍人口</a:t>
            </a:r>
          </a:p>
        </p:txBody>
      </p:sp>
      <p:sp>
        <p:nvSpPr>
          <p:cNvPr id="9" name="wuhan-share"/>
          <p:cNvSpPr>
            <a:spLocks noGrp="1"/>
          </p:cNvSpPr>
          <p:nvPr/>
        </p:nvSpPr>
        <p:spPr>
          <a:xfrm>
            <a:off x="1009650" y="3543300"/>
            <a:ext cx="3086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4307"/>
          </a:bodyPr>
          <a:lstStyle/>
          <a:p>
            <a:pPr algn="ctr">
              <a:lnSpc>
                <a:spcPct val="108000"/>
              </a:lnSpc>
              <a:buNone/>
              <a:defRPr sz="4050" b="1">
                <a:solidFill>
                  <a:srgbClr val="92D4B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050" b="1">
                <a:solidFill>
                  <a:srgbClr val="92D4B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24.08%</a:t>
            </a:r>
          </a:p>
        </p:txBody>
      </p:sp>
      <p:sp>
        <p:nvSpPr>
          <p:cNvPr id="10" name="wuhan-boundary"/>
          <p:cNvSpPr>
            <a:spLocks noGrp="1"/>
          </p:cNvSpPr>
          <p:nvPr/>
        </p:nvSpPr>
        <p:spPr>
          <a:xfrm>
            <a:off x="742950" y="4400550"/>
            <a:ext cx="361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本地需求明确，但武汉截至2025-09</a:t>
            </a:r>
          </a:p>
          <a:p>
            <a:pPr algn="ctr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尚未纳入国家长期护理保险试点</a:t>
            </a:r>
            <a:endParaRPr sz="1350" b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wuhan-stat-1-card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933950" y="1257300"/>
            <a:ext cx="2019300" cy="1676400"/>
          </a:xfrm>
          <a:prstGeom prst="roundRect">
            <a:avLst>
              <a:gd name="adj" fmla="val 5682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12" name="wuhan-stat-1-value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067300" y="1352550"/>
            <a:ext cx="1752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6.97万</a:t>
            </a:r>
          </a:p>
        </p:txBody>
      </p:sp>
      <p:sp>
        <p:nvSpPr>
          <p:cNvPr id="13" name="wuhan-stat-1-label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48250" y="2129028"/>
            <a:ext cx="1790700" cy="586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护士</a:t>
            </a:r>
          </a:p>
        </p:txBody>
      </p:sp>
      <p:sp>
        <p:nvSpPr>
          <p:cNvPr id="14" name="wuhan-stat-2-card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172325" y="1257300"/>
            <a:ext cx="2019300" cy="1676400"/>
          </a:xfrm>
          <a:prstGeom prst="roundRect">
            <a:avLst>
              <a:gd name="adj" fmla="val 5682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15" name="wuhan-stat-2-value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305675" y="1352550"/>
            <a:ext cx="1752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84家</a:t>
            </a:r>
          </a:p>
        </p:txBody>
      </p:sp>
      <p:sp>
        <p:nvSpPr>
          <p:cNvPr id="16" name="wuhan-stat-2-label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286625" y="2129028"/>
            <a:ext cx="1790700" cy="586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三级医院</a:t>
            </a:r>
          </a:p>
        </p:txBody>
      </p:sp>
      <p:sp>
        <p:nvSpPr>
          <p:cNvPr id="17" name="wuhan-stat-3-card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410700" y="1257300"/>
            <a:ext cx="2019300" cy="1676400"/>
          </a:xfrm>
          <a:prstGeom prst="roundRect">
            <a:avLst>
              <a:gd name="adj" fmla="val 5682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18" name="wuhan-stat-3-value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544050" y="1352550"/>
            <a:ext cx="1752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3497个</a:t>
            </a:r>
          </a:p>
        </p:txBody>
      </p:sp>
      <p:sp>
        <p:nvSpPr>
          <p:cNvPr id="19" name="wuhan-stat-3-label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525000" y="2129028"/>
            <a:ext cx="1790700" cy="586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社区养老服务设施</a:t>
            </a:r>
          </a:p>
        </p:txBody>
      </p:sp>
      <p:sp>
        <p:nvSpPr>
          <p:cNvPr id="20" name="wuhan-stat-4-card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933950" y="3209925"/>
            <a:ext cx="2019300" cy="1676400"/>
          </a:xfrm>
          <a:prstGeom prst="roundRect">
            <a:avLst>
              <a:gd name="adj" fmla="val 5682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21" name="wuhan-stat-4-value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067300" y="3305175"/>
            <a:ext cx="1752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6725个</a:t>
            </a:r>
          </a:p>
        </p:txBody>
      </p:sp>
      <p:sp>
        <p:nvSpPr>
          <p:cNvPr id="22" name="wuhan-stat-4-label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048250" y="4081653"/>
            <a:ext cx="1790700" cy="586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医疗卫生机构</a:t>
            </a:r>
          </a:p>
        </p:txBody>
      </p:sp>
      <p:sp>
        <p:nvSpPr>
          <p:cNvPr id="23" name="wuhan-stat-5-card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172325" y="3209925"/>
            <a:ext cx="2019300" cy="1676400"/>
          </a:xfrm>
          <a:prstGeom prst="roundRect">
            <a:avLst>
              <a:gd name="adj" fmla="val 5682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24" name="wuhan-stat-5-value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305675" y="3305175"/>
            <a:ext cx="1752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10.56万</a:t>
            </a:r>
          </a:p>
        </p:txBody>
      </p:sp>
      <p:sp>
        <p:nvSpPr>
          <p:cNvPr id="25" name="wuhan-stat-5-label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286625" y="4081653"/>
            <a:ext cx="1790700" cy="586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医疗卫生机构床位</a:t>
            </a:r>
          </a:p>
        </p:txBody>
      </p:sp>
      <p:sp>
        <p:nvSpPr>
          <p:cNvPr id="26" name="wuhan-stat-6-card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410700" y="3209925"/>
            <a:ext cx="2019300" cy="1676400"/>
          </a:xfrm>
          <a:prstGeom prst="roundRect">
            <a:avLst>
              <a:gd name="adj" fmla="val 5682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27" name="wuhan-stat-6-value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9544050" y="3305175"/>
            <a:ext cx="1752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292个</a:t>
            </a:r>
          </a:p>
        </p:txBody>
      </p:sp>
      <p:sp>
        <p:nvSpPr>
          <p:cNvPr id="28" name="wuhan-stat-6-label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525000" y="4081653"/>
            <a:ext cx="1790700" cy="586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社会福利机构</a:t>
            </a:r>
          </a:p>
        </p:txBody>
      </p:sp>
      <p:sp>
        <p:nvSpPr>
          <p:cNvPr id="29" name="wuhan-meaning-bg"/>
          <p:cNvSpPr>
            <a:spLocks noGrp="1"/>
          </p:cNvSpPr>
          <p:nvPr/>
        </p:nvSpPr>
        <p:spPr>
          <a:xfrm>
            <a:off x="2571750" y="5543550"/>
            <a:ext cx="8001000" cy="495300"/>
          </a:xfrm>
          <a:prstGeom prst="roundRect">
            <a:avLst>
              <a:gd name="adj" fmla="val 15385"/>
            </a:avLst>
          </a:prstGeom>
          <a:solidFill>
            <a:srgbClr val="174A3A"/>
          </a:solidFill>
          <a:ln w="9525">
            <a:solidFill>
              <a:srgbClr val="174A3A"/>
            </a:solidFill>
            <a:prstDash val="solid"/>
          </a:ln>
        </p:spPr>
      </p:sp>
      <p:sp>
        <p:nvSpPr>
          <p:cNvPr id="30" name="wuhan-meaning"/>
          <p:cNvSpPr>
            <a:spLocks noGrp="1"/>
          </p:cNvSpPr>
          <p:nvPr/>
        </p:nvSpPr>
        <p:spPr>
          <a:xfrm>
            <a:off x="2705100" y="5543550"/>
            <a:ext cx="7734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价值：在一座城市内验证院校、机构、社区与家庭的协同流程</a:t>
            </a:r>
          </a:p>
        </p:txBody>
      </p:sp>
      <p:sp>
        <p:nvSpPr>
          <p:cNvPr id="31" name="folio-box-4"/>
          <p:cNvSpPr>
            <a:spLocks noGrp="1"/>
          </p:cNvSpPr>
          <p:nvPr/>
        </p:nvSpPr>
        <p:spPr>
          <a:xfrm>
            <a:off x="95250" y="6419850"/>
            <a:ext cx="400050" cy="333375"/>
          </a:xfrm>
          <a:prstGeom prst="rect">
            <a:avLst/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32" name="folio-4"/>
          <p:cNvSpPr>
            <a:spLocks noGrp="1"/>
          </p:cNvSpPr>
          <p:nvPr/>
        </p:nvSpPr>
        <p:spPr>
          <a:xfrm>
            <a:off x="114300" y="64198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</a:p>
        </p:txBody>
      </p:sp>
      <p:sp>
        <p:nvSpPr>
          <p:cNvPr id="33" name="folio-caption-4"/>
          <p:cNvSpPr>
            <a:spLocks noGrp="1"/>
          </p:cNvSpPr>
          <p:nvPr/>
        </p:nvSpPr>
        <p:spPr>
          <a:xfrm>
            <a:off x="552450" y="64770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WUHAN VALIDATION</a:t>
            </a:r>
          </a:p>
        </p:txBody>
      </p:sp>
      <p:sp>
        <p:nvSpPr>
          <p:cNvPr id="34" name="source-footnote"/>
          <p:cNvSpPr>
            <a:spLocks noGrp="1"/>
          </p:cNvSpPr>
          <p:nvPr/>
        </p:nvSpPr>
        <p:spPr>
          <a:xfrm>
            <a:off x="6572250" y="6515100"/>
            <a:ext cx="5219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505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05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lang="zh-CN" altLang="en-US" sz="900" b="0">
                <a:solidFill>
                  <a:srgbClr val="505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武汉市统计局《武汉市2025年国民经济和社会发展统计公报》</a:t>
            </a:r>
            <a:r>
              <a:rPr sz="900" b="0">
                <a:solidFill>
                  <a:srgbClr val="505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及武汉市医保局公开答复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backgroun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6985"/>
            <a:ext cx="12192000" cy="6858000"/>
          </a:xfrm>
          <a:prstGeom prst="rect">
            <a:avLst/>
          </a:prstGeom>
        </p:spPr>
      </p:pic>
      <p:sp>
        <p:nvSpPr>
          <p:cNvPr id="2" name="slide-title"/>
          <p:cNvSpPr>
            <a:spLocks noGrp="1"/>
          </p:cNvSpPr>
          <p:nvPr/>
        </p:nvSpPr>
        <p:spPr>
          <a:xfrm>
            <a:off x="514350" y="2286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 fontScale="97289"/>
          </a:bodyPr>
          <a:lstStyle/>
          <a:p>
            <a:pPr algn="l">
              <a:lnSpc>
                <a:spcPct val="108000"/>
              </a:lnSpc>
              <a:buNone/>
              <a:def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真正的</a:t>
            </a:r>
            <a:r>
              <a:rPr lang="zh-CN"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缺口</a:t>
            </a:r>
            <a:r>
              <a: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</a:t>
            </a:r>
            <a:r>
              <a:rPr lang="zh-CN"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</a:t>
            </a:r>
            <a:r>
              <a: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zh-CN"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一门高质量培训课程</a:t>
            </a: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514350" y="762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培养、就业与服务的数据链彼此分离，导致成长不可见、能力难评估、质量难闭环</a:t>
            </a:r>
          </a:p>
        </p:txBody>
      </p:sp>
      <p:sp>
        <p:nvSpPr>
          <p:cNvPr id="4" name="breakpoint-1"/>
          <p:cNvSpPr>
            <a:spLocks noGrp="1"/>
          </p:cNvSpPr>
          <p:nvPr/>
        </p:nvSpPr>
        <p:spPr>
          <a:xfrm>
            <a:off x="457200" y="1257300"/>
            <a:ext cx="2381250" cy="3676650"/>
          </a:xfrm>
          <a:prstGeom prst="roundRect">
            <a:avLst>
              <a:gd name="adj" fmla="val 4800"/>
            </a:avLst>
          </a:prstGeom>
          <a:solidFill>
            <a:srgbClr val="FFFDF8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5" name="breakpoint-chip-1"/>
          <p:cNvSpPr>
            <a:spLocks noGrp="1"/>
          </p:cNvSpPr>
          <p:nvPr/>
        </p:nvSpPr>
        <p:spPr>
          <a:xfrm>
            <a:off x="1085850" y="1123950"/>
            <a:ext cx="1123950" cy="285750"/>
          </a:xfrm>
          <a:prstGeom prst="roundRect">
            <a:avLst>
              <a:gd name="adj" fmla="val 26667"/>
            </a:avLst>
          </a:prstGeom>
          <a:solidFill>
            <a:srgbClr val="174A3A"/>
          </a:solidFill>
          <a:ln w="9525">
            <a:solidFill>
              <a:srgbClr val="174A3A"/>
            </a:solidFill>
            <a:prstDash val="solid"/>
          </a:ln>
        </p:spPr>
        <p:txBody>
          <a:bodyPr lIns="47625" tIns="9525" rIns="47625" bIns="9525" anchor="ctr">
            <a:normAutofit fontScale="99939"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培养端</a:t>
            </a:r>
          </a:p>
        </p:txBody>
      </p:sp>
      <p:sp>
        <p:nvSpPr>
          <p:cNvPr id="6" name="breakpoint-role-1"/>
          <p:cNvSpPr>
            <a:spLocks noGrp="1"/>
          </p:cNvSpPr>
          <p:nvPr/>
        </p:nvSpPr>
        <p:spPr>
          <a:xfrm>
            <a:off x="628650" y="16573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学校与培训机构</a:t>
            </a:r>
          </a:p>
        </p:txBody>
      </p:sp>
      <p:sp>
        <p:nvSpPr>
          <p:cNvPr id="7" name="breakpoint-record-1-1"/>
          <p:cNvSpPr>
            <a:spLocks noGrp="1"/>
          </p:cNvSpPr>
          <p:nvPr/>
        </p:nvSpPr>
        <p:spPr>
          <a:xfrm>
            <a:off x="685800" y="2152650"/>
            <a:ext cx="1924050" cy="304800"/>
          </a:xfrm>
          <a:prstGeom prst="roundRect">
            <a:avLst>
              <a:gd name="adj" fmla="val 15625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学习记录</a:t>
            </a:r>
          </a:p>
        </p:txBody>
      </p:sp>
      <p:sp>
        <p:nvSpPr>
          <p:cNvPr id="8" name="breakpoint-record-1-2"/>
          <p:cNvSpPr>
            <a:spLocks noGrp="1"/>
          </p:cNvSpPr>
          <p:nvPr/>
        </p:nvSpPr>
        <p:spPr>
          <a:xfrm>
            <a:off x="685800" y="2571750"/>
            <a:ext cx="1924050" cy="304800"/>
          </a:xfrm>
          <a:prstGeom prst="roundRect">
            <a:avLst>
              <a:gd name="adj" fmla="val 15625"/>
            </a:avLst>
          </a:prstGeom>
          <a:solidFill>
            <a:srgbClr val="E4F1EB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实训记录</a:t>
            </a:r>
          </a:p>
        </p:txBody>
      </p:sp>
      <p:sp>
        <p:nvSpPr>
          <p:cNvPr id="9" name="breakpoint-record-1-3"/>
          <p:cNvSpPr>
            <a:spLocks noGrp="1"/>
          </p:cNvSpPr>
          <p:nvPr/>
        </p:nvSpPr>
        <p:spPr>
          <a:xfrm>
            <a:off x="685800" y="2990850"/>
            <a:ext cx="1924050" cy="304800"/>
          </a:xfrm>
          <a:prstGeom prst="roundRect">
            <a:avLst>
              <a:gd name="adj" fmla="val 15625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考核记录</a:t>
            </a:r>
          </a:p>
        </p:txBody>
      </p:sp>
      <p:sp>
        <p:nvSpPr>
          <p:cNvPr id="10" name="breakpoint-copy-1"/>
          <p:cNvSpPr>
            <a:spLocks noGrp="1"/>
          </p:cNvSpPr>
          <p:nvPr/>
        </p:nvSpPr>
        <p:spPr>
          <a:xfrm>
            <a:off x="704850" y="36385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难以连接就业结果</a:t>
            </a:r>
          </a:p>
        </p:txBody>
      </p:sp>
      <p:sp>
        <p:nvSpPr>
          <p:cNvPr id="11" name="breakpoint-result-1"/>
          <p:cNvSpPr>
            <a:spLocks noGrp="1"/>
          </p:cNvSpPr>
          <p:nvPr/>
        </p:nvSpPr>
        <p:spPr>
          <a:xfrm>
            <a:off x="723900" y="4305300"/>
            <a:ext cx="1847850" cy="361950"/>
          </a:xfrm>
          <a:prstGeom prst="roundRect">
            <a:avLst>
              <a:gd name="adj" fmla="val 13158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成长不可见</a:t>
            </a:r>
          </a:p>
        </p:txBody>
      </p:sp>
      <p:sp>
        <p:nvSpPr>
          <p:cNvPr id="13" name="breakpoint-2"/>
          <p:cNvSpPr>
            <a:spLocks noGrp="1"/>
          </p:cNvSpPr>
          <p:nvPr/>
        </p:nvSpPr>
        <p:spPr>
          <a:xfrm>
            <a:off x="3181350" y="1257300"/>
            <a:ext cx="2381250" cy="3676650"/>
          </a:xfrm>
          <a:prstGeom prst="roundRect">
            <a:avLst>
              <a:gd name="adj" fmla="val 4800"/>
            </a:avLst>
          </a:prstGeom>
          <a:solidFill>
            <a:srgbClr val="FFFDF8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14" name="breakpoint-chip-2"/>
          <p:cNvSpPr>
            <a:spLocks noGrp="1"/>
          </p:cNvSpPr>
          <p:nvPr/>
        </p:nvSpPr>
        <p:spPr>
          <a:xfrm>
            <a:off x="3810000" y="1123950"/>
            <a:ext cx="1123950" cy="285750"/>
          </a:xfrm>
          <a:prstGeom prst="roundRect">
            <a:avLst>
              <a:gd name="adj" fmla="val 26667"/>
            </a:avLst>
          </a:prstGeom>
          <a:solidFill>
            <a:srgbClr val="174A3A"/>
          </a:solidFill>
          <a:ln w="9525">
            <a:solidFill>
              <a:srgbClr val="174A3A"/>
            </a:solidFill>
            <a:prstDash val="solid"/>
          </a:ln>
        </p:spPr>
        <p:txBody>
          <a:bodyPr lIns="47625" tIns="9525" rIns="47625" bIns="9525" anchor="ctr">
            <a:normAutofit fontScale="99939"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就业端</a:t>
            </a:r>
          </a:p>
        </p:txBody>
      </p:sp>
      <p:sp>
        <p:nvSpPr>
          <p:cNvPr id="15" name="breakpoint-role-2"/>
          <p:cNvSpPr>
            <a:spLocks noGrp="1"/>
          </p:cNvSpPr>
          <p:nvPr/>
        </p:nvSpPr>
        <p:spPr>
          <a:xfrm>
            <a:off x="3352800" y="16573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招聘与用人机构</a:t>
            </a:r>
          </a:p>
        </p:txBody>
      </p:sp>
      <p:sp>
        <p:nvSpPr>
          <p:cNvPr id="16" name="breakpoint-record-2-1"/>
          <p:cNvSpPr>
            <a:spLocks noGrp="1"/>
          </p:cNvSpPr>
          <p:nvPr/>
        </p:nvSpPr>
        <p:spPr>
          <a:xfrm>
            <a:off x="3409950" y="2152650"/>
            <a:ext cx="1924050" cy="304800"/>
          </a:xfrm>
          <a:prstGeom prst="roundRect">
            <a:avLst>
              <a:gd name="adj" fmla="val 15625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岗位需求</a:t>
            </a:r>
          </a:p>
        </p:txBody>
      </p:sp>
      <p:sp>
        <p:nvSpPr>
          <p:cNvPr id="17" name="breakpoint-record-2-2"/>
          <p:cNvSpPr>
            <a:spLocks noGrp="1"/>
          </p:cNvSpPr>
          <p:nvPr/>
        </p:nvSpPr>
        <p:spPr>
          <a:xfrm>
            <a:off x="3409950" y="2571750"/>
            <a:ext cx="1924050" cy="304800"/>
          </a:xfrm>
          <a:prstGeom prst="roundRect">
            <a:avLst>
              <a:gd name="adj" fmla="val 15625"/>
            </a:avLst>
          </a:prstGeom>
          <a:solidFill>
            <a:srgbClr val="E4F1EB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面试记录</a:t>
            </a:r>
          </a:p>
        </p:txBody>
      </p:sp>
      <p:sp>
        <p:nvSpPr>
          <p:cNvPr id="18" name="breakpoint-record-2-3"/>
          <p:cNvSpPr>
            <a:spLocks noGrp="1"/>
          </p:cNvSpPr>
          <p:nvPr/>
        </p:nvSpPr>
        <p:spPr>
          <a:xfrm>
            <a:off x="3409950" y="2990850"/>
            <a:ext cx="1924050" cy="304800"/>
          </a:xfrm>
          <a:prstGeom prst="roundRect">
            <a:avLst>
              <a:gd name="adj" fmla="val 15625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入职状态</a:t>
            </a:r>
          </a:p>
        </p:txBody>
      </p:sp>
      <p:sp>
        <p:nvSpPr>
          <p:cNvPr id="19" name="breakpoint-copy-2"/>
          <p:cNvSpPr>
            <a:spLocks noGrp="1"/>
          </p:cNvSpPr>
          <p:nvPr/>
        </p:nvSpPr>
        <p:spPr>
          <a:xfrm>
            <a:off x="3429000" y="36385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难以闭环追踪</a:t>
            </a:r>
          </a:p>
        </p:txBody>
      </p:sp>
      <p:sp>
        <p:nvSpPr>
          <p:cNvPr id="20" name="breakpoint-result-2"/>
          <p:cNvSpPr>
            <a:spLocks noGrp="1"/>
          </p:cNvSpPr>
          <p:nvPr/>
        </p:nvSpPr>
        <p:spPr>
          <a:xfrm>
            <a:off x="3448050" y="4305300"/>
            <a:ext cx="1847850" cy="361950"/>
          </a:xfrm>
          <a:prstGeom prst="roundRect">
            <a:avLst>
              <a:gd name="adj" fmla="val 13158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责任难追溯</a:t>
            </a:r>
          </a:p>
        </p:txBody>
      </p:sp>
      <p:sp>
        <p:nvSpPr>
          <p:cNvPr id="22" name="breakpoint-3"/>
          <p:cNvSpPr>
            <a:spLocks noGrp="1"/>
          </p:cNvSpPr>
          <p:nvPr/>
        </p:nvSpPr>
        <p:spPr>
          <a:xfrm>
            <a:off x="5905500" y="1257300"/>
            <a:ext cx="2381250" cy="3676650"/>
          </a:xfrm>
          <a:prstGeom prst="roundRect">
            <a:avLst>
              <a:gd name="adj" fmla="val 4800"/>
            </a:avLst>
          </a:prstGeom>
          <a:solidFill>
            <a:srgbClr val="FFFDF8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23" name="breakpoint-chip-3"/>
          <p:cNvSpPr>
            <a:spLocks noGrp="1"/>
          </p:cNvSpPr>
          <p:nvPr/>
        </p:nvSpPr>
        <p:spPr>
          <a:xfrm>
            <a:off x="6534150" y="1123950"/>
            <a:ext cx="1123950" cy="285750"/>
          </a:xfrm>
          <a:prstGeom prst="roundRect">
            <a:avLst>
              <a:gd name="adj" fmla="val 26667"/>
            </a:avLst>
          </a:prstGeom>
          <a:solidFill>
            <a:srgbClr val="174A3A"/>
          </a:solidFill>
          <a:ln w="9525">
            <a:solidFill>
              <a:srgbClr val="174A3A"/>
            </a:solidFill>
            <a:prstDash val="solid"/>
          </a:ln>
        </p:spPr>
        <p:txBody>
          <a:bodyPr lIns="47625" tIns="9525" rIns="47625" bIns="9525" anchor="ctr">
            <a:normAutofit fontScale="99939"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</a:t>
            </a:r>
          </a:p>
        </p:txBody>
      </p:sp>
      <p:sp>
        <p:nvSpPr>
          <p:cNvPr id="24" name="breakpoint-role-3"/>
          <p:cNvSpPr>
            <a:spLocks noGrp="1"/>
          </p:cNvSpPr>
          <p:nvPr/>
        </p:nvSpPr>
        <p:spPr>
          <a:xfrm>
            <a:off x="6076950" y="1657350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养老机构与服务组织</a:t>
            </a:r>
          </a:p>
        </p:txBody>
      </p:sp>
      <p:sp>
        <p:nvSpPr>
          <p:cNvPr id="25" name="breakpoint-record-3-1"/>
          <p:cNvSpPr>
            <a:spLocks noGrp="1"/>
          </p:cNvSpPr>
          <p:nvPr/>
        </p:nvSpPr>
        <p:spPr>
          <a:xfrm>
            <a:off x="6134100" y="2152650"/>
            <a:ext cx="1924050" cy="304800"/>
          </a:xfrm>
          <a:prstGeom prst="roundRect">
            <a:avLst>
              <a:gd name="adj" fmla="val 15625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履约记录</a:t>
            </a:r>
          </a:p>
        </p:txBody>
      </p:sp>
      <p:sp>
        <p:nvSpPr>
          <p:cNvPr id="26" name="breakpoint-record-3-2"/>
          <p:cNvSpPr>
            <a:spLocks noGrp="1"/>
          </p:cNvSpPr>
          <p:nvPr/>
        </p:nvSpPr>
        <p:spPr>
          <a:xfrm>
            <a:off x="6134100" y="2571750"/>
            <a:ext cx="1924050" cy="304800"/>
          </a:xfrm>
          <a:prstGeom prst="roundRect">
            <a:avLst>
              <a:gd name="adj" fmla="val 15625"/>
            </a:avLst>
          </a:prstGeom>
          <a:solidFill>
            <a:srgbClr val="E4F1EB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风险事件</a:t>
            </a:r>
          </a:p>
        </p:txBody>
      </p:sp>
      <p:sp>
        <p:nvSpPr>
          <p:cNvPr id="27" name="breakpoint-record-3-3"/>
          <p:cNvSpPr>
            <a:spLocks noGrp="1"/>
          </p:cNvSpPr>
          <p:nvPr/>
        </p:nvSpPr>
        <p:spPr>
          <a:xfrm>
            <a:off x="6134100" y="2990850"/>
            <a:ext cx="1924050" cy="304800"/>
          </a:xfrm>
          <a:prstGeom prst="roundRect">
            <a:avLst>
              <a:gd name="adj" fmla="val 15625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服务评价</a:t>
            </a:r>
          </a:p>
        </p:txBody>
      </p:sp>
      <p:sp>
        <p:nvSpPr>
          <p:cNvPr id="28" name="breakpoint-copy-3"/>
          <p:cNvSpPr>
            <a:spLocks noGrp="1"/>
          </p:cNvSpPr>
          <p:nvPr/>
        </p:nvSpPr>
        <p:spPr>
          <a:xfrm>
            <a:off x="6153150" y="36385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难以反哺培养</a:t>
            </a:r>
          </a:p>
        </p:txBody>
      </p:sp>
      <p:sp>
        <p:nvSpPr>
          <p:cNvPr id="29" name="breakpoint-result-3"/>
          <p:cNvSpPr>
            <a:spLocks noGrp="1"/>
          </p:cNvSpPr>
          <p:nvPr/>
        </p:nvSpPr>
        <p:spPr>
          <a:xfrm>
            <a:off x="6172200" y="4305300"/>
            <a:ext cx="1847850" cy="361950"/>
          </a:xfrm>
          <a:prstGeom prst="roundRect">
            <a:avLst>
              <a:gd name="adj" fmla="val 13158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质量难闭环</a:t>
            </a:r>
          </a:p>
        </p:txBody>
      </p:sp>
      <p:sp>
        <p:nvSpPr>
          <p:cNvPr id="30" name="policy-panel"/>
          <p:cNvSpPr>
            <a:spLocks noGrp="1"/>
          </p:cNvSpPr>
          <p:nvPr/>
        </p:nvSpPr>
        <p:spPr>
          <a:xfrm>
            <a:off x="8705850" y="1257300"/>
            <a:ext cx="2990850" cy="3676650"/>
          </a:xfrm>
          <a:prstGeom prst="roundRect">
            <a:avLst>
              <a:gd name="adj" fmla="val 3822"/>
            </a:avLst>
          </a:prstGeom>
          <a:solidFill>
            <a:srgbClr val="F4F0E6"/>
          </a:solidFill>
          <a:ln w="9525">
            <a:solidFill>
              <a:srgbClr val="C5A36A"/>
            </a:solidFill>
            <a:prstDash val="solid"/>
          </a:ln>
        </p:spPr>
      </p:sp>
      <p:sp>
        <p:nvSpPr>
          <p:cNvPr id="31" name="policy-label"/>
          <p:cNvSpPr>
            <a:spLocks noGrp="1"/>
          </p:cNvSpPr>
          <p:nvPr/>
        </p:nvSpPr>
        <p:spPr>
          <a:xfrm>
            <a:off x="8991600" y="1485900"/>
            <a:ext cx="2419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政策目标</a:t>
            </a:r>
          </a:p>
        </p:txBody>
      </p:sp>
      <p:sp>
        <p:nvSpPr>
          <p:cNvPr id="32" name="policy-time"/>
          <p:cNvSpPr>
            <a:spLocks noGrp="1"/>
          </p:cNvSpPr>
          <p:nvPr/>
        </p:nvSpPr>
        <p:spPr>
          <a:xfrm>
            <a:off x="8991600" y="1943100"/>
            <a:ext cx="2419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2025—2027年</a:t>
            </a:r>
          </a:p>
        </p:txBody>
      </p:sp>
      <p:sp>
        <p:nvSpPr>
          <p:cNvPr id="33" name="policy-train-card"/>
          <p:cNvSpPr>
            <a:spLocks noGrp="1"/>
          </p:cNvSpPr>
          <p:nvPr/>
        </p:nvSpPr>
        <p:spPr>
          <a:xfrm>
            <a:off x="9067800" y="2457450"/>
            <a:ext cx="2266950" cy="1009650"/>
          </a:xfrm>
          <a:prstGeom prst="roundRect">
            <a:avLst>
              <a:gd name="adj" fmla="val 9434"/>
            </a:avLst>
          </a:prstGeom>
          <a:solidFill>
            <a:srgbClr val="FFFDF8"/>
          </a:solidFill>
          <a:ln w="9525">
            <a:solidFill>
              <a:srgbClr val="C5A36A"/>
            </a:solidFill>
            <a:prstDash val="solid"/>
          </a:ln>
        </p:spPr>
      </p:sp>
      <p:sp>
        <p:nvSpPr>
          <p:cNvPr id="34" name="policy-train-value"/>
          <p:cNvSpPr>
            <a:spLocks noGrp="1"/>
          </p:cNvSpPr>
          <p:nvPr/>
        </p:nvSpPr>
        <p:spPr>
          <a:xfrm>
            <a:off x="9201150" y="2552700"/>
            <a:ext cx="2000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9496"/>
          </a:bodyPr>
          <a:lstStyle/>
          <a:p>
            <a:pPr algn="ctr">
              <a:lnSpc>
                <a:spcPct val="108000"/>
              </a:lnSpc>
              <a:buNone/>
              <a:def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150万</a:t>
            </a:r>
          </a:p>
        </p:txBody>
      </p:sp>
      <p:sp>
        <p:nvSpPr>
          <p:cNvPr id="35" name="policy-train-label"/>
          <p:cNvSpPr>
            <a:spLocks noGrp="1"/>
          </p:cNvSpPr>
          <p:nvPr/>
        </p:nvSpPr>
        <p:spPr>
          <a:xfrm>
            <a:off x="9182100" y="2982468"/>
            <a:ext cx="2038350" cy="353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培训约150万人次</a:t>
            </a:r>
          </a:p>
        </p:txBody>
      </p:sp>
      <p:sp>
        <p:nvSpPr>
          <p:cNvPr id="36" name="policy-cert-card"/>
          <p:cNvSpPr>
            <a:spLocks noGrp="1"/>
          </p:cNvSpPr>
          <p:nvPr/>
        </p:nvSpPr>
        <p:spPr>
          <a:xfrm>
            <a:off x="9067800" y="3619500"/>
            <a:ext cx="2266950" cy="1009650"/>
          </a:xfrm>
          <a:prstGeom prst="roundRect">
            <a:avLst>
              <a:gd name="adj" fmla="val 9434"/>
            </a:avLst>
          </a:prstGeom>
          <a:solidFill>
            <a:srgbClr val="FFFDF8"/>
          </a:solidFill>
          <a:ln w="9525">
            <a:solidFill>
              <a:srgbClr val="C5A36A"/>
            </a:solidFill>
            <a:prstDash val="solid"/>
          </a:ln>
        </p:spPr>
      </p:sp>
      <p:sp>
        <p:nvSpPr>
          <p:cNvPr id="37" name="policy-cert-value"/>
          <p:cNvSpPr>
            <a:spLocks noGrp="1"/>
          </p:cNvSpPr>
          <p:nvPr/>
        </p:nvSpPr>
        <p:spPr>
          <a:xfrm>
            <a:off x="9201150" y="3714750"/>
            <a:ext cx="2000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9496"/>
          </a:bodyPr>
          <a:lstStyle/>
          <a:p>
            <a:pPr algn="ctr">
              <a:lnSpc>
                <a:spcPct val="108000"/>
              </a:lnSpc>
              <a:buNone/>
              <a:def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30万</a:t>
            </a:r>
          </a:p>
        </p:txBody>
      </p:sp>
      <p:sp>
        <p:nvSpPr>
          <p:cNvPr id="38" name="policy-cert-label"/>
          <p:cNvSpPr>
            <a:spLocks noGrp="1"/>
          </p:cNvSpPr>
          <p:nvPr/>
        </p:nvSpPr>
        <p:spPr>
          <a:xfrm>
            <a:off x="9182100" y="4144518"/>
            <a:ext cx="2038350" cy="353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推动取得技能等级证书</a:t>
            </a:r>
          </a:p>
        </p:txBody>
      </p:sp>
      <p:sp>
        <p:nvSpPr>
          <p:cNvPr id="39" name="breakpoint-conclusion-bg"/>
          <p:cNvSpPr>
            <a:spLocks noGrp="1"/>
          </p:cNvSpPr>
          <p:nvPr/>
        </p:nvSpPr>
        <p:spPr>
          <a:xfrm>
            <a:off x="857250" y="5429250"/>
            <a:ext cx="10477500" cy="514350"/>
          </a:xfrm>
          <a:prstGeom prst="roundRect">
            <a:avLst>
              <a:gd name="adj" fmla="val 14815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40" name="breakpoint-conclusion"/>
          <p:cNvSpPr>
            <a:spLocks noGrp="1"/>
          </p:cNvSpPr>
          <p:nvPr/>
        </p:nvSpPr>
        <p:spPr>
          <a:xfrm>
            <a:off x="990600" y="5429250"/>
            <a:ext cx="10210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机会：把学习记录、就业反馈和服务评价连接为同一条成长证据链</a:t>
            </a:r>
          </a:p>
        </p:txBody>
      </p:sp>
      <p:sp>
        <p:nvSpPr>
          <p:cNvPr id="41" name="folio-box-5"/>
          <p:cNvSpPr>
            <a:spLocks noGrp="1"/>
          </p:cNvSpPr>
          <p:nvPr/>
        </p:nvSpPr>
        <p:spPr>
          <a:xfrm>
            <a:off x="95250" y="6419850"/>
            <a:ext cx="400050" cy="333375"/>
          </a:xfrm>
          <a:prstGeom prst="rect">
            <a:avLst/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42" name="folio-5"/>
          <p:cNvSpPr>
            <a:spLocks noGrp="1"/>
          </p:cNvSpPr>
          <p:nvPr/>
        </p:nvSpPr>
        <p:spPr>
          <a:xfrm>
            <a:off x="114300" y="64198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</a:p>
        </p:txBody>
      </p:sp>
      <p:sp>
        <p:nvSpPr>
          <p:cNvPr id="43" name="folio-caption-5"/>
          <p:cNvSpPr>
            <a:spLocks noGrp="1"/>
          </p:cNvSpPr>
          <p:nvPr/>
        </p:nvSpPr>
        <p:spPr>
          <a:xfrm>
            <a:off x="552450" y="64770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BREAKPOINTS &amp; SIGNIFICANCE</a:t>
            </a:r>
          </a:p>
        </p:txBody>
      </p:sp>
      <p:sp>
        <p:nvSpPr>
          <p:cNvPr id="44" name="source-footnote"/>
          <p:cNvSpPr>
            <a:spLocks noGrp="1"/>
          </p:cNvSpPr>
          <p:nvPr/>
        </p:nvSpPr>
        <p:spPr>
          <a:xfrm>
            <a:off x="6572250" y="6515100"/>
            <a:ext cx="5219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505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05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r>
              <a:rPr lang="zh-CN" altLang="en-US" sz="900" b="0">
                <a:solidFill>
                  <a:srgbClr val="505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人社部、民政部《养老服务技能人才专项培训实施方案》；</a:t>
            </a:r>
            <a:r>
              <a:rPr sz="900" b="0">
                <a:solidFill>
                  <a:srgbClr val="505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150万/30万为政策目标，非项目成果</a:t>
            </a:r>
          </a:p>
        </p:txBody>
      </p:sp>
      <p:sp>
        <p:nvSpPr>
          <p:cNvPr id="12" name="breakpoint-break-1"/>
          <p:cNvSpPr>
            <a:spLocks noGrp="1"/>
          </p:cNvSpPr>
          <p:nvPr/>
        </p:nvSpPr>
        <p:spPr>
          <a:xfrm rot="20220000">
            <a:off x="2819400" y="278193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</a:t>
            </a:r>
          </a:p>
          <a:p>
            <a:pPr algn="ctr">
              <a:lnSpc>
                <a:spcPct val="108000"/>
              </a:lnSpc>
              <a:buNone/>
              <a:defRPr sz="13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裂</a:t>
            </a:r>
          </a:p>
        </p:txBody>
      </p:sp>
      <p:sp>
        <p:nvSpPr>
          <p:cNvPr id="46" name="breakpoint-break-1"/>
          <p:cNvSpPr>
            <a:spLocks noGrp="1"/>
          </p:cNvSpPr>
          <p:nvPr/>
        </p:nvSpPr>
        <p:spPr>
          <a:xfrm rot="20220000">
            <a:off x="5529580" y="27654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</a:t>
            </a:r>
          </a:p>
          <a:p>
            <a:pPr algn="ctr">
              <a:lnSpc>
                <a:spcPct val="108000"/>
              </a:lnSpc>
              <a:buNone/>
              <a:defRPr sz="13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background"/>
          <p:cNvPicPr>
            <a:picLocks noChangeAspect="1"/>
          </p:cNvPicPr>
          <p:nvPr/>
        </p:nvPicPr>
        <p:blipFill>
          <a:blip r:embed="rId30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-title"/>
          <p:cNvSpPr>
            <a:spLocks noGrp="1"/>
          </p:cNvSpPr>
          <p:nvPr/>
        </p:nvSpPr>
        <p:spPr>
          <a:xfrm>
            <a:off x="407670" y="20955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 fontScale="97289"/>
          </a:bodyPr>
          <a:lstStyle/>
          <a:p>
            <a:pPr algn="l">
              <a:lnSpc>
                <a:spcPct val="108000"/>
              </a:lnSpc>
              <a:buNone/>
              <a:def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一套平台，连接人才培养与照护服务</a:t>
            </a: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666750" y="762000"/>
            <a:ext cx="1085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七阶段服务路径贯通四类角色，共建人才成长与服务闭环</a:t>
            </a:r>
          </a:p>
        </p:txBody>
      </p:sp>
      <p:sp>
        <p:nvSpPr>
          <p:cNvPr id="4" name="role-1"/>
          <p:cNvSpPr>
            <a:spLocks noGrp="1"/>
          </p:cNvSpPr>
          <p:nvPr/>
        </p:nvSpPr>
        <p:spPr>
          <a:xfrm>
            <a:off x="457200" y="1181100"/>
            <a:ext cx="2533650" cy="2571750"/>
          </a:xfrm>
          <a:prstGeom prst="roundRect">
            <a:avLst>
              <a:gd name="adj" fmla="val 3759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5" name="role-chip-1"/>
          <p:cNvSpPr>
            <a:spLocks noGrp="1"/>
          </p:cNvSpPr>
          <p:nvPr/>
        </p:nvSpPr>
        <p:spPr>
          <a:xfrm>
            <a:off x="1085850" y="1047750"/>
            <a:ext cx="1276350" cy="285750"/>
          </a:xfrm>
          <a:prstGeom prst="roundRect">
            <a:avLst>
              <a:gd name="adj" fmla="val 26667"/>
            </a:avLst>
          </a:prstGeom>
          <a:solidFill>
            <a:srgbClr val="174A3A"/>
          </a:solidFill>
          <a:ln w="9525">
            <a:solidFill>
              <a:srgbClr val="174A3A"/>
            </a:solidFill>
            <a:prstDash val="solid"/>
          </a:ln>
        </p:spPr>
        <p:txBody>
          <a:bodyPr lIns="47625" tIns="9525" rIns="47625" bIns="9525" anchor="ctr">
            <a:normAutofit fontScale="99939"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学员</a:t>
            </a:r>
          </a:p>
        </p:txBody>
      </p:sp>
      <p:sp>
        <p:nvSpPr>
          <p:cNvPr id="7" name="role-copy-1"/>
          <p:cNvSpPr>
            <a:spLocks noGrp="1"/>
          </p:cNvSpPr>
          <p:nvPr/>
        </p:nvSpPr>
        <p:spPr>
          <a:xfrm>
            <a:off x="647700" y="2914650"/>
            <a:ext cx="2152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学习成长</a:t>
            </a: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掌握专业能力</a:t>
            </a:r>
          </a:p>
        </p:txBody>
      </p:sp>
      <p:sp>
        <p:nvSpPr>
          <p:cNvPr id="8" name="role-2"/>
          <p:cNvSpPr>
            <a:spLocks noGrp="1"/>
          </p:cNvSpPr>
          <p:nvPr/>
        </p:nvSpPr>
        <p:spPr>
          <a:xfrm>
            <a:off x="3314700" y="1181100"/>
            <a:ext cx="2533650" cy="2571750"/>
          </a:xfrm>
          <a:prstGeom prst="roundRect">
            <a:avLst>
              <a:gd name="adj" fmla="val 3759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9" name="role-chip-2"/>
          <p:cNvSpPr>
            <a:spLocks noGrp="1"/>
          </p:cNvSpPr>
          <p:nvPr/>
        </p:nvSpPr>
        <p:spPr>
          <a:xfrm>
            <a:off x="3943350" y="1047750"/>
            <a:ext cx="1276350" cy="285750"/>
          </a:xfrm>
          <a:prstGeom prst="roundRect">
            <a:avLst>
              <a:gd name="adj" fmla="val 26667"/>
            </a:avLst>
          </a:prstGeom>
          <a:solidFill>
            <a:srgbClr val="174A3A"/>
          </a:solidFill>
          <a:ln w="9525">
            <a:solidFill>
              <a:srgbClr val="174A3A"/>
            </a:solidFill>
            <a:prstDash val="solid"/>
          </a:ln>
        </p:spPr>
        <p:txBody>
          <a:bodyPr lIns="47625" tIns="9525" rIns="47625" bIns="9525" anchor="ctr">
            <a:normAutofit fontScale="99939"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培训机构</a:t>
            </a:r>
          </a:p>
        </p:txBody>
      </p:sp>
      <p:sp>
        <p:nvSpPr>
          <p:cNvPr id="11" name="role-copy-2"/>
          <p:cNvSpPr>
            <a:spLocks noGrp="1"/>
          </p:cNvSpPr>
          <p:nvPr/>
        </p:nvSpPr>
        <p:spPr>
          <a:xfrm>
            <a:off x="3505200" y="2914650"/>
            <a:ext cx="2152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组织培养</a:t>
            </a: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提升教学质量</a:t>
            </a:r>
          </a:p>
        </p:txBody>
      </p:sp>
      <p:sp>
        <p:nvSpPr>
          <p:cNvPr id="12" name="role-3"/>
          <p:cNvSpPr>
            <a:spLocks noGrp="1"/>
          </p:cNvSpPr>
          <p:nvPr/>
        </p:nvSpPr>
        <p:spPr>
          <a:xfrm>
            <a:off x="6172200" y="1181100"/>
            <a:ext cx="2533650" cy="2571750"/>
          </a:xfrm>
          <a:prstGeom prst="roundRect">
            <a:avLst>
              <a:gd name="adj" fmla="val 3759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13" name="role-chip-3"/>
          <p:cNvSpPr>
            <a:spLocks noGrp="1"/>
          </p:cNvSpPr>
          <p:nvPr/>
        </p:nvSpPr>
        <p:spPr>
          <a:xfrm>
            <a:off x="6800850" y="1047750"/>
            <a:ext cx="1276350" cy="285750"/>
          </a:xfrm>
          <a:prstGeom prst="roundRect">
            <a:avLst>
              <a:gd name="adj" fmla="val 26667"/>
            </a:avLst>
          </a:prstGeom>
          <a:solidFill>
            <a:srgbClr val="174A3A"/>
          </a:solidFill>
          <a:ln w="9525">
            <a:solidFill>
              <a:srgbClr val="174A3A"/>
            </a:solidFill>
            <a:prstDash val="solid"/>
          </a:ln>
        </p:spPr>
        <p:txBody>
          <a:bodyPr lIns="47625" tIns="9525" rIns="47625" bIns="9525" anchor="ctr">
            <a:normAutofit fontScale="99939"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用人机构</a:t>
            </a:r>
          </a:p>
        </p:txBody>
      </p:sp>
      <p:sp>
        <p:nvSpPr>
          <p:cNvPr id="15" name="role-copy-3"/>
          <p:cNvSpPr>
            <a:spLocks noGrp="1"/>
          </p:cNvSpPr>
          <p:nvPr/>
        </p:nvSpPr>
        <p:spPr>
          <a:xfrm>
            <a:off x="6362700" y="2914650"/>
            <a:ext cx="2152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引才用才</a:t>
            </a: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保障服务质量</a:t>
            </a:r>
          </a:p>
        </p:txBody>
      </p:sp>
      <p:sp>
        <p:nvSpPr>
          <p:cNvPr id="16" name="role-4"/>
          <p:cNvSpPr>
            <a:spLocks noGrp="1"/>
          </p:cNvSpPr>
          <p:nvPr/>
        </p:nvSpPr>
        <p:spPr>
          <a:xfrm>
            <a:off x="9029700" y="1181100"/>
            <a:ext cx="2533650" cy="2571750"/>
          </a:xfrm>
          <a:prstGeom prst="roundRect">
            <a:avLst>
              <a:gd name="adj" fmla="val 3759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17" name="role-chip-4"/>
          <p:cNvSpPr>
            <a:spLocks noGrp="1"/>
          </p:cNvSpPr>
          <p:nvPr/>
        </p:nvSpPr>
        <p:spPr>
          <a:xfrm>
            <a:off x="9658350" y="1047750"/>
            <a:ext cx="1276350" cy="285750"/>
          </a:xfrm>
          <a:prstGeom prst="roundRect">
            <a:avLst>
              <a:gd name="adj" fmla="val 26667"/>
            </a:avLst>
          </a:prstGeom>
          <a:solidFill>
            <a:srgbClr val="174A3A"/>
          </a:solidFill>
          <a:ln w="9525">
            <a:solidFill>
              <a:srgbClr val="174A3A"/>
            </a:solidFill>
            <a:prstDash val="solid"/>
          </a:ln>
        </p:spPr>
        <p:txBody>
          <a:bodyPr lIns="47625" tIns="9525" rIns="47625" bIns="9525" anchor="ctr">
            <a:normAutofit fontScale="99939"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家庭</a:t>
            </a:r>
          </a:p>
        </p:txBody>
      </p:sp>
      <p:sp>
        <p:nvSpPr>
          <p:cNvPr id="19" name="role-copy-4"/>
          <p:cNvSpPr>
            <a:spLocks noGrp="1"/>
          </p:cNvSpPr>
          <p:nvPr/>
        </p:nvSpPr>
        <p:spPr>
          <a:xfrm>
            <a:off x="9220200" y="2914650"/>
            <a:ext cx="2152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安心选择</a:t>
            </a: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获得专业服务</a:t>
            </a:r>
          </a:p>
        </p:txBody>
      </p:sp>
      <p:sp>
        <p:nvSpPr>
          <p:cNvPr id="20" name="platform-core-bg"/>
          <p:cNvSpPr>
            <a:spLocks noGrp="1"/>
          </p:cNvSpPr>
          <p:nvPr/>
        </p:nvSpPr>
        <p:spPr>
          <a:xfrm>
            <a:off x="845185" y="3943350"/>
            <a:ext cx="10603865" cy="571500"/>
          </a:xfrm>
          <a:prstGeom prst="roundRect">
            <a:avLst>
              <a:gd name="adj" fmla="val 13333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21" name="platform-core"/>
          <p:cNvSpPr>
            <a:spLocks noGrp="1"/>
          </p:cNvSpPr>
          <p:nvPr/>
        </p:nvSpPr>
        <p:spPr>
          <a:xfrm>
            <a:off x="990600" y="3943350"/>
            <a:ext cx="10210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基于多智能体协同的护理康养人才成长与照护服务平台</a:t>
            </a: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数据互通 · 流程打通 · 角色协同 · 全程留痕</a:t>
            </a:r>
          </a:p>
        </p:txBody>
      </p:sp>
      <p:sp>
        <p:nvSpPr>
          <p:cNvPr id="22" name="stage-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4838700"/>
            <a:ext cx="1333500" cy="87630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23" name="stage-num-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52450" y="49149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7466"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24" name="stage-name-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67055" y="512445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招生</a:t>
            </a:r>
          </a:p>
        </p:txBody>
      </p:sp>
      <p:sp>
        <p:nvSpPr>
          <p:cNvPr id="25" name="stage-arrow-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790700" y="5124450"/>
            <a:ext cx="266700" cy="266700"/>
          </a:xfrm>
          <a:prstGeom prst="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26" name="stage-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095500" y="4838700"/>
            <a:ext cx="1333500" cy="87630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27" name="stage-num-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190750" y="49149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7466"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28" name="stage-name-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190750" y="510984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</a:t>
            </a:r>
          </a:p>
        </p:txBody>
      </p:sp>
      <p:sp>
        <p:nvSpPr>
          <p:cNvPr id="29" name="stage-arrow-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429000" y="5124450"/>
            <a:ext cx="266700" cy="266700"/>
          </a:xfrm>
          <a:prstGeom prst="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30" name="stage-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733800" y="4838700"/>
            <a:ext cx="1333500" cy="87630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31" name="stage-num-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829050" y="49149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7466"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32" name="stage-name-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3829050" y="510984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实训</a:t>
            </a:r>
          </a:p>
        </p:txBody>
      </p:sp>
      <p:sp>
        <p:nvSpPr>
          <p:cNvPr id="33" name="stage-arrow-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067300" y="5124450"/>
            <a:ext cx="266700" cy="266700"/>
          </a:xfrm>
          <a:prstGeom prst="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34" name="stage-4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5372100" y="4838700"/>
            <a:ext cx="1333500" cy="87630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35" name="stage-num-4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467350" y="49149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7466"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36" name="stage-name-4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5467350" y="510984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考证</a:t>
            </a:r>
          </a:p>
        </p:txBody>
      </p:sp>
      <p:sp>
        <p:nvSpPr>
          <p:cNvPr id="37" name="stage-arrow-4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705600" y="5124450"/>
            <a:ext cx="266700" cy="266700"/>
          </a:xfrm>
          <a:prstGeom prst="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38" name="stage-5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7010400" y="4838700"/>
            <a:ext cx="1333500" cy="87630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39" name="stage-num-5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7105650" y="49149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7466"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40" name="stage-name-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7105650" y="510984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就业</a:t>
            </a:r>
          </a:p>
        </p:txBody>
      </p:sp>
      <p:sp>
        <p:nvSpPr>
          <p:cNvPr id="41" name="stage-arrow-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343900" y="5124450"/>
            <a:ext cx="266700" cy="266700"/>
          </a:xfrm>
          <a:prstGeom prst="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42" name="stage-6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8648700" y="4838700"/>
            <a:ext cx="1333500" cy="87630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43" name="stage-num-6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8743950" y="49149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7466"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</a:p>
        </p:txBody>
      </p:sp>
      <p:sp>
        <p:nvSpPr>
          <p:cNvPr id="44" name="stage-name-6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8743950" y="510984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</a:p>
        </p:txBody>
      </p:sp>
      <p:sp>
        <p:nvSpPr>
          <p:cNvPr id="45" name="stage-arrow-6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9982200" y="5124450"/>
            <a:ext cx="266700" cy="266700"/>
          </a:xfrm>
          <a:prstGeom prst="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46" name="stage-7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10287000" y="4838700"/>
            <a:ext cx="1333500" cy="876300"/>
          </a:xfrm>
          <a:prstGeom prst="roundRect">
            <a:avLst>
              <a:gd name="adj" fmla="val 8696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47" name="stage-num-7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10382250" y="49149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7466"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</a:p>
        </p:txBody>
      </p:sp>
      <p:sp>
        <p:nvSpPr>
          <p:cNvPr id="48" name="stage-name-7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10382250" y="510984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</a:t>
            </a:r>
          </a:p>
        </p:txBody>
      </p:sp>
      <p:sp>
        <p:nvSpPr>
          <p:cNvPr id="49" name="folio-box-6"/>
          <p:cNvSpPr>
            <a:spLocks noGrp="1"/>
          </p:cNvSpPr>
          <p:nvPr/>
        </p:nvSpPr>
        <p:spPr>
          <a:xfrm>
            <a:off x="95250" y="6419850"/>
            <a:ext cx="400050" cy="333375"/>
          </a:xfrm>
          <a:prstGeom prst="rect">
            <a:avLst/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50" name="folio-6"/>
          <p:cNvSpPr>
            <a:spLocks noGrp="1"/>
          </p:cNvSpPr>
          <p:nvPr/>
        </p:nvSpPr>
        <p:spPr>
          <a:xfrm>
            <a:off x="114300" y="64198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</a:p>
        </p:txBody>
      </p:sp>
      <p:sp>
        <p:nvSpPr>
          <p:cNvPr id="51" name="folio-caption-6"/>
          <p:cNvSpPr>
            <a:spLocks noGrp="1"/>
          </p:cNvSpPr>
          <p:nvPr/>
        </p:nvSpPr>
        <p:spPr>
          <a:xfrm>
            <a:off x="552450" y="64770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WHOLE PLATFORM PANORAMA</a:t>
            </a:r>
          </a:p>
        </p:txBody>
      </p:sp>
      <p:sp>
        <p:nvSpPr>
          <p:cNvPr id="52" name="platform-mock-note"/>
          <p:cNvSpPr>
            <a:spLocks noGrp="1"/>
          </p:cNvSpPr>
          <p:nvPr/>
        </p:nvSpPr>
        <p:spPr>
          <a:xfrm>
            <a:off x="9220200" y="64770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界面数字均为模拟演示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1"/>
          <a:srcRect l="16714"/>
          <a:stretch>
            <a:fillRect/>
          </a:stretch>
        </p:blipFill>
        <p:spPr>
          <a:xfrm>
            <a:off x="495300" y="1432560"/>
            <a:ext cx="2459990" cy="1482090"/>
          </a:xfrm>
          <a:prstGeom prst="round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38100" stA="45000" endPos="65000" dist="50800" dir="5400000" sy="-100000" algn="bl" rotWithShape="0"/>
            <a:softEdge rad="12700"/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2"/>
          <a:srcRect l="16264"/>
          <a:stretch>
            <a:fillRect/>
          </a:stretch>
        </p:blipFill>
        <p:spPr>
          <a:xfrm>
            <a:off x="3314700" y="1464945"/>
            <a:ext cx="2522855" cy="1472565"/>
          </a:xfrm>
          <a:prstGeom prst="round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12700"/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3"/>
          <a:srcRect l="17139"/>
          <a:stretch>
            <a:fillRect/>
          </a:stretch>
        </p:blipFill>
        <p:spPr>
          <a:xfrm>
            <a:off x="6217285" y="1511300"/>
            <a:ext cx="2431415" cy="1460500"/>
          </a:xfrm>
          <a:prstGeom prst="round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12700"/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4"/>
          <a:srcRect l="17013"/>
          <a:stretch>
            <a:fillRect/>
          </a:stretch>
        </p:blipFill>
        <p:spPr>
          <a:xfrm>
            <a:off x="9048115" y="1485265"/>
            <a:ext cx="2465070" cy="1486535"/>
          </a:xfrm>
          <a:prstGeom prst="round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127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ackground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-title"/>
          <p:cNvSpPr>
            <a:spLocks noGrp="1"/>
          </p:cNvSpPr>
          <p:nvPr/>
        </p:nvSpPr>
        <p:spPr>
          <a:xfrm>
            <a:off x="407670" y="20955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 fontScale="97289"/>
          </a:bodyPr>
          <a:lstStyle/>
          <a:p>
            <a:pPr algn="l">
              <a:lnSpc>
                <a:spcPct val="108000"/>
              </a:lnSpc>
              <a:buNone/>
              <a:def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四类用户在同一条服务链上协同</a:t>
            </a: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666750" y="762000"/>
            <a:ext cx="1085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同一平台、不同视角；任务分工明确，信息一体贯通</a:t>
            </a:r>
          </a:p>
        </p:txBody>
      </p:sp>
      <p:sp>
        <p:nvSpPr>
          <p:cNvPr id="4" name="view-frame-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14350" y="1200150"/>
            <a:ext cx="5448300" cy="2095500"/>
          </a:xfrm>
          <a:prstGeom prst="roundRect">
            <a:avLst>
              <a:gd name="adj" fmla="val 4545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5" name="view-tag-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66750" y="108585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174A3A"/>
          </a:solidFill>
          <a:ln w="9525">
            <a:solidFill>
              <a:srgbClr val="174A3A"/>
            </a:solidFill>
            <a:prstDash val="solid"/>
          </a:ln>
        </p:spPr>
        <p:txBody>
          <a:bodyPr lIns="47625" tIns="9525" rIns="47625" bIns="95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学员端</a:t>
            </a:r>
          </a:p>
        </p:txBody>
      </p:sp>
      <p:sp>
        <p:nvSpPr>
          <p:cNvPr id="7" name="view-tasks-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351405" y="1572260"/>
            <a:ext cx="5067300" cy="1380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课程学习 </a:t>
            </a: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实训任务  </a:t>
            </a: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考证就业</a:t>
            </a:r>
          </a:p>
        </p:txBody>
      </p:sp>
      <p:sp>
        <p:nvSpPr>
          <p:cNvPr id="8" name="view-frame-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191250" y="1200150"/>
            <a:ext cx="5448300" cy="2095500"/>
          </a:xfrm>
          <a:prstGeom prst="roundRect">
            <a:avLst>
              <a:gd name="adj" fmla="val 4545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9" name="view-tag-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343650" y="108585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174A3A"/>
          </a:solidFill>
          <a:ln w="9525">
            <a:solidFill>
              <a:srgbClr val="174A3A"/>
            </a:solidFill>
            <a:prstDash val="solid"/>
          </a:ln>
        </p:spPr>
        <p:txBody>
          <a:bodyPr lIns="47625" tIns="9525" rIns="47625" bIns="95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培训机构端</a:t>
            </a:r>
          </a:p>
        </p:txBody>
      </p:sp>
      <p:sp>
        <p:nvSpPr>
          <p:cNvPr id="11" name="view-tasks-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112125" y="1701165"/>
            <a:ext cx="5067300" cy="1061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学员管理</a:t>
            </a: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课程组织</a:t>
            </a: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评价认证</a:t>
            </a:r>
          </a:p>
        </p:txBody>
      </p:sp>
      <p:sp>
        <p:nvSpPr>
          <p:cNvPr id="12" name="view-frame-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14350" y="3531870"/>
            <a:ext cx="5448300" cy="2095500"/>
          </a:xfrm>
          <a:prstGeom prst="roundRect">
            <a:avLst>
              <a:gd name="adj" fmla="val 4545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13" name="view-tag-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66750" y="340995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174A3A"/>
          </a:solidFill>
          <a:ln w="9525">
            <a:solidFill>
              <a:srgbClr val="174A3A"/>
            </a:solidFill>
            <a:prstDash val="solid"/>
          </a:ln>
        </p:spPr>
        <p:txBody>
          <a:bodyPr lIns="47625" tIns="9525" rIns="47625" bIns="95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用人机构端</a:t>
            </a:r>
          </a:p>
        </p:txBody>
      </p:sp>
      <p:sp>
        <p:nvSpPr>
          <p:cNvPr id="15" name="view-tasks-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279650" y="3873500"/>
            <a:ext cx="5067300" cy="151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岗位发布</a:t>
            </a: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人才筛选</a:t>
            </a: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在岗管理</a:t>
            </a:r>
          </a:p>
        </p:txBody>
      </p:sp>
      <p:sp>
        <p:nvSpPr>
          <p:cNvPr id="16" name="view-frame-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191250" y="3524250"/>
            <a:ext cx="5448300" cy="2095500"/>
          </a:xfrm>
          <a:prstGeom prst="roundRect">
            <a:avLst>
              <a:gd name="adj" fmla="val 4545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17" name="view-tag-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343650" y="3409950"/>
            <a:ext cx="1314450" cy="285750"/>
          </a:xfrm>
          <a:prstGeom prst="roundRect">
            <a:avLst>
              <a:gd name="adj" fmla="val 26667"/>
            </a:avLst>
          </a:prstGeom>
          <a:solidFill>
            <a:srgbClr val="174A3A"/>
          </a:solidFill>
          <a:ln w="9525">
            <a:solidFill>
              <a:srgbClr val="174A3A"/>
            </a:solidFill>
            <a:prstDash val="solid"/>
          </a:ln>
        </p:spPr>
        <p:txBody>
          <a:bodyPr lIns="47625" tIns="9525" rIns="47625" bIns="95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家庭端</a:t>
            </a:r>
          </a:p>
        </p:txBody>
      </p:sp>
      <p:sp>
        <p:nvSpPr>
          <p:cNvPr id="19" name="view-tasks-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040370" y="4005580"/>
            <a:ext cx="50673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服务申请</a:t>
            </a: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照护评价</a:t>
            </a: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反馈建议</a:t>
            </a:r>
          </a:p>
        </p:txBody>
      </p:sp>
      <p:sp>
        <p:nvSpPr>
          <p:cNvPr id="20" name="mock-warning"/>
          <p:cNvSpPr>
            <a:spLocks noGrp="1"/>
          </p:cNvSpPr>
          <p:nvPr/>
        </p:nvSpPr>
        <p:spPr>
          <a:xfrm>
            <a:off x="3657600" y="5962650"/>
            <a:ext cx="4876800" cy="323850"/>
          </a:xfrm>
          <a:prstGeom prst="roundRect">
            <a:avLst>
              <a:gd name="adj" fmla="val 17647"/>
            </a:avLst>
          </a:prstGeom>
          <a:solidFill>
            <a:srgbClr val="F4E3DC"/>
          </a:solidFill>
          <a:ln w="9525">
            <a:solidFill>
              <a:srgbClr val="B64A3D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真实运行截图｜界面数字为模拟演示，非真实运营数据</a:t>
            </a:r>
          </a:p>
        </p:txBody>
      </p:sp>
      <p:sp>
        <p:nvSpPr>
          <p:cNvPr id="21" name="folio-box-7"/>
          <p:cNvSpPr>
            <a:spLocks noGrp="1"/>
          </p:cNvSpPr>
          <p:nvPr/>
        </p:nvSpPr>
        <p:spPr>
          <a:xfrm>
            <a:off x="95250" y="6419850"/>
            <a:ext cx="400050" cy="333375"/>
          </a:xfrm>
          <a:prstGeom prst="rect">
            <a:avLst/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22" name="folio-7"/>
          <p:cNvSpPr>
            <a:spLocks noGrp="1"/>
          </p:cNvSpPr>
          <p:nvPr/>
        </p:nvSpPr>
        <p:spPr>
          <a:xfrm>
            <a:off x="114300" y="64198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</a:p>
        </p:txBody>
      </p:sp>
      <p:sp>
        <p:nvSpPr>
          <p:cNvPr id="23" name="folio-caption-7"/>
          <p:cNvSpPr>
            <a:spLocks noGrp="1"/>
          </p:cNvSpPr>
          <p:nvPr/>
        </p:nvSpPr>
        <p:spPr>
          <a:xfrm>
            <a:off x="552450" y="64770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 ROLES &amp; INTERFACES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6"/>
          <a:srcRect l="-10611"/>
          <a:stretch>
            <a:fillRect/>
          </a:stretch>
        </p:blipFill>
        <p:spPr>
          <a:xfrm>
            <a:off x="335280" y="1485265"/>
            <a:ext cx="3770630" cy="1710690"/>
          </a:xfrm>
          <a:prstGeom prst="round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7"/>
          <a:srcRect l="-10924"/>
          <a:stretch>
            <a:fillRect/>
          </a:stretch>
        </p:blipFill>
        <p:spPr>
          <a:xfrm>
            <a:off x="5962650" y="1440815"/>
            <a:ext cx="3949065" cy="1740535"/>
          </a:xfrm>
          <a:prstGeom prst="round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8"/>
          <a:srcRect l="-14759"/>
          <a:stretch>
            <a:fillRect/>
          </a:stretch>
        </p:blipFill>
        <p:spPr>
          <a:xfrm>
            <a:off x="191135" y="3810000"/>
            <a:ext cx="3914775" cy="1697990"/>
          </a:xfrm>
          <a:prstGeom prst="round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9"/>
          <a:srcRect l="-92076"/>
          <a:stretch>
            <a:fillRect/>
          </a:stretch>
        </p:blipFill>
        <p:spPr>
          <a:xfrm>
            <a:off x="3215640" y="3810000"/>
            <a:ext cx="6542405" cy="1704975"/>
          </a:xfrm>
          <a:prstGeom prst="round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backgroun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-title"/>
          <p:cNvSpPr>
            <a:spLocks noGrp="1"/>
          </p:cNvSpPr>
          <p:nvPr/>
        </p:nvSpPr>
        <p:spPr>
          <a:xfrm>
            <a:off x="514350" y="2286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 fontScale="97289"/>
          </a:bodyPr>
          <a:lstStyle/>
          <a:p>
            <a:pPr algn="l">
              <a:lnSpc>
                <a:spcPct val="108000"/>
              </a:lnSpc>
              <a:buNone/>
              <a:def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 dirty="0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七个阶段，由12个智能体</a:t>
            </a:r>
            <a:r>
              <a:rPr lang="zh-CN" altLang="en-US" sz="3450" b="1" dirty="0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矩阵赋能</a:t>
            </a:r>
            <a:endParaRPr sz="3450" b="1" dirty="0">
              <a:solidFill>
                <a:srgbClr val="0D3A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666750" y="762000"/>
            <a:ext cx="1085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50" b="0" dirty="0">
              <a:solidFill>
                <a:srgbClr val="263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journey-node-1"/>
          <p:cNvSpPr>
            <a:spLocks noGrp="1"/>
          </p:cNvSpPr>
          <p:nvPr/>
        </p:nvSpPr>
        <p:spPr>
          <a:xfrm>
            <a:off x="495300" y="1200150"/>
            <a:ext cx="1257300" cy="685800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5" name="journey-num-1"/>
          <p:cNvSpPr>
            <a:spLocks noGrp="1"/>
          </p:cNvSpPr>
          <p:nvPr/>
        </p:nvSpPr>
        <p:spPr>
          <a:xfrm>
            <a:off x="571500" y="12573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6" name="journey-stage-1"/>
          <p:cNvSpPr>
            <a:spLocks noGrp="1"/>
          </p:cNvSpPr>
          <p:nvPr/>
        </p:nvSpPr>
        <p:spPr>
          <a:xfrm>
            <a:off x="571500" y="1376045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招生</a:t>
            </a:r>
          </a:p>
        </p:txBody>
      </p:sp>
      <p:sp>
        <p:nvSpPr>
          <p:cNvPr id="7" name="journey-arrow-1"/>
          <p:cNvSpPr>
            <a:spLocks noGrp="1"/>
          </p:cNvSpPr>
          <p:nvPr/>
        </p:nvSpPr>
        <p:spPr>
          <a:xfrm>
            <a:off x="1752600" y="1409700"/>
            <a:ext cx="304800" cy="266700"/>
          </a:xfrm>
          <a:prstGeom prst="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8" name="journey-node-2"/>
          <p:cNvSpPr>
            <a:spLocks noGrp="1"/>
          </p:cNvSpPr>
          <p:nvPr/>
        </p:nvSpPr>
        <p:spPr>
          <a:xfrm>
            <a:off x="2114550" y="1200150"/>
            <a:ext cx="1257300" cy="685800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9" name="journey-num-2"/>
          <p:cNvSpPr>
            <a:spLocks noGrp="1"/>
          </p:cNvSpPr>
          <p:nvPr/>
        </p:nvSpPr>
        <p:spPr>
          <a:xfrm>
            <a:off x="2190750" y="12573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0" name="journey-stage-2"/>
          <p:cNvSpPr>
            <a:spLocks noGrp="1"/>
          </p:cNvSpPr>
          <p:nvPr/>
        </p:nvSpPr>
        <p:spPr>
          <a:xfrm>
            <a:off x="2190750" y="1376045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</a:t>
            </a:r>
          </a:p>
        </p:txBody>
      </p:sp>
      <p:sp>
        <p:nvSpPr>
          <p:cNvPr id="11" name="journey-arrow-2"/>
          <p:cNvSpPr>
            <a:spLocks noGrp="1"/>
          </p:cNvSpPr>
          <p:nvPr/>
        </p:nvSpPr>
        <p:spPr>
          <a:xfrm>
            <a:off x="3371850" y="1409700"/>
            <a:ext cx="304800" cy="266700"/>
          </a:xfrm>
          <a:prstGeom prst="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12" name="journey-node-3"/>
          <p:cNvSpPr>
            <a:spLocks noGrp="1"/>
          </p:cNvSpPr>
          <p:nvPr/>
        </p:nvSpPr>
        <p:spPr>
          <a:xfrm>
            <a:off x="3733800" y="1200150"/>
            <a:ext cx="1257300" cy="685800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13" name="journey-num-3"/>
          <p:cNvSpPr>
            <a:spLocks noGrp="1"/>
          </p:cNvSpPr>
          <p:nvPr/>
        </p:nvSpPr>
        <p:spPr>
          <a:xfrm>
            <a:off x="3810000" y="12573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4" name="journey-stage-3"/>
          <p:cNvSpPr>
            <a:spLocks noGrp="1"/>
          </p:cNvSpPr>
          <p:nvPr/>
        </p:nvSpPr>
        <p:spPr>
          <a:xfrm>
            <a:off x="3810000" y="1376045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实训</a:t>
            </a:r>
          </a:p>
        </p:txBody>
      </p:sp>
      <p:sp>
        <p:nvSpPr>
          <p:cNvPr id="15" name="journey-arrow-3"/>
          <p:cNvSpPr>
            <a:spLocks noGrp="1"/>
          </p:cNvSpPr>
          <p:nvPr/>
        </p:nvSpPr>
        <p:spPr>
          <a:xfrm>
            <a:off x="4991100" y="1409700"/>
            <a:ext cx="304800" cy="266700"/>
          </a:xfrm>
          <a:prstGeom prst="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16" name="journey-node-4"/>
          <p:cNvSpPr>
            <a:spLocks noGrp="1"/>
          </p:cNvSpPr>
          <p:nvPr/>
        </p:nvSpPr>
        <p:spPr>
          <a:xfrm>
            <a:off x="5353050" y="1200150"/>
            <a:ext cx="1257300" cy="685800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17" name="journey-num-4"/>
          <p:cNvSpPr>
            <a:spLocks noGrp="1"/>
          </p:cNvSpPr>
          <p:nvPr/>
        </p:nvSpPr>
        <p:spPr>
          <a:xfrm>
            <a:off x="5429250" y="12573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8" name="journey-stage-4"/>
          <p:cNvSpPr>
            <a:spLocks noGrp="1"/>
          </p:cNvSpPr>
          <p:nvPr/>
        </p:nvSpPr>
        <p:spPr>
          <a:xfrm>
            <a:off x="5429250" y="1376045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考证</a:t>
            </a:r>
          </a:p>
        </p:txBody>
      </p:sp>
      <p:sp>
        <p:nvSpPr>
          <p:cNvPr id="19" name="journey-arrow-4"/>
          <p:cNvSpPr>
            <a:spLocks noGrp="1"/>
          </p:cNvSpPr>
          <p:nvPr/>
        </p:nvSpPr>
        <p:spPr>
          <a:xfrm>
            <a:off x="6610350" y="1409700"/>
            <a:ext cx="304800" cy="266700"/>
          </a:xfrm>
          <a:prstGeom prst="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20" name="journey-node-5"/>
          <p:cNvSpPr>
            <a:spLocks noGrp="1"/>
          </p:cNvSpPr>
          <p:nvPr/>
        </p:nvSpPr>
        <p:spPr>
          <a:xfrm>
            <a:off x="6972300" y="1200150"/>
            <a:ext cx="1257300" cy="685800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21" name="journey-num-5"/>
          <p:cNvSpPr>
            <a:spLocks noGrp="1"/>
          </p:cNvSpPr>
          <p:nvPr/>
        </p:nvSpPr>
        <p:spPr>
          <a:xfrm>
            <a:off x="7048500" y="12573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22" name="journey-stage-5"/>
          <p:cNvSpPr>
            <a:spLocks noGrp="1"/>
          </p:cNvSpPr>
          <p:nvPr/>
        </p:nvSpPr>
        <p:spPr>
          <a:xfrm>
            <a:off x="7048500" y="1376045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就业</a:t>
            </a:r>
          </a:p>
        </p:txBody>
      </p:sp>
      <p:sp>
        <p:nvSpPr>
          <p:cNvPr id="23" name="journey-arrow-5"/>
          <p:cNvSpPr>
            <a:spLocks noGrp="1"/>
          </p:cNvSpPr>
          <p:nvPr/>
        </p:nvSpPr>
        <p:spPr>
          <a:xfrm>
            <a:off x="8229600" y="1409700"/>
            <a:ext cx="304800" cy="266700"/>
          </a:xfrm>
          <a:prstGeom prst="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24" name="journey-node-6"/>
          <p:cNvSpPr>
            <a:spLocks noGrp="1"/>
          </p:cNvSpPr>
          <p:nvPr/>
        </p:nvSpPr>
        <p:spPr>
          <a:xfrm>
            <a:off x="8591550" y="1200150"/>
            <a:ext cx="1257300" cy="685800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25" name="journey-num-6"/>
          <p:cNvSpPr>
            <a:spLocks noGrp="1"/>
          </p:cNvSpPr>
          <p:nvPr/>
        </p:nvSpPr>
        <p:spPr>
          <a:xfrm>
            <a:off x="8667750" y="12573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</a:p>
        </p:txBody>
      </p:sp>
      <p:sp>
        <p:nvSpPr>
          <p:cNvPr id="26" name="journey-stage-6"/>
          <p:cNvSpPr>
            <a:spLocks noGrp="1"/>
          </p:cNvSpPr>
          <p:nvPr/>
        </p:nvSpPr>
        <p:spPr>
          <a:xfrm>
            <a:off x="8667750" y="1376045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</a:p>
        </p:txBody>
      </p:sp>
      <p:sp>
        <p:nvSpPr>
          <p:cNvPr id="27" name="journey-arrow-6"/>
          <p:cNvSpPr>
            <a:spLocks noGrp="1"/>
          </p:cNvSpPr>
          <p:nvPr/>
        </p:nvSpPr>
        <p:spPr>
          <a:xfrm>
            <a:off x="9848850" y="1409700"/>
            <a:ext cx="304800" cy="266700"/>
          </a:xfrm>
          <a:prstGeom prst="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28" name="journey-node-7"/>
          <p:cNvSpPr>
            <a:spLocks noGrp="1"/>
          </p:cNvSpPr>
          <p:nvPr/>
        </p:nvSpPr>
        <p:spPr>
          <a:xfrm>
            <a:off x="10210800" y="1200150"/>
            <a:ext cx="1257300" cy="685800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29" name="journey-num-7"/>
          <p:cNvSpPr>
            <a:spLocks noGrp="1"/>
          </p:cNvSpPr>
          <p:nvPr/>
        </p:nvSpPr>
        <p:spPr>
          <a:xfrm>
            <a:off x="10287000" y="12573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4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</a:p>
        </p:txBody>
      </p:sp>
      <p:sp>
        <p:nvSpPr>
          <p:cNvPr id="30" name="journey-stage-7"/>
          <p:cNvSpPr>
            <a:spLocks noGrp="1"/>
          </p:cNvSpPr>
          <p:nvPr/>
        </p:nvSpPr>
        <p:spPr>
          <a:xfrm>
            <a:off x="10287000" y="1376045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</a:t>
            </a:r>
          </a:p>
        </p:txBody>
      </p:sp>
      <p:sp>
        <p:nvSpPr>
          <p:cNvPr id="31" name="agent-group-1"/>
          <p:cNvSpPr>
            <a:spLocks noGrp="1"/>
          </p:cNvSpPr>
          <p:nvPr/>
        </p:nvSpPr>
        <p:spPr>
          <a:xfrm>
            <a:off x="514350" y="2457450"/>
            <a:ext cx="2571750" cy="2247900"/>
          </a:xfrm>
          <a:prstGeom prst="roundRect">
            <a:avLst>
              <a:gd name="adj" fmla="val 4237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32" name="agent-group-index-1"/>
          <p:cNvSpPr>
            <a:spLocks noGrp="1"/>
          </p:cNvSpPr>
          <p:nvPr/>
        </p:nvSpPr>
        <p:spPr>
          <a:xfrm>
            <a:off x="685800" y="262890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B64A3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B64A3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33" name="agent-group-title-1"/>
          <p:cNvSpPr>
            <a:spLocks noGrp="1"/>
          </p:cNvSpPr>
          <p:nvPr/>
        </p:nvSpPr>
        <p:spPr>
          <a:xfrm>
            <a:off x="1219200" y="2590800"/>
            <a:ext cx="1676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招生与学习</a:t>
            </a:r>
          </a:p>
        </p:txBody>
      </p:sp>
      <p:sp>
        <p:nvSpPr>
          <p:cNvPr id="34" name="agent-group-role-1-1"/>
          <p:cNvSpPr>
            <a:spLocks noGrp="1"/>
          </p:cNvSpPr>
          <p:nvPr/>
        </p:nvSpPr>
        <p:spPr>
          <a:xfrm>
            <a:off x="762000" y="3219450"/>
            <a:ext cx="2076450" cy="323850"/>
          </a:xfrm>
          <a:prstGeom prst="roundRect">
            <a:avLst>
              <a:gd name="adj" fmla="val 14706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招生</a:t>
            </a:r>
            <a:r>
              <a:rPr lang="zh-CN"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咨询</a:t>
            </a:r>
            <a:r>
              <a:rPr lang="en-US" altLang="zh-CN"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</a:p>
        </p:txBody>
      </p:sp>
      <p:sp>
        <p:nvSpPr>
          <p:cNvPr id="35" name="agent-group-role-1-2"/>
          <p:cNvSpPr>
            <a:spLocks noGrp="1"/>
          </p:cNvSpPr>
          <p:nvPr/>
        </p:nvSpPr>
        <p:spPr>
          <a:xfrm>
            <a:off x="762000" y="3657600"/>
            <a:ext cx="2076450" cy="323850"/>
          </a:xfrm>
          <a:prstGeom prst="roundRect">
            <a:avLst>
              <a:gd name="adj" fmla="val 14706"/>
            </a:avLst>
          </a:prstGeom>
          <a:solidFill>
            <a:srgbClr val="E4F1EB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课程辅导</a:t>
            </a:r>
            <a:r>
              <a:rPr lang="en-US" altLang="zh-CN"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</a:p>
        </p:txBody>
      </p:sp>
      <p:sp>
        <p:nvSpPr>
          <p:cNvPr id="36" name="agent-group-role-1-3"/>
          <p:cNvSpPr>
            <a:spLocks noGrp="1"/>
          </p:cNvSpPr>
          <p:nvPr/>
        </p:nvSpPr>
        <p:spPr>
          <a:xfrm>
            <a:off x="762000" y="4095750"/>
            <a:ext cx="2076450" cy="323850"/>
          </a:xfrm>
          <a:prstGeom prst="roundRect">
            <a:avLst>
              <a:gd name="adj" fmla="val 14706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学员关怀</a:t>
            </a:r>
            <a:r>
              <a:rPr lang="en-US" altLang="zh-CN"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</a:p>
        </p:txBody>
      </p:sp>
      <p:sp>
        <p:nvSpPr>
          <p:cNvPr id="37" name="agent-group-2"/>
          <p:cNvSpPr>
            <a:spLocks noGrp="1"/>
          </p:cNvSpPr>
          <p:nvPr/>
        </p:nvSpPr>
        <p:spPr>
          <a:xfrm>
            <a:off x="3390900" y="2457450"/>
            <a:ext cx="2571750" cy="2247900"/>
          </a:xfrm>
          <a:prstGeom prst="roundRect">
            <a:avLst>
              <a:gd name="adj" fmla="val 4237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38" name="agent-group-index-2"/>
          <p:cNvSpPr>
            <a:spLocks noGrp="1"/>
          </p:cNvSpPr>
          <p:nvPr/>
        </p:nvSpPr>
        <p:spPr>
          <a:xfrm>
            <a:off x="3562350" y="262890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92D4B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92D4B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39" name="agent-group-title-2"/>
          <p:cNvSpPr>
            <a:spLocks noGrp="1"/>
          </p:cNvSpPr>
          <p:nvPr/>
        </p:nvSpPr>
        <p:spPr>
          <a:xfrm>
            <a:off x="4095750" y="2590800"/>
            <a:ext cx="1676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证书与就业</a:t>
            </a:r>
          </a:p>
        </p:txBody>
      </p:sp>
      <p:sp>
        <p:nvSpPr>
          <p:cNvPr id="40" name="agent-group-role-2-1"/>
          <p:cNvSpPr>
            <a:spLocks noGrp="1"/>
          </p:cNvSpPr>
          <p:nvPr/>
        </p:nvSpPr>
        <p:spPr>
          <a:xfrm>
            <a:off x="3638550" y="3219450"/>
            <a:ext cx="2076450" cy="323850"/>
          </a:xfrm>
          <a:prstGeom prst="roundRect">
            <a:avLst>
              <a:gd name="adj" fmla="val 14706"/>
            </a:avLst>
          </a:prstGeom>
          <a:solidFill>
            <a:srgbClr val="2E6A56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考证辅导</a:t>
            </a: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</a:p>
        </p:txBody>
      </p:sp>
      <p:sp>
        <p:nvSpPr>
          <p:cNvPr id="41" name="agent-group-role-2-2"/>
          <p:cNvSpPr>
            <a:spLocks noGrp="1"/>
          </p:cNvSpPr>
          <p:nvPr/>
        </p:nvSpPr>
        <p:spPr>
          <a:xfrm>
            <a:off x="3638550" y="3657600"/>
            <a:ext cx="2076450" cy="323850"/>
          </a:xfrm>
          <a:prstGeom prst="roundRect">
            <a:avLst>
              <a:gd name="adj" fmla="val 14706"/>
            </a:avLst>
          </a:prstGeom>
          <a:solidFill>
            <a:srgbClr val="2E6A56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就业</a:t>
            </a: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</a:t>
            </a: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</a:p>
        </p:txBody>
      </p:sp>
      <p:sp>
        <p:nvSpPr>
          <p:cNvPr id="42" name="agent-group-role-2-3"/>
          <p:cNvSpPr>
            <a:spLocks noGrp="1"/>
          </p:cNvSpPr>
          <p:nvPr/>
        </p:nvSpPr>
        <p:spPr>
          <a:xfrm>
            <a:off x="3638550" y="4095750"/>
            <a:ext cx="2076450" cy="323850"/>
          </a:xfrm>
          <a:prstGeom prst="roundRect">
            <a:avLst>
              <a:gd name="adj" fmla="val 14706"/>
            </a:avLst>
          </a:prstGeom>
          <a:solidFill>
            <a:srgbClr val="2E6A56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实训指导</a:t>
            </a:r>
            <a:r>
              <a:rPr lang="en-US" alt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</a:p>
        </p:txBody>
      </p:sp>
      <p:sp>
        <p:nvSpPr>
          <p:cNvPr id="43" name="agent-group-3"/>
          <p:cNvSpPr>
            <a:spLocks noGrp="1"/>
          </p:cNvSpPr>
          <p:nvPr/>
        </p:nvSpPr>
        <p:spPr>
          <a:xfrm>
            <a:off x="6267450" y="2457450"/>
            <a:ext cx="2571750" cy="2247900"/>
          </a:xfrm>
          <a:prstGeom prst="roundRect">
            <a:avLst>
              <a:gd name="adj" fmla="val 4237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44" name="agent-group-index-3"/>
          <p:cNvSpPr>
            <a:spLocks noGrp="1"/>
          </p:cNvSpPr>
          <p:nvPr/>
        </p:nvSpPr>
        <p:spPr>
          <a:xfrm>
            <a:off x="6438900" y="262890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B64A3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B64A3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45" name="agent-group-title-3"/>
          <p:cNvSpPr>
            <a:spLocks noGrp="1"/>
          </p:cNvSpPr>
          <p:nvPr/>
        </p:nvSpPr>
        <p:spPr>
          <a:xfrm>
            <a:off x="6972300" y="2590800"/>
            <a:ext cx="1676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服务与质量</a:t>
            </a:r>
          </a:p>
        </p:txBody>
      </p:sp>
      <p:sp>
        <p:nvSpPr>
          <p:cNvPr id="46" name="agent-group-role-3-1"/>
          <p:cNvSpPr>
            <a:spLocks noGrp="1"/>
          </p:cNvSpPr>
          <p:nvPr/>
        </p:nvSpPr>
        <p:spPr>
          <a:xfrm>
            <a:off x="6515100" y="3219450"/>
            <a:ext cx="2076450" cy="323850"/>
          </a:xfrm>
          <a:prstGeom prst="roundRect">
            <a:avLst>
              <a:gd name="adj" fmla="val 14706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家庭</a:t>
            </a:r>
            <a:r>
              <a:rPr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r>
              <a:rPr lang="en-US"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</a:p>
        </p:txBody>
      </p:sp>
      <p:sp>
        <p:nvSpPr>
          <p:cNvPr id="47" name="agent-group-role-3-2"/>
          <p:cNvSpPr>
            <a:spLocks noGrp="1"/>
          </p:cNvSpPr>
          <p:nvPr/>
        </p:nvSpPr>
        <p:spPr>
          <a:xfrm>
            <a:off x="6515100" y="3657600"/>
            <a:ext cx="2076450" cy="323850"/>
          </a:xfrm>
          <a:prstGeom prst="roundRect">
            <a:avLst>
              <a:gd name="adj" fmla="val 14706"/>
            </a:avLst>
          </a:prstGeom>
          <a:solidFill>
            <a:srgbClr val="E4F1EB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lang="zh-CN"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</a:t>
            </a:r>
            <a:r>
              <a:rPr lang="en-US" altLang="zh-CN"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</a:p>
        </p:txBody>
      </p:sp>
      <p:sp>
        <p:nvSpPr>
          <p:cNvPr id="48" name="agent-group-role-3-3"/>
          <p:cNvSpPr>
            <a:spLocks noGrp="1"/>
          </p:cNvSpPr>
          <p:nvPr/>
        </p:nvSpPr>
        <p:spPr>
          <a:xfrm>
            <a:off x="6515100" y="4095750"/>
            <a:ext cx="2076450" cy="323850"/>
          </a:xfrm>
          <a:prstGeom prst="roundRect">
            <a:avLst>
              <a:gd name="adj" fmla="val 14706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</a:t>
            </a:r>
            <a:r>
              <a:rPr lang="zh-CN"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监控</a:t>
            </a:r>
            <a:r>
              <a:rPr lang="en-US" altLang="zh-CN" sz="1350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</a:p>
        </p:txBody>
      </p:sp>
      <p:sp>
        <p:nvSpPr>
          <p:cNvPr id="49" name="agent-group-4"/>
          <p:cNvSpPr>
            <a:spLocks noGrp="1"/>
          </p:cNvSpPr>
          <p:nvPr/>
        </p:nvSpPr>
        <p:spPr>
          <a:xfrm>
            <a:off x="9144000" y="2457450"/>
            <a:ext cx="2571750" cy="2247900"/>
          </a:xfrm>
          <a:prstGeom prst="roundRect">
            <a:avLst>
              <a:gd name="adj" fmla="val 4237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50" name="agent-group-index-4"/>
          <p:cNvSpPr>
            <a:spLocks noGrp="1"/>
          </p:cNvSpPr>
          <p:nvPr/>
        </p:nvSpPr>
        <p:spPr>
          <a:xfrm>
            <a:off x="9315450" y="262890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92D4B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92D4B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</a:p>
        </p:txBody>
      </p:sp>
      <p:sp>
        <p:nvSpPr>
          <p:cNvPr id="51" name="agent-group-title-4"/>
          <p:cNvSpPr>
            <a:spLocks noGrp="1"/>
          </p:cNvSpPr>
          <p:nvPr/>
        </p:nvSpPr>
        <p:spPr>
          <a:xfrm>
            <a:off x="9848850" y="2590800"/>
            <a:ext cx="1676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成长与运营</a:t>
            </a:r>
          </a:p>
        </p:txBody>
      </p:sp>
      <p:sp>
        <p:nvSpPr>
          <p:cNvPr id="52" name="agent-group-role-4-1"/>
          <p:cNvSpPr>
            <a:spLocks noGrp="1"/>
          </p:cNvSpPr>
          <p:nvPr/>
        </p:nvSpPr>
        <p:spPr>
          <a:xfrm>
            <a:off x="9391650" y="3219450"/>
            <a:ext cx="2076450" cy="323850"/>
          </a:xfrm>
          <a:prstGeom prst="roundRect">
            <a:avLst>
              <a:gd name="adj" fmla="val 14706"/>
            </a:avLst>
          </a:prstGeom>
          <a:solidFill>
            <a:srgbClr val="2E6A56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课程推荐</a:t>
            </a:r>
            <a:r>
              <a:rPr lang="en-US" alt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</a:p>
        </p:txBody>
      </p:sp>
      <p:sp>
        <p:nvSpPr>
          <p:cNvPr id="53" name="agent-group-role-4-2"/>
          <p:cNvSpPr>
            <a:spLocks noGrp="1"/>
          </p:cNvSpPr>
          <p:nvPr/>
        </p:nvSpPr>
        <p:spPr>
          <a:xfrm>
            <a:off x="9391650" y="3657600"/>
            <a:ext cx="2076450" cy="323850"/>
          </a:xfrm>
          <a:prstGeom prst="roundRect">
            <a:avLst>
              <a:gd name="adj" fmla="val 14706"/>
            </a:avLst>
          </a:prstGeom>
          <a:solidFill>
            <a:srgbClr val="2E6A56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智能排课</a:t>
            </a:r>
            <a:r>
              <a:rPr lang="en-US" alt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</a:p>
        </p:txBody>
      </p:sp>
      <p:sp>
        <p:nvSpPr>
          <p:cNvPr id="54" name="agent-group-role-4-3"/>
          <p:cNvSpPr>
            <a:spLocks noGrp="1"/>
          </p:cNvSpPr>
          <p:nvPr/>
        </p:nvSpPr>
        <p:spPr>
          <a:xfrm>
            <a:off x="9391650" y="4095750"/>
            <a:ext cx="2076450" cy="323850"/>
          </a:xfrm>
          <a:prstGeom prst="roundRect">
            <a:avLst>
              <a:gd name="adj" fmla="val 14706"/>
            </a:avLst>
          </a:prstGeom>
          <a:solidFill>
            <a:srgbClr val="2E6A56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数据分析</a:t>
            </a:r>
            <a:r>
              <a:rPr lang="en-US" alt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</a:p>
        </p:txBody>
      </p:sp>
      <p:sp>
        <p:nvSpPr>
          <p:cNvPr id="55" name="agent-boundary-bg"/>
          <p:cNvSpPr>
            <a:spLocks noGrp="1"/>
          </p:cNvSpPr>
          <p:nvPr/>
        </p:nvSpPr>
        <p:spPr>
          <a:xfrm>
            <a:off x="1143000" y="5257800"/>
            <a:ext cx="9906000" cy="533400"/>
          </a:xfrm>
          <a:prstGeom prst="roundRect">
            <a:avLst>
              <a:gd name="adj" fmla="val 14286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56" name="agent-boundary"/>
          <p:cNvSpPr>
            <a:spLocks noGrp="1"/>
          </p:cNvSpPr>
          <p:nvPr/>
        </p:nvSpPr>
        <p:spPr>
          <a:xfrm>
            <a:off x="1276350" y="5257800"/>
            <a:ext cx="9639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12个概念角色归入4个能力域｜</a:t>
            </a:r>
            <a:r>
              <a:rPr lang="zh-CN" altLang="en-US" sz="16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统一的平台数据底座与用户画像驱动</a:t>
            </a:r>
            <a:r>
              <a:rPr lang="zh-CN" altLang="en-US" sz="165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智能体自进化</a:t>
            </a:r>
            <a:endParaRPr sz="165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folio-box-8"/>
          <p:cNvSpPr>
            <a:spLocks noGrp="1"/>
          </p:cNvSpPr>
          <p:nvPr/>
        </p:nvSpPr>
        <p:spPr>
          <a:xfrm>
            <a:off x="95250" y="6419850"/>
            <a:ext cx="400050" cy="333375"/>
          </a:xfrm>
          <a:prstGeom prst="rect">
            <a:avLst/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58" name="folio-8"/>
          <p:cNvSpPr>
            <a:spLocks noGrp="1"/>
          </p:cNvSpPr>
          <p:nvPr/>
        </p:nvSpPr>
        <p:spPr>
          <a:xfrm>
            <a:off x="114300" y="64198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</a:p>
        </p:txBody>
      </p:sp>
      <p:sp>
        <p:nvSpPr>
          <p:cNvPr id="59" name="folio-caption-8"/>
          <p:cNvSpPr>
            <a:spLocks noGrp="1"/>
          </p:cNvSpPr>
          <p:nvPr/>
        </p:nvSpPr>
        <p:spPr>
          <a:xfrm>
            <a:off x="552450" y="64770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AGENTS CONCEPT ROLES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-title"/>
          <p:cNvSpPr>
            <a:spLocks noGrp="1"/>
          </p:cNvSpPr>
          <p:nvPr/>
        </p:nvSpPr>
        <p:spPr>
          <a:xfrm>
            <a:off x="335280" y="260985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 fontScale="97289"/>
          </a:bodyPr>
          <a:lstStyle/>
          <a:p>
            <a:pPr algn="l">
              <a:lnSpc>
                <a:spcPct val="108000"/>
              </a:lnSpc>
              <a:buNone/>
              <a:def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我们已经完成可交互原型</a:t>
            </a: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551180" y="836930"/>
            <a:ext cx="1085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聚焦产品验证，</a:t>
            </a:r>
            <a:r>
              <a:rPr lang="zh-CN"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正向</a:t>
            </a:r>
            <a:r>
              <a: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真实用户、营收或效果数据</a:t>
            </a:r>
            <a:r>
              <a:rPr lang="zh-CN"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进发</a:t>
            </a:r>
          </a:p>
        </p:txBody>
      </p:sp>
      <p:sp>
        <p:nvSpPr>
          <p:cNvPr id="4" name="proof-stage-field"/>
          <p:cNvSpPr>
            <a:spLocks noGrp="1"/>
          </p:cNvSpPr>
          <p:nvPr/>
        </p:nvSpPr>
        <p:spPr>
          <a:xfrm>
            <a:off x="476250" y="1367155"/>
            <a:ext cx="3257550" cy="4498340"/>
          </a:xfrm>
          <a:prstGeom prst="roundRect">
            <a:avLst>
              <a:gd name="adj" fmla="val 2924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5" name="prototype-kicker"/>
          <p:cNvSpPr>
            <a:spLocks noGrp="1"/>
          </p:cNvSpPr>
          <p:nvPr/>
        </p:nvSpPr>
        <p:spPr>
          <a:xfrm>
            <a:off x="723900" y="162941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当前阶段</a:t>
            </a:r>
          </a:p>
        </p:txBody>
      </p:sp>
      <p:sp>
        <p:nvSpPr>
          <p:cNvPr id="6" name="prototype-stage"/>
          <p:cNvSpPr>
            <a:spLocks noGrp="1"/>
          </p:cNvSpPr>
          <p:nvPr/>
        </p:nvSpPr>
        <p:spPr>
          <a:xfrm>
            <a:off x="685800" y="2132965"/>
            <a:ext cx="2838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3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可交互</a:t>
            </a:r>
            <a:r>
              <a:rPr sz="36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</a:t>
            </a:r>
            <a:endParaRPr sz="3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rimary-proof-value-1"/>
          <p:cNvSpPr>
            <a:spLocks noGrp="1"/>
          </p:cNvSpPr>
          <p:nvPr/>
        </p:nvSpPr>
        <p:spPr>
          <a:xfrm>
            <a:off x="723900" y="3331845"/>
            <a:ext cx="95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14份</a:t>
            </a:r>
          </a:p>
        </p:txBody>
      </p:sp>
      <p:sp>
        <p:nvSpPr>
          <p:cNvPr id="8" name="primary-proof-label-1"/>
          <p:cNvSpPr>
            <a:spLocks noGrp="1"/>
          </p:cNvSpPr>
          <p:nvPr/>
        </p:nvSpPr>
        <p:spPr>
          <a:xfrm>
            <a:off x="1695450" y="3350895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调研</a:t>
            </a:r>
            <a:r>
              <a:rPr sz="1275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</a:t>
            </a:r>
            <a:r>
              <a:rPr lang="zh-CN" altLang="en-US" sz="12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档</a:t>
            </a:r>
            <a:endParaRPr sz="127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rimary-proof-value-2"/>
          <p:cNvSpPr>
            <a:spLocks noGrp="1"/>
          </p:cNvSpPr>
          <p:nvPr/>
        </p:nvSpPr>
        <p:spPr>
          <a:xfrm>
            <a:off x="723900" y="4055745"/>
            <a:ext cx="95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 dirty="0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5个</a:t>
            </a:r>
          </a:p>
        </p:txBody>
      </p:sp>
      <p:sp>
        <p:nvSpPr>
          <p:cNvPr id="10" name="primary-proof-label-2"/>
          <p:cNvSpPr>
            <a:spLocks noGrp="1"/>
          </p:cNvSpPr>
          <p:nvPr/>
        </p:nvSpPr>
        <p:spPr>
          <a:xfrm>
            <a:off x="1695450" y="4074795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完整交互终端</a:t>
            </a:r>
            <a:endParaRPr sz="127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rimary-proof-value-3"/>
          <p:cNvSpPr>
            <a:spLocks noGrp="1"/>
          </p:cNvSpPr>
          <p:nvPr/>
        </p:nvSpPr>
        <p:spPr>
          <a:xfrm>
            <a:off x="723900" y="4779645"/>
            <a:ext cx="95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625" b="1" dirty="0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2625" b="1" dirty="0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</a:t>
            </a:r>
          </a:p>
        </p:txBody>
      </p:sp>
      <p:sp>
        <p:nvSpPr>
          <p:cNvPr id="12" name="primary-proof-label-3"/>
          <p:cNvSpPr>
            <a:spLocks noGrp="1"/>
          </p:cNvSpPr>
          <p:nvPr/>
        </p:nvSpPr>
        <p:spPr>
          <a:xfrm>
            <a:off x="1691005" y="4798695"/>
            <a:ext cx="214376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学员 · 培训 · 用人 · 家庭</a:t>
            </a:r>
          </a:p>
        </p:txBody>
      </p:sp>
      <p:sp>
        <p:nvSpPr>
          <p:cNvPr id="15" name="secondary-proof-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057650" y="4893945"/>
            <a:ext cx="2381250" cy="971550"/>
          </a:xfrm>
          <a:prstGeom prst="roundRect">
            <a:avLst>
              <a:gd name="adj" fmla="val 7843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16" name="secondary-proof-value-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191000" y="4989195"/>
            <a:ext cx="781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12个</a:t>
            </a:r>
          </a:p>
        </p:txBody>
      </p:sp>
      <p:sp>
        <p:nvSpPr>
          <p:cNvPr id="17" name="secondary-proof-label-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15865" y="5027295"/>
            <a:ext cx="1295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智能体概念角色</a:t>
            </a:r>
          </a:p>
        </p:txBody>
      </p:sp>
      <p:sp>
        <p:nvSpPr>
          <p:cNvPr id="18" name="secondary-proof-detail-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10050" y="5408295"/>
            <a:ext cx="2076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职责与协作方案</a:t>
            </a:r>
          </a:p>
        </p:txBody>
      </p:sp>
      <p:sp>
        <p:nvSpPr>
          <p:cNvPr id="19" name="secondary-proof-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629400" y="4893945"/>
            <a:ext cx="2381250" cy="971550"/>
          </a:xfrm>
          <a:prstGeom prst="roundRect">
            <a:avLst>
              <a:gd name="adj" fmla="val 7843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20" name="secondary-proof-value-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762750" y="4989195"/>
            <a:ext cx="781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100" b="1" dirty="0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100" b="1" dirty="0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</a:t>
            </a:r>
            <a:endParaRPr sz="2100" b="1" dirty="0">
              <a:solidFill>
                <a:srgbClr val="0D3A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econdary-proof-label-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593330" y="5010785"/>
            <a:ext cx="1295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 dirty="0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完整交互演示</a:t>
            </a:r>
            <a:endParaRPr sz="1350" b="1" dirty="0">
              <a:solidFill>
                <a:srgbClr val="1017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econdary-proof-detail-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781800" y="5408295"/>
            <a:ext cx="2076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 dirty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会说话</a:t>
            </a:r>
            <a:r>
              <a:rPr lang="zh-CN" altLang="en-US" sz="1400" b="0" dirty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的产品逻辑</a:t>
            </a:r>
            <a:endParaRPr sz="1400" b="0" dirty="0">
              <a:solidFill>
                <a:srgbClr val="263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econdary-proof-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201150" y="4893945"/>
            <a:ext cx="2381250" cy="971550"/>
          </a:xfrm>
          <a:prstGeom prst="roundRect">
            <a:avLst>
              <a:gd name="adj" fmla="val 7843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24" name="secondary-proof-value-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480550" y="4972685"/>
            <a:ext cx="781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</a:p>
        </p:txBody>
      </p:sp>
      <p:sp>
        <p:nvSpPr>
          <p:cNvPr id="25" name="secondary-proof-label-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0229850" y="5027295"/>
            <a:ext cx="1295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工程验证</a:t>
            </a:r>
          </a:p>
        </p:txBody>
      </p:sp>
      <p:sp>
        <p:nvSpPr>
          <p:cNvPr id="26" name="secondary-proof-detail-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353550" y="5408295"/>
            <a:ext cx="2076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/>
          <a:lstStyle/>
          <a:p>
            <a:pPr algn="ctr">
              <a:lnSpc>
                <a:spcPct val="108000"/>
              </a:lnSpc>
              <a:buNone/>
              <a:def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 b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静待后端数据驱动</a:t>
            </a:r>
            <a:endParaRPr sz="1400" b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folio-box-9"/>
          <p:cNvSpPr>
            <a:spLocks noGrp="1"/>
          </p:cNvSpPr>
          <p:nvPr/>
        </p:nvSpPr>
        <p:spPr>
          <a:xfrm>
            <a:off x="95250" y="6419850"/>
            <a:ext cx="400050" cy="333375"/>
          </a:xfrm>
          <a:prstGeom prst="rect">
            <a:avLst/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29" name="folio-9"/>
          <p:cNvSpPr>
            <a:spLocks noGrp="1"/>
          </p:cNvSpPr>
          <p:nvPr/>
        </p:nvSpPr>
        <p:spPr>
          <a:xfrm>
            <a:off x="114300" y="64198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</a:p>
        </p:txBody>
      </p:sp>
      <p:sp>
        <p:nvSpPr>
          <p:cNvPr id="30" name="folio-caption-9"/>
          <p:cNvSpPr>
            <a:spLocks noGrp="1"/>
          </p:cNvSpPr>
          <p:nvPr/>
        </p:nvSpPr>
        <p:spPr>
          <a:xfrm>
            <a:off x="552450" y="64770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PROTOTYPE EVIDENCE &amp; STATUS</a:t>
            </a: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95775" y="1395730"/>
            <a:ext cx="6792595" cy="33985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31750"/>
          </a:effectLst>
        </p:spPr>
      </p:pic>
      <p:sp>
        <p:nvSpPr>
          <p:cNvPr id="14" name="proof-ui-boundary"/>
          <p:cNvSpPr>
            <a:spLocks noGrp="1"/>
          </p:cNvSpPr>
          <p:nvPr/>
        </p:nvSpPr>
        <p:spPr>
          <a:xfrm>
            <a:off x="7824470" y="4293235"/>
            <a:ext cx="3181350" cy="266700"/>
          </a:xfrm>
          <a:prstGeom prst="roundRect">
            <a:avLst>
              <a:gd name="adj" fmla="val 17857"/>
            </a:avLst>
          </a:prstGeom>
          <a:solidFill>
            <a:srgbClr val="F4E3DC"/>
          </a:solidFill>
          <a:ln w="9525">
            <a:solidFill>
              <a:srgbClr val="B64A3D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1" dirty="0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交互原型</a:t>
            </a:r>
            <a:r>
              <a:rPr sz="1200" b="1" dirty="0" err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截图｜界面数字为模拟演示</a:t>
            </a:r>
            <a:endParaRPr sz="1200" b="1" dirty="0">
              <a:solidFill>
                <a:srgbClr val="B64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highlights-paper-backgroun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ighlights-section"/>
          <p:cNvSpPr>
            <a:spLocks noGrp="1"/>
          </p:cNvSpPr>
          <p:nvPr/>
        </p:nvSpPr>
        <p:spPr>
          <a:xfrm>
            <a:off x="514350" y="2286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项目亮点  ·  协同能力</a:t>
            </a:r>
          </a:p>
        </p:txBody>
      </p:sp>
      <p:sp>
        <p:nvSpPr>
          <p:cNvPr id="3" name="highlights-title"/>
          <p:cNvSpPr>
            <a:spLocks noGrp="1"/>
          </p:cNvSpPr>
          <p:nvPr/>
        </p:nvSpPr>
        <p:spPr>
          <a:xfrm>
            <a:off x="514350" y="51435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四种协同能力，把人才成长接到照护服务</a:t>
            </a:r>
          </a:p>
        </p:txBody>
      </p:sp>
      <p:sp>
        <p:nvSpPr>
          <p:cNvPr id="4" name="highlights-subtitle"/>
          <p:cNvSpPr>
            <a:spLocks noGrp="1"/>
          </p:cNvSpPr>
          <p:nvPr/>
        </p:nvSpPr>
        <p:spPr>
          <a:xfrm>
            <a:off x="533400" y="990600"/>
            <a:ext cx="809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师资底座  ·  四端协同  ·  AI 流程  ·  全链路反馈</a:t>
            </a:r>
          </a:p>
        </p:txBody>
      </p:sp>
      <p:sp>
        <p:nvSpPr>
          <p:cNvPr id="7" name="highlights-core-shadow"/>
          <p:cNvSpPr>
            <a:spLocks noGrp="1"/>
          </p:cNvSpPr>
          <p:nvPr/>
        </p:nvSpPr>
        <p:spPr>
          <a:xfrm>
            <a:off x="4362450" y="1828800"/>
            <a:ext cx="3676650" cy="2724150"/>
          </a:xfrm>
          <a:prstGeom prst="roundRect">
            <a:avLst>
              <a:gd name="adj" fmla="val 2797"/>
            </a:avLst>
          </a:prstGeom>
          <a:solidFill>
            <a:srgbClr val="0D3A2D"/>
          </a:solidFill>
          <a:ln w="142875">
            <a:solidFill>
              <a:srgbClr val="0D3A2D"/>
            </a:solidFill>
            <a:prstDash val="solid"/>
          </a:ln>
          <a:effectLst>
            <a:softEdge rad="127000"/>
          </a:effectLst>
        </p:spPr>
      </p:sp>
      <p:sp>
        <p:nvSpPr>
          <p:cNvPr id="8" name="highlights-core"/>
          <p:cNvSpPr>
            <a:spLocks noGrp="1"/>
          </p:cNvSpPr>
          <p:nvPr/>
        </p:nvSpPr>
        <p:spPr>
          <a:xfrm>
            <a:off x="4267200" y="1733550"/>
            <a:ext cx="3676650" cy="2724150"/>
          </a:xfrm>
          <a:prstGeom prst="roundRect">
            <a:avLst>
              <a:gd name="adj" fmla="val 2797"/>
            </a:avLst>
          </a:prstGeom>
          <a:solidFill>
            <a:srgbClr val="174A3A"/>
          </a:solidFill>
          <a:ln w="142875">
            <a:solidFill>
              <a:srgbClr val="174A3A"/>
            </a:solidFill>
            <a:prstDash val="solid"/>
          </a:ln>
        </p:spPr>
      </p:sp>
      <p:sp>
        <p:nvSpPr>
          <p:cNvPr id="9" name="highlights-core-chip-bg"/>
          <p:cNvSpPr>
            <a:spLocks noGrp="1"/>
          </p:cNvSpPr>
          <p:nvPr/>
        </p:nvSpPr>
        <p:spPr>
          <a:xfrm>
            <a:off x="5086350" y="1943100"/>
            <a:ext cx="2038350" cy="304800"/>
          </a:xfrm>
          <a:prstGeom prst="roundRect">
            <a:avLst>
              <a:gd name="adj" fmla="val 25000"/>
            </a:avLst>
          </a:prstGeom>
          <a:solidFill>
            <a:srgbClr val="92D4BC"/>
          </a:solidFill>
          <a:ln w="66675">
            <a:solidFill>
              <a:srgbClr val="92D4BC"/>
            </a:solidFill>
            <a:prstDash val="solid"/>
          </a:ln>
        </p:spPr>
      </p:sp>
      <p:sp>
        <p:nvSpPr>
          <p:cNvPr id="10" name="highlights-core-chip"/>
          <p:cNvSpPr>
            <a:spLocks noGrp="1"/>
          </p:cNvSpPr>
          <p:nvPr/>
        </p:nvSpPr>
        <p:spPr>
          <a:xfrm>
            <a:off x="5124450" y="194310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协同核心</a:t>
            </a:r>
          </a:p>
        </p:txBody>
      </p:sp>
      <p:sp>
        <p:nvSpPr>
          <p:cNvPr id="11" name="highlights-core-title"/>
          <p:cNvSpPr>
            <a:spLocks noGrp="1"/>
          </p:cNvSpPr>
          <p:nvPr/>
        </p:nvSpPr>
        <p:spPr>
          <a:xfrm>
            <a:off x="4610100" y="2400300"/>
            <a:ext cx="2990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人才成长 × 照护服务</a:t>
            </a:r>
          </a:p>
        </p:txBody>
      </p:sp>
      <p:sp>
        <p:nvSpPr>
          <p:cNvPr id="12" name="highlights-core-copy"/>
          <p:cNvSpPr>
            <a:spLocks noGrp="1"/>
          </p:cNvSpPr>
          <p:nvPr/>
        </p:nvSpPr>
        <p:spPr>
          <a:xfrm>
            <a:off x="4572000" y="3019425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C7EB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7EB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学习—就业—服务，同链协同</a:t>
            </a:r>
          </a:p>
        </p:txBody>
      </p:sp>
      <p:sp>
        <p:nvSpPr>
          <p:cNvPr id="13" name="highlights-core-input-bg"/>
          <p:cNvSpPr>
            <a:spLocks noGrp="1"/>
          </p:cNvSpPr>
          <p:nvPr/>
        </p:nvSpPr>
        <p:spPr>
          <a:xfrm>
            <a:off x="4667250" y="3676650"/>
            <a:ext cx="914400" cy="285750"/>
          </a:xfrm>
          <a:prstGeom prst="roundRect">
            <a:avLst>
              <a:gd name="adj" fmla="val 26667"/>
            </a:avLst>
          </a:prstGeom>
          <a:solidFill>
            <a:srgbClr val="2E6A56"/>
          </a:solidFill>
          <a:ln w="66675">
            <a:solidFill>
              <a:srgbClr val="2E6A56"/>
            </a:solidFill>
            <a:prstDash val="solid"/>
          </a:ln>
        </p:spPr>
      </p:sp>
      <p:sp>
        <p:nvSpPr>
          <p:cNvPr id="14" name="highlights-core-input"/>
          <p:cNvSpPr>
            <a:spLocks noGrp="1"/>
          </p:cNvSpPr>
          <p:nvPr/>
        </p:nvSpPr>
        <p:spPr>
          <a:xfrm>
            <a:off x="4705350" y="3676650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输入：需求</a:t>
            </a:r>
          </a:p>
        </p:txBody>
      </p:sp>
      <p:sp>
        <p:nvSpPr>
          <p:cNvPr id="15" name="highlights-core-action-bg"/>
          <p:cNvSpPr>
            <a:spLocks noGrp="1"/>
          </p:cNvSpPr>
          <p:nvPr/>
        </p:nvSpPr>
        <p:spPr>
          <a:xfrm>
            <a:off x="5638800" y="3676650"/>
            <a:ext cx="914400" cy="285750"/>
          </a:xfrm>
          <a:prstGeom prst="roundRect">
            <a:avLst>
              <a:gd name="adj" fmla="val 26667"/>
            </a:avLst>
          </a:prstGeom>
          <a:solidFill>
            <a:srgbClr val="2E6A56"/>
          </a:solidFill>
          <a:ln w="66675">
            <a:solidFill>
              <a:srgbClr val="2E6A56"/>
            </a:solidFill>
            <a:prstDash val="solid"/>
          </a:ln>
        </p:spPr>
      </p:sp>
      <p:sp>
        <p:nvSpPr>
          <p:cNvPr id="16" name="highlights-core-action"/>
          <p:cNvSpPr>
            <a:spLocks noGrp="1"/>
          </p:cNvSpPr>
          <p:nvPr/>
        </p:nvSpPr>
        <p:spPr>
          <a:xfrm>
            <a:off x="5676900" y="3676650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机制：协同</a:t>
            </a:r>
          </a:p>
        </p:txBody>
      </p:sp>
      <p:sp>
        <p:nvSpPr>
          <p:cNvPr id="17" name="highlights-core-output-bg"/>
          <p:cNvSpPr>
            <a:spLocks noGrp="1"/>
          </p:cNvSpPr>
          <p:nvPr/>
        </p:nvSpPr>
        <p:spPr>
          <a:xfrm>
            <a:off x="6610350" y="3676650"/>
            <a:ext cx="914400" cy="285750"/>
          </a:xfrm>
          <a:prstGeom prst="roundRect">
            <a:avLst>
              <a:gd name="adj" fmla="val 26667"/>
            </a:avLst>
          </a:prstGeom>
          <a:solidFill>
            <a:srgbClr val="2E6A56"/>
          </a:solidFill>
          <a:ln w="66675">
            <a:solidFill>
              <a:srgbClr val="2E6A56"/>
            </a:solidFill>
            <a:prstDash val="solid"/>
          </a:ln>
        </p:spPr>
      </p:sp>
      <p:sp>
        <p:nvSpPr>
          <p:cNvPr id="18" name="highlights-core-output"/>
          <p:cNvSpPr>
            <a:spLocks noGrp="1"/>
          </p:cNvSpPr>
          <p:nvPr/>
        </p:nvSpPr>
        <p:spPr>
          <a:xfrm>
            <a:off x="6648450" y="3676650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输出：留痕</a:t>
            </a:r>
          </a:p>
        </p:txBody>
      </p:sp>
      <p:sp>
        <p:nvSpPr>
          <p:cNvPr id="20" name="cap-1-card"/>
          <p:cNvSpPr>
            <a:spLocks noGrp="1"/>
          </p:cNvSpPr>
          <p:nvPr/>
        </p:nvSpPr>
        <p:spPr>
          <a:xfrm>
            <a:off x="514350" y="1600200"/>
            <a:ext cx="3333750" cy="1581150"/>
          </a:xfrm>
          <a:prstGeom prst="roundRect">
            <a:avLst>
              <a:gd name="adj" fmla="val 4819"/>
            </a:avLst>
          </a:prstGeom>
          <a:solidFill>
            <a:srgbClr val="FFFDF8"/>
          </a:solidFill>
          <a:ln w="104775">
            <a:solidFill>
              <a:srgbClr val="D4CDBE"/>
            </a:solidFill>
            <a:prstDash val="solid"/>
          </a:ln>
        </p:spPr>
      </p:sp>
      <p:sp>
        <p:nvSpPr>
          <p:cNvPr id="21" name="cap-1-accent"/>
          <p:cNvSpPr>
            <a:spLocks noGrp="1"/>
          </p:cNvSpPr>
          <p:nvPr/>
        </p:nvSpPr>
        <p:spPr>
          <a:xfrm>
            <a:off x="514350" y="1600200"/>
            <a:ext cx="76200" cy="1581150"/>
          </a:xfrm>
          <a:prstGeom prst="rect">
            <a:avLst/>
          </a:prstGeom>
          <a:solidFill>
            <a:srgbClr val="C5A36A"/>
          </a:solidFill>
          <a:ln w="0">
            <a:solidFill>
              <a:srgbClr val="C5A36A"/>
            </a:solidFill>
            <a:prstDash val="solid"/>
          </a:ln>
        </p:spPr>
      </p:sp>
      <p:sp>
        <p:nvSpPr>
          <p:cNvPr id="22" name="cap-1-number"/>
          <p:cNvSpPr>
            <a:spLocks noGrp="1"/>
          </p:cNvSpPr>
          <p:nvPr/>
        </p:nvSpPr>
        <p:spPr>
          <a:xfrm>
            <a:off x="723900" y="1790700"/>
            <a:ext cx="400050" cy="400050"/>
          </a:xfrm>
          <a:prstGeom prst="ellipse">
            <a:avLst/>
          </a:prstGeom>
          <a:solidFill>
            <a:srgbClr val="C5A36A"/>
          </a:solidFill>
          <a:ln w="0">
            <a:solidFill>
              <a:srgbClr val="C5A36A"/>
            </a:solidFill>
            <a:prstDash val="solid"/>
          </a:ln>
        </p:spPr>
      </p:sp>
      <p:sp>
        <p:nvSpPr>
          <p:cNvPr id="23" name="cap-1-number-text"/>
          <p:cNvSpPr>
            <a:spLocks noGrp="1"/>
          </p:cNvSpPr>
          <p:nvPr/>
        </p:nvSpPr>
        <p:spPr>
          <a:xfrm>
            <a:off x="723900" y="17907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24" name="cap-1-kicker"/>
          <p:cNvSpPr>
            <a:spLocks noGrp="1"/>
          </p:cNvSpPr>
          <p:nvPr/>
        </p:nvSpPr>
        <p:spPr>
          <a:xfrm>
            <a:off x="1295400" y="17716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华中科技大学 · 同济医学院</a:t>
            </a:r>
            <a:r>
              <a:rPr lang="zh-CN" sz="10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师资</a:t>
            </a:r>
            <a:r>
              <a:rPr sz="10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</a:p>
        </p:txBody>
      </p:sp>
      <p:sp>
        <p:nvSpPr>
          <p:cNvPr id="25" name="cap-1-title"/>
          <p:cNvSpPr>
            <a:spLocks noGrp="1"/>
          </p:cNvSpPr>
          <p:nvPr/>
        </p:nvSpPr>
        <p:spPr>
          <a:xfrm>
            <a:off x="1295400" y="1971675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护理学院学科资源</a:t>
            </a:r>
          </a:p>
        </p:txBody>
      </p:sp>
      <p:sp>
        <p:nvSpPr>
          <p:cNvPr id="26" name="cap-1-body"/>
          <p:cNvSpPr>
            <a:spLocks noGrp="1"/>
          </p:cNvSpPr>
          <p:nvPr/>
        </p:nvSpPr>
        <p:spPr>
          <a:xfrm>
            <a:off x="742950" y="240030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优质师资资源</a:t>
            </a:r>
            <a:endParaRPr sz="1275" b="1">
              <a:solidFill>
                <a:srgbClr val="263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支撑课程与实训</a:t>
            </a:r>
          </a:p>
        </p:txBody>
      </p:sp>
      <p:sp>
        <p:nvSpPr>
          <p:cNvPr id="27" name="cap-1-foot"/>
          <p:cNvSpPr>
            <a:spLocks noGrp="1"/>
          </p:cNvSpPr>
          <p:nvPr/>
        </p:nvSpPr>
        <p:spPr>
          <a:xfrm>
            <a:off x="742950" y="29051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15" b="0">
                <a:solidFill>
                  <a:srgbClr val="6672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15" dirty="0">
                <a:solidFill>
                  <a:srgbClr val="6672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已达成初步</a:t>
            </a:r>
            <a:r>
              <a:rPr sz="1015" b="0" dirty="0" err="1">
                <a:solidFill>
                  <a:srgbClr val="6672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</a:t>
            </a:r>
            <a:r>
              <a:rPr lang="zh-CN" altLang="en-US" sz="1015" b="0" dirty="0">
                <a:solidFill>
                  <a:srgbClr val="6672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意向</a:t>
            </a:r>
            <a:endParaRPr sz="1015" b="0" dirty="0">
              <a:solidFill>
                <a:srgbClr val="6672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cap-2-card"/>
          <p:cNvSpPr>
            <a:spLocks noGrp="1"/>
          </p:cNvSpPr>
          <p:nvPr/>
        </p:nvSpPr>
        <p:spPr>
          <a:xfrm>
            <a:off x="8343900" y="1600200"/>
            <a:ext cx="3333750" cy="1581150"/>
          </a:xfrm>
          <a:prstGeom prst="roundRect">
            <a:avLst>
              <a:gd name="adj" fmla="val 4819"/>
            </a:avLst>
          </a:prstGeom>
          <a:solidFill>
            <a:srgbClr val="FFFDF8"/>
          </a:solidFill>
          <a:ln w="104775">
            <a:solidFill>
              <a:srgbClr val="D4CDBE"/>
            </a:solidFill>
            <a:prstDash val="solid"/>
          </a:ln>
        </p:spPr>
      </p:sp>
      <p:sp>
        <p:nvSpPr>
          <p:cNvPr id="29" name="cap-2-accent"/>
          <p:cNvSpPr>
            <a:spLocks noGrp="1"/>
          </p:cNvSpPr>
          <p:nvPr/>
        </p:nvSpPr>
        <p:spPr>
          <a:xfrm>
            <a:off x="8343900" y="1600200"/>
            <a:ext cx="76200" cy="1581150"/>
          </a:xfrm>
          <a:prstGeom prst="rect">
            <a:avLst/>
          </a:prstGeom>
          <a:solidFill>
            <a:srgbClr val="92D4BC"/>
          </a:solidFill>
          <a:ln w="0">
            <a:solidFill>
              <a:srgbClr val="92D4BC"/>
            </a:solidFill>
            <a:prstDash val="solid"/>
          </a:ln>
        </p:spPr>
      </p:sp>
      <p:sp>
        <p:nvSpPr>
          <p:cNvPr id="30" name="cap-2-number"/>
          <p:cNvSpPr>
            <a:spLocks noGrp="1"/>
          </p:cNvSpPr>
          <p:nvPr/>
        </p:nvSpPr>
        <p:spPr>
          <a:xfrm>
            <a:off x="8553450" y="1790700"/>
            <a:ext cx="400050" cy="400050"/>
          </a:xfrm>
          <a:prstGeom prst="ellipse">
            <a:avLst/>
          </a:prstGeom>
          <a:solidFill>
            <a:srgbClr val="92D4BC"/>
          </a:solidFill>
          <a:ln w="0">
            <a:solidFill>
              <a:srgbClr val="92D4BC"/>
            </a:solidFill>
            <a:prstDash val="solid"/>
          </a:ln>
        </p:spPr>
      </p:sp>
      <p:sp>
        <p:nvSpPr>
          <p:cNvPr id="31" name="cap-2-number-text"/>
          <p:cNvSpPr>
            <a:spLocks noGrp="1"/>
          </p:cNvSpPr>
          <p:nvPr/>
        </p:nvSpPr>
        <p:spPr>
          <a:xfrm>
            <a:off x="8553450" y="17907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32" name="cap-2-kicker"/>
          <p:cNvSpPr>
            <a:spLocks noGrp="1"/>
          </p:cNvSpPr>
          <p:nvPr/>
        </p:nvSpPr>
        <p:spPr>
          <a:xfrm>
            <a:off x="9124950" y="17716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角色共用一条信息链</a:t>
            </a:r>
          </a:p>
        </p:txBody>
      </p:sp>
      <p:sp>
        <p:nvSpPr>
          <p:cNvPr id="33" name="cap-2-title"/>
          <p:cNvSpPr>
            <a:spLocks noGrp="1"/>
          </p:cNvSpPr>
          <p:nvPr/>
        </p:nvSpPr>
        <p:spPr>
          <a:xfrm>
            <a:off x="9124950" y="1971675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四端协同</a:t>
            </a:r>
          </a:p>
        </p:txBody>
      </p:sp>
      <p:sp>
        <p:nvSpPr>
          <p:cNvPr id="34" name="cap-2-body"/>
          <p:cNvSpPr>
            <a:spLocks noGrp="1"/>
          </p:cNvSpPr>
          <p:nvPr/>
        </p:nvSpPr>
        <p:spPr>
          <a:xfrm>
            <a:off x="8572500" y="240030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学员 · 培训机构</a:t>
            </a:r>
          </a:p>
          <a:p>
            <a:pPr algn="l">
              <a:lnSpc>
                <a:spcPct val="105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用人机构 · 家庭</a:t>
            </a:r>
          </a:p>
        </p:txBody>
      </p:sp>
      <p:sp>
        <p:nvSpPr>
          <p:cNvPr id="35" name="cap-2-foot"/>
          <p:cNvSpPr>
            <a:spLocks noGrp="1"/>
          </p:cNvSpPr>
          <p:nvPr/>
        </p:nvSpPr>
        <p:spPr>
          <a:xfrm>
            <a:off x="8572500" y="29051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15" b="0">
                <a:solidFill>
                  <a:srgbClr val="6672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672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同平台，角色各取所需</a:t>
            </a:r>
          </a:p>
        </p:txBody>
      </p:sp>
      <p:sp>
        <p:nvSpPr>
          <p:cNvPr id="36" name="cap-3-card"/>
          <p:cNvSpPr>
            <a:spLocks noGrp="1"/>
          </p:cNvSpPr>
          <p:nvPr/>
        </p:nvSpPr>
        <p:spPr>
          <a:xfrm>
            <a:off x="514350" y="3676650"/>
            <a:ext cx="3333750" cy="1581150"/>
          </a:xfrm>
          <a:prstGeom prst="roundRect">
            <a:avLst>
              <a:gd name="adj" fmla="val 4819"/>
            </a:avLst>
          </a:prstGeom>
          <a:solidFill>
            <a:srgbClr val="FFFDF8"/>
          </a:solidFill>
          <a:ln w="104775">
            <a:solidFill>
              <a:srgbClr val="D4CDBE"/>
            </a:solidFill>
            <a:prstDash val="solid"/>
          </a:ln>
        </p:spPr>
      </p:sp>
      <p:sp>
        <p:nvSpPr>
          <p:cNvPr id="37" name="cap-3-accent"/>
          <p:cNvSpPr>
            <a:spLocks noGrp="1"/>
          </p:cNvSpPr>
          <p:nvPr/>
        </p:nvSpPr>
        <p:spPr>
          <a:xfrm>
            <a:off x="514350" y="3676650"/>
            <a:ext cx="76200" cy="1581150"/>
          </a:xfrm>
          <a:prstGeom prst="rect">
            <a:avLst/>
          </a:prstGeom>
          <a:solidFill>
            <a:srgbClr val="C46D59"/>
          </a:solidFill>
          <a:ln w="0">
            <a:solidFill>
              <a:srgbClr val="C46D59"/>
            </a:solidFill>
            <a:prstDash val="solid"/>
          </a:ln>
        </p:spPr>
      </p:sp>
      <p:sp>
        <p:nvSpPr>
          <p:cNvPr id="38" name="cap-3-number"/>
          <p:cNvSpPr>
            <a:spLocks noGrp="1"/>
          </p:cNvSpPr>
          <p:nvPr/>
        </p:nvSpPr>
        <p:spPr>
          <a:xfrm>
            <a:off x="723900" y="3867150"/>
            <a:ext cx="400050" cy="400050"/>
          </a:xfrm>
          <a:prstGeom prst="ellipse">
            <a:avLst/>
          </a:prstGeom>
          <a:solidFill>
            <a:srgbClr val="C46D59"/>
          </a:solidFill>
          <a:ln w="0">
            <a:solidFill>
              <a:srgbClr val="C46D59"/>
            </a:solidFill>
            <a:prstDash val="solid"/>
          </a:ln>
        </p:spPr>
      </p:sp>
      <p:sp>
        <p:nvSpPr>
          <p:cNvPr id="39" name="cap-3-number-text"/>
          <p:cNvSpPr>
            <a:spLocks noGrp="1"/>
          </p:cNvSpPr>
          <p:nvPr/>
        </p:nvSpPr>
        <p:spPr>
          <a:xfrm>
            <a:off x="723900" y="3867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40" name="cap-3-kicker"/>
          <p:cNvSpPr>
            <a:spLocks noGrp="1"/>
          </p:cNvSpPr>
          <p:nvPr/>
        </p:nvSpPr>
        <p:spPr>
          <a:xfrm>
            <a:off x="1295400" y="38481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dirty="0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 sz="1050" b="1" dirty="0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矩阵全链路赋能</a:t>
            </a:r>
            <a:endParaRPr sz="1050" b="1" dirty="0">
              <a:solidFill>
                <a:srgbClr val="2E6A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cap-3-title"/>
          <p:cNvSpPr>
            <a:spLocks noGrp="1"/>
          </p:cNvSpPr>
          <p:nvPr/>
        </p:nvSpPr>
        <p:spPr>
          <a:xfrm>
            <a:off x="1295400" y="4048125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驱动全流程</a:t>
            </a:r>
          </a:p>
        </p:txBody>
      </p:sp>
      <p:sp>
        <p:nvSpPr>
          <p:cNvPr id="42" name="cap-3-body"/>
          <p:cNvSpPr>
            <a:spLocks noGrp="1"/>
          </p:cNvSpPr>
          <p:nvPr/>
        </p:nvSpPr>
        <p:spPr>
          <a:xfrm>
            <a:off x="742950" y="447675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招生 → 学习 → 就业 → 照护</a:t>
            </a:r>
          </a:p>
        </p:txBody>
      </p:sp>
      <p:sp>
        <p:nvSpPr>
          <p:cNvPr id="43" name="cap-3-foot"/>
          <p:cNvSpPr>
            <a:spLocks noGrp="1"/>
          </p:cNvSpPr>
          <p:nvPr/>
        </p:nvSpPr>
        <p:spPr>
          <a:xfrm>
            <a:off x="742950" y="498157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15" b="0">
                <a:solidFill>
                  <a:srgbClr val="6672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 dirty="0">
                <a:solidFill>
                  <a:srgbClr val="6672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</a:t>
            </a:r>
            <a:r>
              <a:rPr sz="1015" b="0" dirty="0" err="1">
                <a:solidFill>
                  <a:srgbClr val="6672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1015" b="0" dirty="0">
                <a:solidFill>
                  <a:srgbClr val="6672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自进化智能体</a:t>
            </a:r>
            <a:endParaRPr sz="1015" b="0" dirty="0">
              <a:solidFill>
                <a:srgbClr val="6672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cap-4-card"/>
          <p:cNvSpPr>
            <a:spLocks noGrp="1"/>
          </p:cNvSpPr>
          <p:nvPr/>
        </p:nvSpPr>
        <p:spPr>
          <a:xfrm>
            <a:off x="8343900" y="3676650"/>
            <a:ext cx="3333750" cy="1581150"/>
          </a:xfrm>
          <a:prstGeom prst="roundRect">
            <a:avLst>
              <a:gd name="adj" fmla="val 4819"/>
            </a:avLst>
          </a:prstGeom>
          <a:solidFill>
            <a:srgbClr val="FFFDF8"/>
          </a:solidFill>
          <a:ln w="104775">
            <a:solidFill>
              <a:srgbClr val="D4CDBE"/>
            </a:solidFill>
            <a:prstDash val="solid"/>
          </a:ln>
        </p:spPr>
      </p:sp>
      <p:sp>
        <p:nvSpPr>
          <p:cNvPr id="45" name="cap-4-accent"/>
          <p:cNvSpPr>
            <a:spLocks noGrp="1"/>
          </p:cNvSpPr>
          <p:nvPr/>
        </p:nvSpPr>
        <p:spPr>
          <a:xfrm>
            <a:off x="8343900" y="3676650"/>
            <a:ext cx="76200" cy="1581150"/>
          </a:xfrm>
          <a:prstGeom prst="rect">
            <a:avLst/>
          </a:prstGeom>
          <a:solidFill>
            <a:srgbClr val="6E8E83"/>
          </a:solidFill>
          <a:ln w="0">
            <a:solidFill>
              <a:srgbClr val="6E8E83"/>
            </a:solidFill>
            <a:prstDash val="solid"/>
          </a:ln>
        </p:spPr>
      </p:sp>
      <p:sp>
        <p:nvSpPr>
          <p:cNvPr id="46" name="cap-4-number"/>
          <p:cNvSpPr>
            <a:spLocks noGrp="1"/>
          </p:cNvSpPr>
          <p:nvPr/>
        </p:nvSpPr>
        <p:spPr>
          <a:xfrm>
            <a:off x="8553450" y="3867150"/>
            <a:ext cx="400050" cy="400050"/>
          </a:xfrm>
          <a:prstGeom prst="ellipse">
            <a:avLst/>
          </a:prstGeom>
          <a:solidFill>
            <a:srgbClr val="6E8E83"/>
          </a:solidFill>
          <a:ln w="0">
            <a:solidFill>
              <a:srgbClr val="6E8E83"/>
            </a:solidFill>
            <a:prstDash val="solid"/>
          </a:ln>
        </p:spPr>
      </p:sp>
      <p:sp>
        <p:nvSpPr>
          <p:cNvPr id="47" name="cap-4-number-text"/>
          <p:cNvSpPr>
            <a:spLocks noGrp="1"/>
          </p:cNvSpPr>
          <p:nvPr/>
        </p:nvSpPr>
        <p:spPr>
          <a:xfrm>
            <a:off x="8553450" y="3867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</a:p>
        </p:txBody>
      </p:sp>
      <p:sp>
        <p:nvSpPr>
          <p:cNvPr id="48" name="cap-4-kicker"/>
          <p:cNvSpPr>
            <a:spLocks noGrp="1"/>
          </p:cNvSpPr>
          <p:nvPr/>
        </p:nvSpPr>
        <p:spPr>
          <a:xfrm>
            <a:off x="9124950" y="38481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 · 反馈 · 改进</a:t>
            </a:r>
          </a:p>
        </p:txBody>
      </p:sp>
      <p:sp>
        <p:nvSpPr>
          <p:cNvPr id="49" name="cap-4-title"/>
          <p:cNvSpPr>
            <a:spLocks noGrp="1"/>
          </p:cNvSpPr>
          <p:nvPr/>
        </p:nvSpPr>
        <p:spPr>
          <a:xfrm>
            <a:off x="9124950" y="4048125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全链路贯通</a:t>
            </a:r>
          </a:p>
        </p:txBody>
      </p:sp>
      <p:sp>
        <p:nvSpPr>
          <p:cNvPr id="50" name="cap-4-body"/>
          <p:cNvSpPr>
            <a:spLocks noGrp="1"/>
          </p:cNvSpPr>
          <p:nvPr/>
        </p:nvSpPr>
        <p:spPr>
          <a:xfrm>
            <a:off x="8572500" y="4476750"/>
            <a:ext cx="285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 → 岗位 → 服务 → 评价</a:t>
            </a:r>
          </a:p>
        </p:txBody>
      </p:sp>
      <p:sp>
        <p:nvSpPr>
          <p:cNvPr id="51" name="cap-4-foot"/>
          <p:cNvSpPr>
            <a:spLocks noGrp="1"/>
          </p:cNvSpPr>
          <p:nvPr/>
        </p:nvSpPr>
        <p:spPr>
          <a:xfrm>
            <a:off x="8572500" y="498157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015" b="0">
                <a:solidFill>
                  <a:srgbClr val="6672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672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交互沉淀为可追踪证据</a:t>
            </a:r>
          </a:p>
        </p:txBody>
      </p:sp>
      <p:sp>
        <p:nvSpPr>
          <p:cNvPr id="52" name="highlights-arrow-left-top"/>
          <p:cNvSpPr>
            <a:spLocks noGrp="1"/>
          </p:cNvSpPr>
          <p:nvPr/>
        </p:nvSpPr>
        <p:spPr>
          <a:xfrm>
            <a:off x="3905250" y="2200275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C5A36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C5A3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</a:p>
        </p:txBody>
      </p:sp>
      <p:sp>
        <p:nvSpPr>
          <p:cNvPr id="53" name="highlights-arrow-right-top"/>
          <p:cNvSpPr>
            <a:spLocks noGrp="1"/>
          </p:cNvSpPr>
          <p:nvPr/>
        </p:nvSpPr>
        <p:spPr>
          <a:xfrm>
            <a:off x="8039100" y="2200275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92D4B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92D4B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←</a:t>
            </a:r>
          </a:p>
        </p:txBody>
      </p:sp>
      <p:sp>
        <p:nvSpPr>
          <p:cNvPr id="54" name="highlights-arrow-left-bottom"/>
          <p:cNvSpPr>
            <a:spLocks noGrp="1"/>
          </p:cNvSpPr>
          <p:nvPr/>
        </p:nvSpPr>
        <p:spPr>
          <a:xfrm>
            <a:off x="3905250" y="4276725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C46D5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C46D5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</a:p>
        </p:txBody>
      </p:sp>
      <p:sp>
        <p:nvSpPr>
          <p:cNvPr id="55" name="highlights-arrow-right-bottom"/>
          <p:cNvSpPr>
            <a:spLocks noGrp="1"/>
          </p:cNvSpPr>
          <p:nvPr/>
        </p:nvSpPr>
        <p:spPr>
          <a:xfrm>
            <a:off x="8039100" y="4276725"/>
            <a:ext cx="26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6E8E8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6E8E8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←</a:t>
            </a:r>
          </a:p>
        </p:txBody>
      </p:sp>
      <p:sp>
        <p:nvSpPr>
          <p:cNvPr id="56" name="highlights-conclusion"/>
          <p:cNvSpPr>
            <a:spLocks noGrp="1"/>
          </p:cNvSpPr>
          <p:nvPr/>
        </p:nvSpPr>
        <p:spPr>
          <a:xfrm>
            <a:off x="1524000" y="5505450"/>
            <a:ext cx="9144000" cy="476250"/>
          </a:xfrm>
          <a:prstGeom prst="roundRect">
            <a:avLst>
              <a:gd name="adj" fmla="val 16000"/>
            </a:avLst>
          </a:prstGeom>
          <a:solidFill>
            <a:srgbClr val="0D3A2D"/>
          </a:solidFill>
          <a:ln w="76200">
            <a:solidFill>
              <a:srgbClr val="0D3A2D"/>
            </a:solidFill>
            <a:prstDash val="solid"/>
          </a:ln>
        </p:spPr>
      </p:sp>
      <p:sp>
        <p:nvSpPr>
          <p:cNvPr id="57" name="highlights-conclusion-text"/>
          <p:cNvSpPr>
            <a:spLocks noGrp="1"/>
          </p:cNvSpPr>
          <p:nvPr/>
        </p:nvSpPr>
        <p:spPr>
          <a:xfrm>
            <a:off x="1714500" y="5505450"/>
            <a:ext cx="876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C7EB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C7EB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四块能力，串成一条从“学”到“护”的协同链</a:t>
            </a:r>
          </a:p>
        </p:txBody>
      </p:sp>
      <p:sp>
        <p:nvSpPr>
          <p:cNvPr id="58" name="highlights-folio-box"/>
          <p:cNvSpPr>
            <a:spLocks noGrp="1"/>
          </p:cNvSpPr>
          <p:nvPr/>
        </p:nvSpPr>
        <p:spPr>
          <a:xfrm>
            <a:off x="95250" y="6400800"/>
            <a:ext cx="457200" cy="361950"/>
          </a:xfrm>
          <a:prstGeom prst="rect">
            <a:avLst/>
          </a:prstGeom>
          <a:solidFill>
            <a:srgbClr val="0D3A2D"/>
          </a:solidFill>
          <a:ln w="0">
            <a:solidFill>
              <a:srgbClr val="0D3A2D"/>
            </a:solidFill>
            <a:prstDash val="solid"/>
          </a:ln>
        </p:spPr>
      </p:sp>
      <p:sp>
        <p:nvSpPr>
          <p:cNvPr id="59" name="highlights-folio-number"/>
          <p:cNvSpPr>
            <a:spLocks noGrp="1"/>
          </p:cNvSpPr>
          <p:nvPr/>
        </p:nvSpPr>
        <p:spPr>
          <a:xfrm>
            <a:off x="114300" y="6410325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</a:p>
        </p:txBody>
      </p:sp>
      <p:sp>
        <p:nvSpPr>
          <p:cNvPr id="60" name="highlights-folio-project"/>
          <p:cNvSpPr>
            <a:spLocks noGrp="1"/>
          </p:cNvSpPr>
          <p:nvPr/>
        </p:nvSpPr>
        <p:spPr>
          <a:xfrm>
            <a:off x="685800" y="6362700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颐路同行——基于多智能体协同的护理康养人才成长与照护服务平台</a:t>
            </a:r>
          </a:p>
        </p:txBody>
      </p:sp>
      <p:sp>
        <p:nvSpPr>
          <p:cNvPr id="61" name="highlights-folio-label"/>
          <p:cNvSpPr>
            <a:spLocks noGrp="1"/>
          </p:cNvSpPr>
          <p:nvPr/>
        </p:nvSpPr>
        <p:spPr>
          <a:xfrm>
            <a:off x="9620250" y="63912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项目亮点 · 协同能力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backgroun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-title"/>
          <p:cNvSpPr>
            <a:spLocks noGrp="1"/>
          </p:cNvSpPr>
          <p:nvPr/>
        </p:nvSpPr>
        <p:spPr>
          <a:xfrm>
            <a:off x="514350" y="2286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 fontScale="97289"/>
          </a:bodyPr>
          <a:lstStyle/>
          <a:p>
            <a:pPr algn="l">
              <a:lnSpc>
                <a:spcPct val="108000"/>
              </a:lnSpc>
              <a:buNone/>
              <a:def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多角色价值共创，构建平台化服务闭环</a:t>
            </a: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666750" y="762000"/>
            <a:ext cx="1085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人才培养为入口，机构协同为支点，服务交付为目标</a:t>
            </a:r>
          </a:p>
        </p:txBody>
      </p:sp>
      <p:sp>
        <p:nvSpPr>
          <p:cNvPr id="4" name="value-flow-1"/>
          <p:cNvSpPr>
            <a:spLocks noGrp="1"/>
          </p:cNvSpPr>
          <p:nvPr/>
        </p:nvSpPr>
        <p:spPr>
          <a:xfrm>
            <a:off x="3562350" y="2114550"/>
            <a:ext cx="971550" cy="247650"/>
          </a:xfrm>
          <a:prstGeom prst="leftRightArrow">
            <a:avLst/>
          </a:prstGeom>
          <a:solidFill>
            <a:srgbClr val="C5A36A"/>
          </a:solidFill>
          <a:ln w="0">
            <a:solidFill>
              <a:srgbClr val="C5A36A"/>
            </a:solidFill>
            <a:prstDash val="solid"/>
          </a:ln>
        </p:spPr>
      </p:sp>
      <p:sp>
        <p:nvSpPr>
          <p:cNvPr id="5" name="value-flow-label-1"/>
          <p:cNvSpPr>
            <a:spLocks noGrp="1"/>
          </p:cNvSpPr>
          <p:nvPr/>
        </p:nvSpPr>
        <p:spPr>
          <a:xfrm>
            <a:off x="3600450" y="18097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能力供给</a:t>
            </a:r>
          </a:p>
        </p:txBody>
      </p:sp>
      <p:sp>
        <p:nvSpPr>
          <p:cNvPr id="6" name="value-flow-2"/>
          <p:cNvSpPr>
            <a:spLocks noGrp="1"/>
          </p:cNvSpPr>
          <p:nvPr/>
        </p:nvSpPr>
        <p:spPr>
          <a:xfrm>
            <a:off x="7658100" y="2114550"/>
            <a:ext cx="971550" cy="247650"/>
          </a:xfrm>
          <a:prstGeom prst="leftRightArrow">
            <a:avLst/>
          </a:prstGeom>
          <a:solidFill>
            <a:srgbClr val="C5A36A"/>
          </a:solidFill>
          <a:ln w="0">
            <a:solidFill>
              <a:srgbClr val="C5A36A"/>
            </a:solidFill>
            <a:prstDash val="solid"/>
          </a:ln>
        </p:spPr>
      </p:sp>
      <p:sp>
        <p:nvSpPr>
          <p:cNvPr id="7" name="value-flow-label-2"/>
          <p:cNvSpPr>
            <a:spLocks noGrp="1"/>
          </p:cNvSpPr>
          <p:nvPr/>
        </p:nvSpPr>
        <p:spPr>
          <a:xfrm>
            <a:off x="7715250" y="18097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协同交付</a:t>
            </a:r>
          </a:p>
        </p:txBody>
      </p:sp>
      <p:sp>
        <p:nvSpPr>
          <p:cNvPr id="8" name="value-flow-3"/>
          <p:cNvSpPr>
            <a:spLocks noGrp="1"/>
          </p:cNvSpPr>
          <p:nvPr/>
        </p:nvSpPr>
        <p:spPr>
          <a:xfrm>
            <a:off x="3562350" y="4305300"/>
            <a:ext cx="971550" cy="247650"/>
          </a:xfrm>
          <a:prstGeom prst="left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9" name="value-flow-label-3"/>
          <p:cNvSpPr>
            <a:spLocks noGrp="1"/>
          </p:cNvSpPr>
          <p:nvPr/>
        </p:nvSpPr>
        <p:spPr>
          <a:xfrm>
            <a:off x="3600450" y="46291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岗位衔接</a:t>
            </a:r>
          </a:p>
        </p:txBody>
      </p:sp>
      <p:sp>
        <p:nvSpPr>
          <p:cNvPr id="10" name="value-flow-4"/>
          <p:cNvSpPr>
            <a:spLocks noGrp="1"/>
          </p:cNvSpPr>
          <p:nvPr/>
        </p:nvSpPr>
        <p:spPr>
          <a:xfrm>
            <a:off x="7658100" y="4305300"/>
            <a:ext cx="971550" cy="247650"/>
          </a:xfrm>
          <a:prstGeom prst="left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11" name="value-flow-label-4"/>
          <p:cNvSpPr>
            <a:spLocks noGrp="1"/>
          </p:cNvSpPr>
          <p:nvPr/>
        </p:nvSpPr>
        <p:spPr>
          <a:xfrm>
            <a:off x="7715250" y="46291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评价反馈</a:t>
            </a:r>
          </a:p>
        </p:txBody>
      </p:sp>
      <p:sp>
        <p:nvSpPr>
          <p:cNvPr id="12" name="biz-1"/>
          <p:cNvSpPr>
            <a:spLocks noGrp="1"/>
          </p:cNvSpPr>
          <p:nvPr/>
        </p:nvSpPr>
        <p:spPr>
          <a:xfrm>
            <a:off x="514350" y="1314450"/>
            <a:ext cx="3048000" cy="1695450"/>
          </a:xfrm>
          <a:prstGeom prst="roundRect">
            <a:avLst>
              <a:gd name="adj" fmla="val 3371"/>
            </a:avLst>
          </a:prstGeom>
          <a:solidFill>
            <a:srgbClr val="E4F1EB"/>
          </a:solidFill>
          <a:ln w="0">
            <a:noFill/>
            <a:prstDash val="solid"/>
          </a:ln>
        </p:spPr>
      </p:sp>
      <p:sp>
        <p:nvSpPr>
          <p:cNvPr id="13" name="biz-accent-1"/>
          <p:cNvSpPr>
            <a:spLocks noGrp="1"/>
          </p:cNvSpPr>
          <p:nvPr/>
        </p:nvSpPr>
        <p:spPr>
          <a:xfrm>
            <a:off x="514350" y="1314450"/>
            <a:ext cx="76200" cy="1695450"/>
          </a:xfrm>
          <a:prstGeom prst="rect">
            <a:avLst/>
          </a:prstGeom>
          <a:solidFill>
            <a:srgbClr val="C5A36A"/>
          </a:solidFill>
          <a:ln w="9525">
            <a:solidFill>
              <a:srgbClr val="C5A36A"/>
            </a:solidFill>
            <a:prstDash val="solid"/>
          </a:ln>
        </p:spPr>
      </p:sp>
      <p:sp>
        <p:nvSpPr>
          <p:cNvPr id="14" name="biz-index-1"/>
          <p:cNvSpPr>
            <a:spLocks noGrp="1"/>
          </p:cNvSpPr>
          <p:nvPr/>
        </p:nvSpPr>
        <p:spPr>
          <a:xfrm>
            <a:off x="742950" y="14478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E6A5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2E6A5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15" name="biz-title-1"/>
          <p:cNvSpPr>
            <a:spLocks noGrp="1"/>
          </p:cNvSpPr>
          <p:nvPr/>
        </p:nvSpPr>
        <p:spPr>
          <a:xfrm>
            <a:off x="1238250" y="14287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人才培养服务</a:t>
            </a:r>
          </a:p>
        </p:txBody>
      </p:sp>
      <p:sp>
        <p:nvSpPr>
          <p:cNvPr id="16" name="biz-audience-1"/>
          <p:cNvSpPr>
            <a:spLocks noGrp="1"/>
          </p:cNvSpPr>
          <p:nvPr/>
        </p:nvSpPr>
        <p:spPr>
          <a:xfrm>
            <a:off x="762000" y="1943100"/>
            <a:ext cx="2552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学员 / 培训组织</a:t>
            </a:r>
          </a:p>
        </p:txBody>
      </p:sp>
      <p:sp>
        <p:nvSpPr>
          <p:cNvPr id="17" name="biz-value-1"/>
          <p:cNvSpPr>
            <a:spLocks noGrp="1"/>
          </p:cNvSpPr>
          <p:nvPr/>
        </p:nvSpPr>
        <p:spPr>
          <a:xfrm>
            <a:off x="762000" y="2381250"/>
            <a:ext cx="2552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 · 实训 · 评价</a:t>
            </a:r>
          </a:p>
        </p:txBody>
      </p:sp>
      <p:sp>
        <p:nvSpPr>
          <p:cNvPr id="18" name="biz-2"/>
          <p:cNvSpPr>
            <a:spLocks noGrp="1"/>
          </p:cNvSpPr>
          <p:nvPr/>
        </p:nvSpPr>
        <p:spPr>
          <a:xfrm>
            <a:off x="8629650" y="1314450"/>
            <a:ext cx="3048000" cy="1695450"/>
          </a:xfrm>
          <a:prstGeom prst="roundRect">
            <a:avLst>
              <a:gd name="adj" fmla="val 3371"/>
            </a:avLst>
          </a:prstGeom>
          <a:solidFill>
            <a:srgbClr val="FFFDF8"/>
          </a:solidFill>
          <a:ln w="0">
            <a:noFill/>
            <a:prstDash val="solid"/>
          </a:ln>
        </p:spPr>
      </p:sp>
      <p:sp>
        <p:nvSpPr>
          <p:cNvPr id="19" name="biz-accent-2"/>
          <p:cNvSpPr>
            <a:spLocks noGrp="1"/>
          </p:cNvSpPr>
          <p:nvPr/>
        </p:nvSpPr>
        <p:spPr>
          <a:xfrm>
            <a:off x="8629650" y="1314450"/>
            <a:ext cx="76200" cy="1695450"/>
          </a:xfrm>
          <a:prstGeom prst="rect">
            <a:avLst/>
          </a:prstGeom>
          <a:solidFill>
            <a:srgbClr val="C5A36A"/>
          </a:solidFill>
          <a:ln w="9525">
            <a:solidFill>
              <a:srgbClr val="C5A36A"/>
            </a:solidFill>
            <a:prstDash val="solid"/>
          </a:ln>
        </p:spPr>
      </p:sp>
      <p:sp>
        <p:nvSpPr>
          <p:cNvPr id="20" name="biz-index-2"/>
          <p:cNvSpPr>
            <a:spLocks noGrp="1"/>
          </p:cNvSpPr>
          <p:nvPr/>
        </p:nvSpPr>
        <p:spPr>
          <a:xfrm>
            <a:off x="8858250" y="14478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E6A5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2E6A5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21" name="biz-title-2"/>
          <p:cNvSpPr>
            <a:spLocks noGrp="1"/>
          </p:cNvSpPr>
          <p:nvPr/>
        </p:nvSpPr>
        <p:spPr>
          <a:xfrm>
            <a:off x="9353550" y="14287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机构协同服务</a:t>
            </a:r>
          </a:p>
        </p:txBody>
      </p:sp>
      <p:sp>
        <p:nvSpPr>
          <p:cNvPr id="22" name="biz-audience-2"/>
          <p:cNvSpPr>
            <a:spLocks noGrp="1"/>
          </p:cNvSpPr>
          <p:nvPr/>
        </p:nvSpPr>
        <p:spPr>
          <a:xfrm>
            <a:off x="8877300" y="1943100"/>
            <a:ext cx="2552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 / 用人机构</a:t>
            </a:r>
          </a:p>
        </p:txBody>
      </p:sp>
      <p:sp>
        <p:nvSpPr>
          <p:cNvPr id="23" name="biz-value-2"/>
          <p:cNvSpPr>
            <a:spLocks noGrp="1"/>
          </p:cNvSpPr>
          <p:nvPr/>
        </p:nvSpPr>
        <p:spPr>
          <a:xfrm>
            <a:off x="8877300" y="2381250"/>
            <a:ext cx="2552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协同管理 · 过程留痕</a:t>
            </a:r>
          </a:p>
        </p:txBody>
      </p:sp>
      <p:sp>
        <p:nvSpPr>
          <p:cNvPr id="24" name="biz-3"/>
          <p:cNvSpPr>
            <a:spLocks noGrp="1"/>
          </p:cNvSpPr>
          <p:nvPr/>
        </p:nvSpPr>
        <p:spPr>
          <a:xfrm>
            <a:off x="514350" y="3638550"/>
            <a:ext cx="3048000" cy="1695450"/>
          </a:xfrm>
          <a:prstGeom prst="roundRect">
            <a:avLst>
              <a:gd name="adj" fmla="val 3371"/>
            </a:avLst>
          </a:prstGeom>
          <a:solidFill>
            <a:srgbClr val="FFFDF8"/>
          </a:solidFill>
          <a:ln w="0">
            <a:noFill/>
            <a:prstDash val="solid"/>
          </a:ln>
        </p:spPr>
      </p:sp>
      <p:sp>
        <p:nvSpPr>
          <p:cNvPr id="25" name="biz-accent-3"/>
          <p:cNvSpPr>
            <a:spLocks noGrp="1"/>
          </p:cNvSpPr>
          <p:nvPr/>
        </p:nvSpPr>
        <p:spPr>
          <a:xfrm>
            <a:off x="514350" y="3638550"/>
            <a:ext cx="76200" cy="1695450"/>
          </a:xfrm>
          <a:prstGeom prst="rect">
            <a:avLst/>
          </a:prstGeom>
          <a:solidFill>
            <a:srgbClr val="2E6A56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26" name="biz-index-3"/>
          <p:cNvSpPr>
            <a:spLocks noGrp="1"/>
          </p:cNvSpPr>
          <p:nvPr/>
        </p:nvSpPr>
        <p:spPr>
          <a:xfrm>
            <a:off x="742950" y="37719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E6A5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2E6A5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27" name="biz-title-3"/>
          <p:cNvSpPr>
            <a:spLocks noGrp="1"/>
          </p:cNvSpPr>
          <p:nvPr/>
        </p:nvSpPr>
        <p:spPr>
          <a:xfrm>
            <a:off x="1238250" y="37528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人才匹配服务</a:t>
            </a:r>
          </a:p>
        </p:txBody>
      </p:sp>
      <p:sp>
        <p:nvSpPr>
          <p:cNvPr id="28" name="biz-audience-3"/>
          <p:cNvSpPr>
            <a:spLocks noGrp="1"/>
          </p:cNvSpPr>
          <p:nvPr/>
        </p:nvSpPr>
        <p:spPr>
          <a:xfrm>
            <a:off x="762000" y="4267200"/>
            <a:ext cx="2552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用人机构</a:t>
            </a:r>
          </a:p>
        </p:txBody>
      </p:sp>
      <p:sp>
        <p:nvSpPr>
          <p:cNvPr id="29" name="biz-value-3"/>
          <p:cNvSpPr>
            <a:spLocks noGrp="1"/>
          </p:cNvSpPr>
          <p:nvPr/>
        </p:nvSpPr>
        <p:spPr>
          <a:xfrm>
            <a:off x="762000" y="4705350"/>
            <a:ext cx="2552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岗位匹配 · 入职核验 · 在岗跟踪</a:t>
            </a:r>
          </a:p>
        </p:txBody>
      </p:sp>
      <p:sp>
        <p:nvSpPr>
          <p:cNvPr id="30" name="biz-4"/>
          <p:cNvSpPr>
            <a:spLocks noGrp="1"/>
          </p:cNvSpPr>
          <p:nvPr/>
        </p:nvSpPr>
        <p:spPr>
          <a:xfrm>
            <a:off x="8629650" y="3638550"/>
            <a:ext cx="3048000" cy="1695450"/>
          </a:xfrm>
          <a:prstGeom prst="roundRect">
            <a:avLst>
              <a:gd name="adj" fmla="val 3371"/>
            </a:avLst>
          </a:prstGeom>
          <a:solidFill>
            <a:srgbClr val="E4F1EB"/>
          </a:solidFill>
          <a:ln w="0">
            <a:noFill/>
            <a:prstDash val="solid"/>
          </a:ln>
        </p:spPr>
      </p:sp>
      <p:sp>
        <p:nvSpPr>
          <p:cNvPr id="31" name="biz-accent-4"/>
          <p:cNvSpPr>
            <a:spLocks noGrp="1"/>
          </p:cNvSpPr>
          <p:nvPr/>
        </p:nvSpPr>
        <p:spPr>
          <a:xfrm>
            <a:off x="8629650" y="3638550"/>
            <a:ext cx="76200" cy="1695450"/>
          </a:xfrm>
          <a:prstGeom prst="rect">
            <a:avLst/>
          </a:prstGeom>
          <a:solidFill>
            <a:srgbClr val="2E6A56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32" name="biz-index-4"/>
          <p:cNvSpPr>
            <a:spLocks noGrp="1"/>
          </p:cNvSpPr>
          <p:nvPr/>
        </p:nvSpPr>
        <p:spPr>
          <a:xfrm>
            <a:off x="8858250" y="377190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E6A5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2E6A5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</a:p>
        </p:txBody>
      </p:sp>
      <p:sp>
        <p:nvSpPr>
          <p:cNvPr id="33" name="biz-title-4"/>
          <p:cNvSpPr>
            <a:spLocks noGrp="1"/>
          </p:cNvSpPr>
          <p:nvPr/>
        </p:nvSpPr>
        <p:spPr>
          <a:xfrm>
            <a:off x="9353550" y="37528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家庭照护服务</a:t>
            </a:r>
          </a:p>
        </p:txBody>
      </p:sp>
      <p:sp>
        <p:nvSpPr>
          <p:cNvPr id="34" name="biz-audience-4"/>
          <p:cNvSpPr>
            <a:spLocks noGrp="1"/>
          </p:cNvSpPr>
          <p:nvPr/>
        </p:nvSpPr>
        <p:spPr>
          <a:xfrm>
            <a:off x="8877300" y="4267200"/>
            <a:ext cx="2552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家庭 / 服务主体</a:t>
            </a:r>
          </a:p>
        </p:txBody>
      </p:sp>
      <p:sp>
        <p:nvSpPr>
          <p:cNvPr id="35" name="biz-value-4"/>
          <p:cNvSpPr>
            <a:spLocks noGrp="1"/>
          </p:cNvSpPr>
          <p:nvPr/>
        </p:nvSpPr>
        <p:spPr>
          <a:xfrm>
            <a:off x="8877300" y="4705350"/>
            <a:ext cx="2552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服务履约 · 风险反馈 · 质量评价</a:t>
            </a:r>
          </a:p>
        </p:txBody>
      </p:sp>
      <p:sp>
        <p:nvSpPr>
          <p:cNvPr id="36" name="platform-core"/>
          <p:cNvSpPr>
            <a:spLocks noGrp="1"/>
          </p:cNvSpPr>
          <p:nvPr/>
        </p:nvSpPr>
        <p:spPr>
          <a:xfrm>
            <a:off x="4457700" y="1714500"/>
            <a:ext cx="3276600" cy="3276600"/>
          </a:xfrm>
          <a:prstGeom prst="ellipse">
            <a:avLst/>
          </a:prstGeom>
          <a:solidFill>
            <a:srgbClr val="0D3A2D"/>
          </a:solidFill>
          <a:ln w="28575">
            <a:solidFill>
              <a:srgbClr val="C5A36A"/>
            </a:solidFill>
            <a:prstDash val="solid"/>
          </a:ln>
        </p:spPr>
      </p:sp>
      <p:sp>
        <p:nvSpPr>
          <p:cNvPr id="37" name="platform-kicker"/>
          <p:cNvSpPr>
            <a:spLocks noGrp="1"/>
          </p:cNvSpPr>
          <p:nvPr/>
        </p:nvSpPr>
        <p:spPr>
          <a:xfrm>
            <a:off x="5105400" y="2152650"/>
            <a:ext cx="1981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多角色价值枢纽</a:t>
            </a:r>
          </a:p>
        </p:txBody>
      </p:sp>
      <p:sp>
        <p:nvSpPr>
          <p:cNvPr id="38" name="platform-name"/>
          <p:cNvSpPr>
            <a:spLocks noGrp="1"/>
          </p:cNvSpPr>
          <p:nvPr/>
        </p:nvSpPr>
        <p:spPr>
          <a:xfrm>
            <a:off x="4953000" y="2571750"/>
            <a:ext cx="2286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87500" lnSpcReduction="10000"/>
          </a:bodyPr>
          <a:lstStyle/>
          <a:p>
            <a:pPr algn="ctr">
              <a:lnSpc>
                <a:spcPct val="103000"/>
              </a:lnSpc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基于多智能体协同的护理康养人才成长与照护服务平台</a:t>
            </a:r>
          </a:p>
        </p:txBody>
      </p:sp>
      <p:sp>
        <p:nvSpPr>
          <p:cNvPr id="39" name="platform-divider"/>
          <p:cNvSpPr>
            <a:spLocks noGrp="1"/>
          </p:cNvSpPr>
          <p:nvPr/>
        </p:nvSpPr>
        <p:spPr>
          <a:xfrm>
            <a:off x="5391150" y="3676650"/>
            <a:ext cx="1409700" cy="19050"/>
          </a:xfrm>
          <a:prstGeom prst="rect">
            <a:avLst/>
          </a:prstGeom>
          <a:solidFill>
            <a:srgbClr val="C5A36A"/>
          </a:solidFill>
          <a:ln w="9525">
            <a:solidFill>
              <a:srgbClr val="C5A36A"/>
            </a:solidFill>
            <a:prstDash val="solid"/>
          </a:ln>
        </p:spPr>
      </p:sp>
      <p:sp>
        <p:nvSpPr>
          <p:cNvPr id="40" name="platform-capability"/>
          <p:cNvSpPr>
            <a:spLocks noGrp="1"/>
          </p:cNvSpPr>
          <p:nvPr/>
        </p:nvSpPr>
        <p:spPr>
          <a:xfrm>
            <a:off x="4895850" y="3848100"/>
            <a:ext cx="2400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E4F1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4F1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流程协同 · 数据留痕</a:t>
            </a:r>
          </a:p>
          <a:p>
            <a:pPr algn="ctr">
              <a:lnSpc>
                <a:spcPct val="108000"/>
              </a:lnSpc>
              <a:buNone/>
              <a:defRPr sz="1350" b="1">
                <a:solidFill>
                  <a:srgbClr val="E4F1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4F1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服务评价 · 持续反馈</a:t>
            </a:r>
          </a:p>
        </p:txBody>
      </p:sp>
      <p:sp>
        <p:nvSpPr>
          <p:cNvPr id="41" name="delivery-chain-bg"/>
          <p:cNvSpPr>
            <a:spLocks noGrp="1"/>
          </p:cNvSpPr>
          <p:nvPr/>
        </p:nvSpPr>
        <p:spPr>
          <a:xfrm>
            <a:off x="1619250" y="5524500"/>
            <a:ext cx="8953500" cy="457200"/>
          </a:xfrm>
          <a:prstGeom prst="roundRect">
            <a:avLst>
              <a:gd name="adj" fmla="val 16667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42" name="delivery-chain"/>
          <p:cNvSpPr>
            <a:spLocks noGrp="1"/>
          </p:cNvSpPr>
          <p:nvPr/>
        </p:nvSpPr>
        <p:spPr>
          <a:xfrm>
            <a:off x="1752600" y="5524500"/>
            <a:ext cx="8686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人才培养  →  机构协同  →  就业衔接  →  服务交付  →  评价反哺</a:t>
            </a:r>
          </a:p>
        </p:txBody>
      </p:sp>
      <p:sp>
        <p:nvSpPr>
          <p:cNvPr id="43" name="folio-box-11"/>
          <p:cNvSpPr>
            <a:spLocks noGrp="1"/>
          </p:cNvSpPr>
          <p:nvPr/>
        </p:nvSpPr>
        <p:spPr>
          <a:xfrm>
            <a:off x="95250" y="6419850"/>
            <a:ext cx="400050" cy="333375"/>
          </a:xfrm>
          <a:prstGeom prst="rect">
            <a:avLst/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44" name="folio-11"/>
          <p:cNvSpPr>
            <a:spLocks noGrp="1"/>
          </p:cNvSpPr>
          <p:nvPr/>
        </p:nvSpPr>
        <p:spPr>
          <a:xfrm>
            <a:off x="114300" y="64198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</a:p>
        </p:txBody>
      </p:sp>
      <p:sp>
        <p:nvSpPr>
          <p:cNvPr id="45" name="folio-caption-11"/>
          <p:cNvSpPr>
            <a:spLocks noGrp="1"/>
          </p:cNvSpPr>
          <p:nvPr/>
        </p:nvSpPr>
        <p:spPr>
          <a:xfrm>
            <a:off x="552450" y="64770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PLATFORM VALUE ECOSYSTEM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mvp-paper-backgroun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vp-section"/>
          <p:cNvSpPr>
            <a:spLocks noGrp="1"/>
          </p:cNvSpPr>
          <p:nvPr/>
        </p:nvSpPr>
        <p:spPr>
          <a:xfrm>
            <a:off x="514350" y="2476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dirty="0" err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产品状态</a:t>
            </a:r>
            <a:r>
              <a:rPr sz="1275" b="1" dirty="0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·  </a:t>
            </a:r>
            <a:r>
              <a:rPr lang="zh-CN" altLang="en-US" sz="1275" b="1" dirty="0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可交互原型</a:t>
            </a:r>
            <a:endParaRPr sz="1275" b="1" dirty="0">
              <a:solidFill>
                <a:srgbClr val="2E6A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vp-title"/>
          <p:cNvSpPr>
            <a:spLocks noGrp="1"/>
          </p:cNvSpPr>
          <p:nvPr/>
        </p:nvSpPr>
        <p:spPr>
          <a:xfrm>
            <a:off x="514350" y="552450"/>
            <a:ext cx="838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700" b="1" dirty="0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产品可交互原型</a:t>
            </a:r>
            <a:r>
              <a:rPr sz="2700" b="1" dirty="0" err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已完成：一张主界面，承载四端协同</a:t>
            </a:r>
            <a:endParaRPr sz="2700" b="1" dirty="0">
              <a:solidFill>
                <a:srgbClr val="0D3A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vp-hero-boundary-text"/>
          <p:cNvSpPr>
            <a:spLocks noGrp="1"/>
          </p:cNvSpPr>
          <p:nvPr/>
        </p:nvSpPr>
        <p:spPr>
          <a:xfrm>
            <a:off x="6705600" y="4324350"/>
            <a:ext cx="2057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界面数字为模拟演示</a:t>
            </a:r>
          </a:p>
        </p:txBody>
      </p:sp>
      <p:sp>
        <p:nvSpPr>
          <p:cNvPr id="12" name="evidence-1-card"/>
          <p:cNvSpPr>
            <a:spLocks noGrp="1"/>
          </p:cNvSpPr>
          <p:nvPr/>
        </p:nvSpPr>
        <p:spPr>
          <a:xfrm>
            <a:off x="514350" y="1524000"/>
            <a:ext cx="2247900" cy="1219200"/>
          </a:xfrm>
          <a:prstGeom prst="roundRect">
            <a:avLst>
              <a:gd name="adj" fmla="val 6250"/>
            </a:avLst>
          </a:prstGeom>
          <a:solidFill>
            <a:srgbClr val="FFFDF8"/>
          </a:solidFill>
          <a:ln w="95250">
            <a:solidFill>
              <a:srgbClr val="D4CDBE"/>
            </a:solidFill>
            <a:prstDash val="solid"/>
          </a:ln>
        </p:spPr>
      </p:sp>
      <p:sp>
        <p:nvSpPr>
          <p:cNvPr id="13" name="evidence-1-accent"/>
          <p:cNvSpPr>
            <a:spLocks noGrp="1"/>
          </p:cNvSpPr>
          <p:nvPr/>
        </p:nvSpPr>
        <p:spPr>
          <a:xfrm>
            <a:off x="514350" y="1524000"/>
            <a:ext cx="66675" cy="1219200"/>
          </a:xfrm>
          <a:prstGeom prst="rect">
            <a:avLst/>
          </a:prstGeom>
          <a:solidFill>
            <a:srgbClr val="C5A36A"/>
          </a:solidFill>
          <a:ln w="0">
            <a:noFill/>
            <a:prstDash val="solid"/>
          </a:ln>
        </p:spPr>
      </p:sp>
      <p:sp>
        <p:nvSpPr>
          <p:cNvPr id="14" name="evidence-1-badge"/>
          <p:cNvSpPr>
            <a:spLocks noGrp="1"/>
          </p:cNvSpPr>
          <p:nvPr/>
        </p:nvSpPr>
        <p:spPr>
          <a:xfrm>
            <a:off x="704850" y="1714500"/>
            <a:ext cx="342900" cy="342900"/>
          </a:xfrm>
          <a:prstGeom prst="ellipse">
            <a:avLst/>
          </a:prstGeom>
          <a:solidFill>
            <a:srgbClr val="C5A36A"/>
          </a:solidFill>
          <a:ln w="0">
            <a:noFill/>
            <a:prstDash val="solid"/>
          </a:ln>
        </p:spPr>
      </p:sp>
      <p:sp>
        <p:nvSpPr>
          <p:cNvPr id="15" name="evidence-1-badge-text"/>
          <p:cNvSpPr>
            <a:spLocks noGrp="1"/>
          </p:cNvSpPr>
          <p:nvPr/>
        </p:nvSpPr>
        <p:spPr>
          <a:xfrm>
            <a:off x="704850" y="17145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16" name="evidence-1-title"/>
          <p:cNvSpPr>
            <a:spLocks noGrp="1"/>
          </p:cNvSpPr>
          <p:nvPr/>
        </p:nvSpPr>
        <p:spPr>
          <a:xfrm>
            <a:off x="1181100" y="1685925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研究体系</a:t>
            </a:r>
          </a:p>
        </p:txBody>
      </p:sp>
      <p:sp>
        <p:nvSpPr>
          <p:cNvPr id="17" name="evidence-1-copy"/>
          <p:cNvSpPr>
            <a:spLocks noGrp="1"/>
          </p:cNvSpPr>
          <p:nvPr/>
        </p:nvSpPr>
        <p:spPr>
          <a:xfrm>
            <a:off x="1181100" y="2038350"/>
            <a:ext cx="1409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份文档</a:t>
            </a:r>
          </a:p>
          <a:p>
            <a:pPr algn="l">
              <a:lnSpc>
                <a:spcPct val="100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14,396 行</a:t>
            </a:r>
          </a:p>
        </p:txBody>
      </p:sp>
      <p:sp>
        <p:nvSpPr>
          <p:cNvPr id="18" name="evidence-2-card"/>
          <p:cNvSpPr>
            <a:spLocks noGrp="1"/>
          </p:cNvSpPr>
          <p:nvPr/>
        </p:nvSpPr>
        <p:spPr>
          <a:xfrm>
            <a:off x="9429750" y="1524000"/>
            <a:ext cx="2247900" cy="1219200"/>
          </a:xfrm>
          <a:prstGeom prst="roundRect">
            <a:avLst>
              <a:gd name="adj" fmla="val 6250"/>
            </a:avLst>
          </a:prstGeom>
          <a:solidFill>
            <a:srgbClr val="FFFDF8"/>
          </a:solidFill>
          <a:ln w="95250">
            <a:solidFill>
              <a:srgbClr val="D4CDBE"/>
            </a:solidFill>
            <a:prstDash val="solid"/>
          </a:ln>
        </p:spPr>
      </p:sp>
      <p:sp>
        <p:nvSpPr>
          <p:cNvPr id="19" name="evidence-2-accent"/>
          <p:cNvSpPr>
            <a:spLocks noGrp="1"/>
          </p:cNvSpPr>
          <p:nvPr/>
        </p:nvSpPr>
        <p:spPr>
          <a:xfrm>
            <a:off x="9429750" y="1524000"/>
            <a:ext cx="66675" cy="1219200"/>
          </a:xfrm>
          <a:prstGeom prst="rect">
            <a:avLst/>
          </a:prstGeom>
          <a:solidFill>
            <a:srgbClr val="92D4BC"/>
          </a:solidFill>
          <a:ln w="0">
            <a:noFill/>
            <a:prstDash val="solid"/>
          </a:ln>
        </p:spPr>
      </p:sp>
      <p:sp>
        <p:nvSpPr>
          <p:cNvPr id="20" name="evidence-2-badge"/>
          <p:cNvSpPr>
            <a:spLocks noGrp="1"/>
          </p:cNvSpPr>
          <p:nvPr/>
        </p:nvSpPr>
        <p:spPr>
          <a:xfrm>
            <a:off x="11127105" y="1714500"/>
            <a:ext cx="342900" cy="342900"/>
          </a:xfrm>
          <a:prstGeom prst="ellipse">
            <a:avLst/>
          </a:prstGeom>
          <a:solidFill>
            <a:srgbClr val="92D4BC"/>
          </a:solidFill>
          <a:ln w="0">
            <a:noFill/>
            <a:prstDash val="solid"/>
          </a:ln>
        </p:spPr>
      </p:sp>
      <p:sp>
        <p:nvSpPr>
          <p:cNvPr id="21" name="evidence-2-badge-text"/>
          <p:cNvSpPr>
            <a:spLocks noGrp="1"/>
          </p:cNvSpPr>
          <p:nvPr/>
        </p:nvSpPr>
        <p:spPr>
          <a:xfrm>
            <a:off x="11127105" y="17145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22" name="evidence-2-title"/>
          <p:cNvSpPr>
            <a:spLocks noGrp="1"/>
          </p:cNvSpPr>
          <p:nvPr/>
        </p:nvSpPr>
        <p:spPr>
          <a:xfrm>
            <a:off x="10096500" y="1685925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四端架构</a:t>
            </a:r>
          </a:p>
        </p:txBody>
      </p:sp>
      <p:sp>
        <p:nvSpPr>
          <p:cNvPr id="23" name="evidence-2-copy"/>
          <p:cNvSpPr>
            <a:spLocks noGrp="1"/>
          </p:cNvSpPr>
          <p:nvPr/>
        </p:nvSpPr>
        <p:spPr>
          <a:xfrm>
            <a:off x="10096500" y="2038350"/>
            <a:ext cx="1409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学员 · 培训机构</a:t>
            </a:r>
          </a:p>
          <a:p>
            <a:pPr algn="l">
              <a:lnSpc>
                <a:spcPct val="100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用人机构 · 家庭</a:t>
            </a:r>
          </a:p>
        </p:txBody>
      </p:sp>
      <p:sp>
        <p:nvSpPr>
          <p:cNvPr id="24" name="evidence-3-card"/>
          <p:cNvSpPr>
            <a:spLocks noGrp="1"/>
          </p:cNvSpPr>
          <p:nvPr/>
        </p:nvSpPr>
        <p:spPr>
          <a:xfrm>
            <a:off x="514350" y="3600450"/>
            <a:ext cx="2247900" cy="1219200"/>
          </a:xfrm>
          <a:prstGeom prst="roundRect">
            <a:avLst>
              <a:gd name="adj" fmla="val 6250"/>
            </a:avLst>
          </a:prstGeom>
          <a:solidFill>
            <a:srgbClr val="FFFDF8"/>
          </a:solidFill>
          <a:ln w="95250">
            <a:solidFill>
              <a:srgbClr val="D4CDBE"/>
            </a:solidFill>
            <a:prstDash val="solid"/>
          </a:ln>
        </p:spPr>
      </p:sp>
      <p:sp>
        <p:nvSpPr>
          <p:cNvPr id="25" name="evidence-3-accent"/>
          <p:cNvSpPr>
            <a:spLocks noGrp="1"/>
          </p:cNvSpPr>
          <p:nvPr/>
        </p:nvSpPr>
        <p:spPr>
          <a:xfrm>
            <a:off x="514350" y="3600450"/>
            <a:ext cx="66675" cy="1219200"/>
          </a:xfrm>
          <a:prstGeom prst="rect">
            <a:avLst/>
          </a:prstGeom>
          <a:solidFill>
            <a:srgbClr val="D27A62"/>
          </a:solidFill>
          <a:ln w="0">
            <a:noFill/>
            <a:prstDash val="solid"/>
          </a:ln>
        </p:spPr>
      </p:sp>
      <p:sp>
        <p:nvSpPr>
          <p:cNvPr id="26" name="evidence-3-badge"/>
          <p:cNvSpPr>
            <a:spLocks noGrp="1"/>
          </p:cNvSpPr>
          <p:nvPr/>
        </p:nvSpPr>
        <p:spPr>
          <a:xfrm>
            <a:off x="704850" y="3790950"/>
            <a:ext cx="342900" cy="342900"/>
          </a:xfrm>
          <a:prstGeom prst="ellipse">
            <a:avLst/>
          </a:prstGeom>
          <a:solidFill>
            <a:srgbClr val="D27A62"/>
          </a:solidFill>
          <a:ln w="0">
            <a:noFill/>
            <a:prstDash val="solid"/>
          </a:ln>
        </p:spPr>
      </p:sp>
      <p:sp>
        <p:nvSpPr>
          <p:cNvPr id="27" name="evidence-3-badge-text"/>
          <p:cNvSpPr>
            <a:spLocks noGrp="1"/>
          </p:cNvSpPr>
          <p:nvPr/>
        </p:nvSpPr>
        <p:spPr>
          <a:xfrm>
            <a:off x="704850" y="37909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28" name="evidence-3-title"/>
          <p:cNvSpPr>
            <a:spLocks noGrp="1"/>
          </p:cNvSpPr>
          <p:nvPr/>
        </p:nvSpPr>
        <p:spPr>
          <a:xfrm>
            <a:off x="1181100" y="3762375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概念</a:t>
            </a:r>
          </a:p>
        </p:txBody>
      </p:sp>
      <p:sp>
        <p:nvSpPr>
          <p:cNvPr id="29" name="evidence-3-copy"/>
          <p:cNvSpPr>
            <a:spLocks noGrp="1"/>
          </p:cNvSpPr>
          <p:nvPr/>
        </p:nvSpPr>
        <p:spPr>
          <a:xfrm>
            <a:off x="1181100" y="4114800"/>
            <a:ext cx="1409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个角色</a:t>
            </a:r>
          </a:p>
          <a:p>
            <a:pPr algn="l">
              <a:lnSpc>
                <a:spcPct val="100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职责与协作方案</a:t>
            </a:r>
          </a:p>
        </p:txBody>
      </p:sp>
      <p:sp>
        <p:nvSpPr>
          <p:cNvPr id="30" name="evidence-4-card"/>
          <p:cNvSpPr>
            <a:spLocks noGrp="1"/>
          </p:cNvSpPr>
          <p:nvPr/>
        </p:nvSpPr>
        <p:spPr>
          <a:xfrm>
            <a:off x="9429750" y="3600450"/>
            <a:ext cx="2247900" cy="1219200"/>
          </a:xfrm>
          <a:prstGeom prst="roundRect">
            <a:avLst>
              <a:gd name="adj" fmla="val 6250"/>
            </a:avLst>
          </a:prstGeom>
          <a:solidFill>
            <a:srgbClr val="FFFDF8"/>
          </a:solidFill>
          <a:ln w="95250">
            <a:solidFill>
              <a:srgbClr val="D4CDBE"/>
            </a:solidFill>
            <a:prstDash val="solid"/>
          </a:ln>
        </p:spPr>
      </p:sp>
      <p:sp>
        <p:nvSpPr>
          <p:cNvPr id="31" name="evidence-4-accent"/>
          <p:cNvSpPr>
            <a:spLocks noGrp="1"/>
          </p:cNvSpPr>
          <p:nvPr/>
        </p:nvSpPr>
        <p:spPr>
          <a:xfrm>
            <a:off x="9429750" y="3600450"/>
            <a:ext cx="66675" cy="1219200"/>
          </a:xfrm>
          <a:prstGeom prst="rect">
            <a:avLst/>
          </a:prstGeom>
          <a:solidFill>
            <a:srgbClr val="6B8E83"/>
          </a:solidFill>
          <a:ln w="0">
            <a:noFill/>
            <a:prstDash val="solid"/>
          </a:ln>
        </p:spPr>
      </p:sp>
      <p:sp>
        <p:nvSpPr>
          <p:cNvPr id="32" name="evidence-4-badge"/>
          <p:cNvSpPr>
            <a:spLocks noGrp="1"/>
          </p:cNvSpPr>
          <p:nvPr/>
        </p:nvSpPr>
        <p:spPr>
          <a:xfrm>
            <a:off x="11055350" y="3790950"/>
            <a:ext cx="342900" cy="342900"/>
          </a:xfrm>
          <a:prstGeom prst="ellipse">
            <a:avLst/>
          </a:prstGeom>
          <a:solidFill>
            <a:srgbClr val="6B8E83"/>
          </a:solidFill>
          <a:ln w="0">
            <a:noFill/>
            <a:prstDash val="solid"/>
          </a:ln>
        </p:spPr>
      </p:sp>
      <p:sp>
        <p:nvSpPr>
          <p:cNvPr id="33" name="evidence-4-badge-text"/>
          <p:cNvSpPr>
            <a:spLocks noGrp="1"/>
          </p:cNvSpPr>
          <p:nvPr/>
        </p:nvSpPr>
        <p:spPr>
          <a:xfrm>
            <a:off x="11055350" y="37909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</a:p>
        </p:txBody>
      </p:sp>
      <p:sp>
        <p:nvSpPr>
          <p:cNvPr id="34" name="evidence-4-title"/>
          <p:cNvSpPr>
            <a:spLocks noGrp="1"/>
          </p:cNvSpPr>
          <p:nvPr/>
        </p:nvSpPr>
        <p:spPr>
          <a:xfrm>
            <a:off x="10096500" y="3762375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前端交互</a:t>
            </a:r>
          </a:p>
        </p:txBody>
      </p:sp>
      <p:sp>
        <p:nvSpPr>
          <p:cNvPr id="35" name="evidence-4-copy"/>
          <p:cNvSpPr>
            <a:spLocks noGrp="1"/>
          </p:cNvSpPr>
          <p:nvPr/>
        </p:nvSpPr>
        <p:spPr>
          <a:xfrm>
            <a:off x="10128885" y="4173220"/>
            <a:ext cx="1409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Next.js</a:t>
            </a:r>
          </a:p>
          <a:p>
            <a:pPr algn="l">
              <a:lnSpc>
                <a:spcPct val="100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可交互原型</a:t>
            </a:r>
          </a:p>
        </p:txBody>
      </p:sp>
      <p:sp>
        <p:nvSpPr>
          <p:cNvPr id="36" name="mvp-status-band"/>
          <p:cNvSpPr>
            <a:spLocks noGrp="1"/>
          </p:cNvSpPr>
          <p:nvPr/>
        </p:nvSpPr>
        <p:spPr>
          <a:xfrm>
            <a:off x="514350" y="5392420"/>
            <a:ext cx="11163300" cy="590550"/>
          </a:xfrm>
          <a:prstGeom prst="roundRect">
            <a:avLst>
              <a:gd name="adj" fmla="val 12903"/>
            </a:avLst>
          </a:prstGeom>
          <a:solidFill>
            <a:srgbClr val="0D3A2D"/>
          </a:solidFill>
          <a:ln w="76200">
            <a:solidFill>
              <a:srgbClr val="0D3A2D"/>
            </a:solidFill>
            <a:prstDash val="solid"/>
          </a:ln>
        </p:spPr>
      </p:sp>
      <p:sp>
        <p:nvSpPr>
          <p:cNvPr id="37" name="mvp-status-band-text"/>
          <p:cNvSpPr>
            <a:spLocks noGrp="1"/>
          </p:cNvSpPr>
          <p:nvPr/>
        </p:nvSpPr>
        <p:spPr>
          <a:xfrm>
            <a:off x="742950" y="5392420"/>
            <a:ext cx="10706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C7EB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dirty="0" err="1">
                <a:solidFill>
                  <a:srgbClr val="C7EB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已完成：把“怎么用”做出来</a:t>
            </a:r>
            <a:r>
              <a:rPr sz="1800" b="1" dirty="0">
                <a:solidFill>
                  <a:srgbClr val="C7EB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→   </a:t>
            </a:r>
            <a:r>
              <a:rPr sz="1800" b="1" dirty="0" err="1">
                <a:solidFill>
                  <a:srgbClr val="C7EB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下一步：验证“是否有效</a:t>
            </a:r>
            <a:r>
              <a:rPr sz="1800" b="1" dirty="0">
                <a:solidFill>
                  <a:srgbClr val="C7EB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</a:p>
        </p:txBody>
      </p:sp>
      <p:sp>
        <p:nvSpPr>
          <p:cNvPr id="38" name="mvp-footer"/>
          <p:cNvSpPr>
            <a:spLocks noGrp="1"/>
          </p:cNvSpPr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rgbClr val="0D3A2D">
              <a:alpha val="77000"/>
            </a:srgbClr>
          </a:solidFill>
          <a:ln w="0">
            <a:noFill/>
            <a:prstDash val="solid"/>
          </a:ln>
          <a:effectLst>
            <a:outerShdw blurRad="50800" dist="50800" dir="5400000" algn="ctr" rotWithShape="0">
              <a:srgbClr val="000000">
                <a:alpha val="50000"/>
              </a:srgbClr>
            </a:outerShdw>
          </a:effectLst>
        </p:spPr>
      </p:sp>
      <p:sp>
        <p:nvSpPr>
          <p:cNvPr id="42" name="mvp-footer-label"/>
          <p:cNvSpPr>
            <a:spLocks noGrp="1"/>
          </p:cNvSpPr>
          <p:nvPr/>
        </p:nvSpPr>
        <p:spPr>
          <a:xfrm>
            <a:off x="10001250" y="6410325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当前产品状态</a:t>
            </a:r>
          </a:p>
        </p:txBody>
      </p:sp>
      <p:sp>
        <p:nvSpPr>
          <p:cNvPr id="45" name="folio-caption-12"/>
          <p:cNvSpPr>
            <a:spLocks noGrp="1"/>
          </p:cNvSpPr>
          <p:nvPr/>
        </p:nvSpPr>
        <p:spPr>
          <a:xfrm>
            <a:off x="552450" y="64770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POC-FIRST GO-TO-MARKET</a:t>
            </a:r>
          </a:p>
        </p:txBody>
      </p:sp>
      <p:sp>
        <p:nvSpPr>
          <p:cNvPr id="46" name="folio-box-12"/>
          <p:cNvSpPr>
            <a:spLocks noGrp="1"/>
          </p:cNvSpPr>
          <p:nvPr/>
        </p:nvSpPr>
        <p:spPr>
          <a:xfrm>
            <a:off x="95250" y="6419850"/>
            <a:ext cx="400050" cy="333375"/>
          </a:xfrm>
          <a:prstGeom prst="rect">
            <a:avLst/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44" name="folio-12"/>
          <p:cNvSpPr>
            <a:spLocks noGrp="1"/>
          </p:cNvSpPr>
          <p:nvPr/>
        </p:nvSpPr>
        <p:spPr>
          <a:xfrm>
            <a:off x="114300" y="64198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650" y="1196340"/>
            <a:ext cx="7774305" cy="389001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3175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backgroun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-title"/>
          <p:cNvSpPr>
            <a:spLocks noGrp="1"/>
          </p:cNvSpPr>
          <p:nvPr/>
        </p:nvSpPr>
        <p:spPr>
          <a:xfrm>
            <a:off x="514350" y="2286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 fontScale="97289"/>
          </a:bodyPr>
          <a:lstStyle/>
          <a:p>
            <a:pPr algn="l">
              <a:lnSpc>
                <a:spcPct val="108000"/>
              </a:lnSpc>
              <a:buNone/>
              <a:def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功能优势</a:t>
            </a:r>
            <a:r>
              <a:rPr lang="en-US" altLang="zh-CN"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完成整条任务链</a:t>
            </a: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666750" y="762000"/>
            <a:ext cx="1085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dirty="0" err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以任务链为核心的竞争类型对照</a:t>
            </a:r>
            <a:endParaRPr sz="1350" b="0" dirty="0">
              <a:solidFill>
                <a:srgbClr val="263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ompetitor-type-1"/>
          <p:cNvSpPr>
            <a:spLocks noGrp="1"/>
          </p:cNvSpPr>
          <p:nvPr/>
        </p:nvSpPr>
        <p:spPr>
          <a:xfrm>
            <a:off x="514350" y="1257300"/>
            <a:ext cx="4210050" cy="857250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5" name="competitor-num-1"/>
          <p:cNvSpPr>
            <a:spLocks noGrp="1"/>
          </p:cNvSpPr>
          <p:nvPr/>
        </p:nvSpPr>
        <p:spPr>
          <a:xfrm>
            <a:off x="647700" y="1371600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6" name="competitor-title-1"/>
          <p:cNvSpPr>
            <a:spLocks noGrp="1"/>
          </p:cNvSpPr>
          <p:nvPr/>
        </p:nvSpPr>
        <p:spPr>
          <a:xfrm>
            <a:off x="1257300" y="13525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在线课程平台</a:t>
            </a:r>
          </a:p>
        </p:txBody>
      </p:sp>
      <p:sp>
        <p:nvSpPr>
          <p:cNvPr id="7" name="competitor-focus-1"/>
          <p:cNvSpPr>
            <a:spLocks noGrp="1"/>
          </p:cNvSpPr>
          <p:nvPr/>
        </p:nvSpPr>
        <p:spPr>
          <a:xfrm>
            <a:off x="1257300" y="16954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dirty="0" err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典型着力点：课程与内容交付</a:t>
            </a:r>
            <a:endParaRPr sz="1200" b="0" dirty="0">
              <a:solidFill>
                <a:srgbClr val="263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ompetitor-type-2"/>
          <p:cNvSpPr>
            <a:spLocks noGrp="1"/>
          </p:cNvSpPr>
          <p:nvPr/>
        </p:nvSpPr>
        <p:spPr>
          <a:xfrm>
            <a:off x="514350" y="2266950"/>
            <a:ext cx="4210050" cy="857250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9" name="competitor-num-2"/>
          <p:cNvSpPr>
            <a:spLocks noGrp="1"/>
          </p:cNvSpPr>
          <p:nvPr/>
        </p:nvSpPr>
        <p:spPr>
          <a:xfrm>
            <a:off x="647700" y="2381250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10" name="competitor-title-2"/>
          <p:cNvSpPr>
            <a:spLocks noGrp="1"/>
          </p:cNvSpPr>
          <p:nvPr/>
        </p:nvSpPr>
        <p:spPr>
          <a:xfrm>
            <a:off x="1257300" y="23622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招聘信息平台</a:t>
            </a:r>
          </a:p>
        </p:txBody>
      </p:sp>
      <p:sp>
        <p:nvSpPr>
          <p:cNvPr id="11" name="competitor-focus-2"/>
          <p:cNvSpPr>
            <a:spLocks noGrp="1"/>
          </p:cNvSpPr>
          <p:nvPr/>
        </p:nvSpPr>
        <p:spPr>
          <a:xfrm>
            <a:off x="1257300" y="27051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典型着力点：岗位信息与匹配</a:t>
            </a:r>
          </a:p>
        </p:txBody>
      </p:sp>
      <p:sp>
        <p:nvSpPr>
          <p:cNvPr id="12" name="competitor-type-3"/>
          <p:cNvSpPr>
            <a:spLocks noGrp="1"/>
          </p:cNvSpPr>
          <p:nvPr/>
        </p:nvSpPr>
        <p:spPr>
          <a:xfrm>
            <a:off x="514350" y="3276600"/>
            <a:ext cx="4210050" cy="857250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13" name="competitor-num-3"/>
          <p:cNvSpPr>
            <a:spLocks noGrp="1"/>
          </p:cNvSpPr>
          <p:nvPr/>
        </p:nvSpPr>
        <p:spPr>
          <a:xfrm>
            <a:off x="647700" y="3390900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</a:p>
        </p:txBody>
      </p:sp>
      <p:sp>
        <p:nvSpPr>
          <p:cNvPr id="14" name="competitor-title-3"/>
          <p:cNvSpPr>
            <a:spLocks noGrp="1"/>
          </p:cNvSpPr>
          <p:nvPr/>
        </p:nvSpPr>
        <p:spPr>
          <a:xfrm>
            <a:off x="1257300" y="33718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机构管理SaaS</a:t>
            </a:r>
          </a:p>
        </p:txBody>
      </p:sp>
      <p:sp>
        <p:nvSpPr>
          <p:cNvPr id="15" name="competitor-focus-3"/>
          <p:cNvSpPr>
            <a:spLocks noGrp="1"/>
          </p:cNvSpPr>
          <p:nvPr/>
        </p:nvSpPr>
        <p:spPr>
          <a:xfrm>
            <a:off x="1257300" y="37147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典型着力点：机构内部运营管理</a:t>
            </a:r>
          </a:p>
        </p:txBody>
      </p:sp>
      <p:sp>
        <p:nvSpPr>
          <p:cNvPr id="16" name="competitor-type-4"/>
          <p:cNvSpPr>
            <a:spLocks noGrp="1"/>
          </p:cNvSpPr>
          <p:nvPr/>
        </p:nvSpPr>
        <p:spPr>
          <a:xfrm>
            <a:off x="514350" y="4286250"/>
            <a:ext cx="4210050" cy="857250"/>
          </a:xfrm>
          <a:prstGeom prst="roundRect">
            <a:avLst>
              <a:gd name="adj" fmla="val 11111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17" name="competitor-num-4"/>
          <p:cNvSpPr>
            <a:spLocks noGrp="1"/>
          </p:cNvSpPr>
          <p:nvPr/>
        </p:nvSpPr>
        <p:spPr>
          <a:xfrm>
            <a:off x="647700" y="4400550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</a:p>
        </p:txBody>
      </p:sp>
      <p:sp>
        <p:nvSpPr>
          <p:cNvPr id="18" name="competitor-title-4"/>
          <p:cNvSpPr>
            <a:spLocks noGrp="1"/>
          </p:cNvSpPr>
          <p:nvPr/>
        </p:nvSpPr>
        <p:spPr>
          <a:xfrm>
            <a:off x="1257300" y="43815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本地照护服务平台</a:t>
            </a:r>
          </a:p>
        </p:txBody>
      </p:sp>
      <p:sp>
        <p:nvSpPr>
          <p:cNvPr id="19" name="competitor-focus-4"/>
          <p:cNvSpPr>
            <a:spLocks noGrp="1"/>
          </p:cNvSpPr>
          <p:nvPr/>
        </p:nvSpPr>
        <p:spPr>
          <a:xfrm>
            <a:off x="1257300" y="47244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典型着力点：服务供需与履约</a:t>
            </a:r>
          </a:p>
        </p:txBody>
      </p:sp>
      <p:sp>
        <p:nvSpPr>
          <p:cNvPr id="20" name="competitor-rule"/>
          <p:cNvSpPr>
            <a:spLocks noGrp="1"/>
          </p:cNvSpPr>
          <p:nvPr/>
        </p:nvSpPr>
        <p:spPr>
          <a:xfrm>
            <a:off x="628650" y="5410200"/>
            <a:ext cx="3981450" cy="609600"/>
          </a:xfrm>
          <a:prstGeom prst="roundRect">
            <a:avLst>
              <a:gd name="adj" fmla="val 10938"/>
            </a:avLst>
          </a:prstGeom>
          <a:solidFill>
            <a:srgbClr val="F4E3DC"/>
          </a:solidFill>
          <a:ln w="9525">
            <a:solidFill>
              <a:srgbClr val="B64A3D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 dirty="0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后台数据全链路贯穿，</a:t>
            </a:r>
            <a:r>
              <a:rPr lang="en-US" altLang="zh-CN" sz="1350" b="1" dirty="0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1350" b="1" dirty="0">
                <a:solidFill>
                  <a:srgbClr val="B64A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矩阵自进化闭环</a:t>
            </a:r>
            <a:endParaRPr sz="1350" b="1" dirty="0">
              <a:solidFill>
                <a:srgbClr val="B64A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project-contrast"/>
          <p:cNvSpPr>
            <a:spLocks noGrp="1"/>
          </p:cNvSpPr>
          <p:nvPr/>
        </p:nvSpPr>
        <p:spPr>
          <a:xfrm>
            <a:off x="5105400" y="1257300"/>
            <a:ext cx="6572250" cy="4762500"/>
          </a:xfrm>
          <a:prstGeom prst="roundRect">
            <a:avLst>
              <a:gd name="adj" fmla="val 2800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22" name="project-contrast-title"/>
          <p:cNvSpPr>
            <a:spLocks noGrp="1"/>
          </p:cNvSpPr>
          <p:nvPr/>
        </p:nvSpPr>
        <p:spPr>
          <a:xfrm>
            <a:off x="5391150" y="1390650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25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本项目原型：连接六段任务链</a:t>
            </a:r>
          </a:p>
        </p:txBody>
      </p:sp>
      <p:sp>
        <p:nvSpPr>
          <p:cNvPr id="25" name="competition-chain-1"/>
          <p:cNvSpPr>
            <a:spLocks noGrp="1"/>
          </p:cNvSpPr>
          <p:nvPr/>
        </p:nvSpPr>
        <p:spPr>
          <a:xfrm>
            <a:off x="5410200" y="4229100"/>
            <a:ext cx="857250" cy="419100"/>
          </a:xfrm>
          <a:prstGeom prst="roundRect">
            <a:avLst>
              <a:gd name="adj" fmla="val 13636"/>
            </a:avLst>
          </a:prstGeom>
          <a:solidFill>
            <a:srgbClr val="E4F1EB"/>
          </a:solidFill>
          <a:ln w="9525">
            <a:solidFill>
              <a:srgbClr val="92D4BC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</a:t>
            </a:r>
          </a:p>
        </p:txBody>
      </p:sp>
      <p:sp>
        <p:nvSpPr>
          <p:cNvPr id="26" name="competition-chain-arrow-1"/>
          <p:cNvSpPr>
            <a:spLocks noGrp="1"/>
          </p:cNvSpPr>
          <p:nvPr/>
        </p:nvSpPr>
        <p:spPr>
          <a:xfrm>
            <a:off x="6267450" y="4305300"/>
            <a:ext cx="133350" cy="247650"/>
          </a:xfrm>
          <a:prstGeom prst="rightArrow">
            <a:avLst/>
          </a:prstGeom>
          <a:solidFill>
            <a:srgbClr val="B64A3D"/>
          </a:solidFill>
          <a:ln w="0">
            <a:solidFill>
              <a:srgbClr val="B64A3D"/>
            </a:solidFill>
            <a:prstDash val="solid"/>
          </a:ln>
        </p:spPr>
      </p:sp>
      <p:sp>
        <p:nvSpPr>
          <p:cNvPr id="27" name="competition-chain-2"/>
          <p:cNvSpPr>
            <a:spLocks noGrp="1"/>
          </p:cNvSpPr>
          <p:nvPr/>
        </p:nvSpPr>
        <p:spPr>
          <a:xfrm>
            <a:off x="6400800" y="4229100"/>
            <a:ext cx="857250" cy="419100"/>
          </a:xfrm>
          <a:prstGeom prst="roundRect">
            <a:avLst>
              <a:gd name="adj" fmla="val 13636"/>
            </a:avLst>
          </a:prstGeom>
          <a:solidFill>
            <a:srgbClr val="E4F1EB"/>
          </a:solidFill>
          <a:ln w="9525">
            <a:solidFill>
              <a:srgbClr val="92D4BC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实训</a:t>
            </a:r>
          </a:p>
        </p:txBody>
      </p:sp>
      <p:sp>
        <p:nvSpPr>
          <p:cNvPr id="28" name="competition-chain-arrow-2"/>
          <p:cNvSpPr>
            <a:spLocks noGrp="1"/>
          </p:cNvSpPr>
          <p:nvPr/>
        </p:nvSpPr>
        <p:spPr>
          <a:xfrm>
            <a:off x="7258050" y="4305300"/>
            <a:ext cx="133350" cy="247650"/>
          </a:xfrm>
          <a:prstGeom prst="rightArrow">
            <a:avLst/>
          </a:prstGeom>
          <a:solidFill>
            <a:srgbClr val="B64A3D"/>
          </a:solidFill>
          <a:ln w="0">
            <a:solidFill>
              <a:srgbClr val="B64A3D"/>
            </a:solidFill>
            <a:prstDash val="solid"/>
          </a:ln>
        </p:spPr>
      </p:sp>
      <p:sp>
        <p:nvSpPr>
          <p:cNvPr id="29" name="competition-chain-3"/>
          <p:cNvSpPr>
            <a:spLocks noGrp="1"/>
          </p:cNvSpPr>
          <p:nvPr/>
        </p:nvSpPr>
        <p:spPr>
          <a:xfrm>
            <a:off x="7391400" y="4229100"/>
            <a:ext cx="857250" cy="419100"/>
          </a:xfrm>
          <a:prstGeom prst="roundRect">
            <a:avLst>
              <a:gd name="adj" fmla="val 13636"/>
            </a:avLst>
          </a:prstGeom>
          <a:solidFill>
            <a:srgbClr val="E4F1EB"/>
          </a:solidFill>
          <a:ln w="9525">
            <a:solidFill>
              <a:srgbClr val="92D4BC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</a:t>
            </a:r>
          </a:p>
        </p:txBody>
      </p:sp>
      <p:sp>
        <p:nvSpPr>
          <p:cNvPr id="30" name="competition-chain-arrow-3"/>
          <p:cNvSpPr>
            <a:spLocks noGrp="1"/>
          </p:cNvSpPr>
          <p:nvPr/>
        </p:nvSpPr>
        <p:spPr>
          <a:xfrm>
            <a:off x="8248650" y="4305300"/>
            <a:ext cx="133350" cy="247650"/>
          </a:xfrm>
          <a:prstGeom prst="rightArrow">
            <a:avLst/>
          </a:prstGeom>
          <a:solidFill>
            <a:srgbClr val="B64A3D"/>
          </a:solidFill>
          <a:ln w="0">
            <a:solidFill>
              <a:srgbClr val="B64A3D"/>
            </a:solidFill>
            <a:prstDash val="solid"/>
          </a:ln>
        </p:spPr>
      </p:sp>
      <p:sp>
        <p:nvSpPr>
          <p:cNvPr id="31" name="competition-chain-4"/>
          <p:cNvSpPr>
            <a:spLocks noGrp="1"/>
          </p:cNvSpPr>
          <p:nvPr/>
        </p:nvSpPr>
        <p:spPr>
          <a:xfrm>
            <a:off x="8382000" y="4229100"/>
            <a:ext cx="857250" cy="419100"/>
          </a:xfrm>
          <a:prstGeom prst="roundRect">
            <a:avLst>
              <a:gd name="adj" fmla="val 13636"/>
            </a:avLst>
          </a:prstGeom>
          <a:solidFill>
            <a:srgbClr val="E4F1EB"/>
          </a:solidFill>
          <a:ln w="9525">
            <a:solidFill>
              <a:srgbClr val="92D4BC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就业</a:t>
            </a:r>
          </a:p>
        </p:txBody>
      </p:sp>
      <p:sp>
        <p:nvSpPr>
          <p:cNvPr id="32" name="competition-chain-arrow-4"/>
          <p:cNvSpPr>
            <a:spLocks noGrp="1"/>
          </p:cNvSpPr>
          <p:nvPr/>
        </p:nvSpPr>
        <p:spPr>
          <a:xfrm>
            <a:off x="9239250" y="4305300"/>
            <a:ext cx="133350" cy="247650"/>
          </a:xfrm>
          <a:prstGeom prst="rightArrow">
            <a:avLst/>
          </a:prstGeom>
          <a:solidFill>
            <a:srgbClr val="B64A3D"/>
          </a:solidFill>
          <a:ln w="0">
            <a:solidFill>
              <a:srgbClr val="B64A3D"/>
            </a:solidFill>
            <a:prstDash val="solid"/>
          </a:ln>
        </p:spPr>
      </p:sp>
      <p:sp>
        <p:nvSpPr>
          <p:cNvPr id="33" name="competition-chain-5"/>
          <p:cNvSpPr>
            <a:spLocks noGrp="1"/>
          </p:cNvSpPr>
          <p:nvPr/>
        </p:nvSpPr>
        <p:spPr>
          <a:xfrm>
            <a:off x="9372600" y="4229100"/>
            <a:ext cx="857250" cy="419100"/>
          </a:xfrm>
          <a:prstGeom prst="roundRect">
            <a:avLst>
              <a:gd name="adj" fmla="val 13636"/>
            </a:avLst>
          </a:prstGeom>
          <a:solidFill>
            <a:srgbClr val="E4F1EB"/>
          </a:solidFill>
          <a:ln w="9525">
            <a:solidFill>
              <a:srgbClr val="92D4BC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</a:p>
        </p:txBody>
      </p:sp>
      <p:sp>
        <p:nvSpPr>
          <p:cNvPr id="34" name="competition-chain-arrow-5"/>
          <p:cNvSpPr>
            <a:spLocks noGrp="1"/>
          </p:cNvSpPr>
          <p:nvPr/>
        </p:nvSpPr>
        <p:spPr>
          <a:xfrm>
            <a:off x="10229850" y="4305300"/>
            <a:ext cx="133350" cy="247650"/>
          </a:xfrm>
          <a:prstGeom prst="rightArrow">
            <a:avLst/>
          </a:prstGeom>
          <a:solidFill>
            <a:srgbClr val="B64A3D"/>
          </a:solidFill>
          <a:ln w="0">
            <a:solidFill>
              <a:srgbClr val="B64A3D"/>
            </a:solidFill>
            <a:prstDash val="solid"/>
          </a:ln>
        </p:spPr>
      </p:sp>
      <p:sp>
        <p:nvSpPr>
          <p:cNvPr id="35" name="competition-chain-6"/>
          <p:cNvSpPr>
            <a:spLocks noGrp="1"/>
          </p:cNvSpPr>
          <p:nvPr/>
        </p:nvSpPr>
        <p:spPr>
          <a:xfrm>
            <a:off x="10363200" y="4229100"/>
            <a:ext cx="857250" cy="419100"/>
          </a:xfrm>
          <a:prstGeom prst="roundRect">
            <a:avLst>
              <a:gd name="adj" fmla="val 13636"/>
            </a:avLst>
          </a:prstGeom>
          <a:solidFill>
            <a:srgbClr val="E4F1EB"/>
          </a:solidFill>
          <a:ln w="9525">
            <a:solidFill>
              <a:srgbClr val="92D4BC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留痕</a:t>
            </a:r>
          </a:p>
        </p:txBody>
      </p:sp>
      <p:sp>
        <p:nvSpPr>
          <p:cNvPr id="36" name="project-difference"/>
          <p:cNvSpPr>
            <a:spLocks noGrp="1"/>
          </p:cNvSpPr>
          <p:nvPr/>
        </p:nvSpPr>
        <p:spPr>
          <a:xfrm>
            <a:off x="5562600" y="4895850"/>
            <a:ext cx="5657850" cy="781050"/>
          </a:xfrm>
          <a:prstGeom prst="roundRect">
            <a:avLst>
              <a:gd name="adj" fmla="val 9756"/>
            </a:avLst>
          </a:prstGeom>
          <a:solidFill>
            <a:srgbClr val="2E6A56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差异化假设：用同一条成长证据链连接学习、就业与服务</a:t>
            </a: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已证明：原型呈现｜待证明：真实效果与商业价值</a:t>
            </a:r>
          </a:p>
        </p:txBody>
      </p:sp>
      <p:sp>
        <p:nvSpPr>
          <p:cNvPr id="37" name="folio-box-13"/>
          <p:cNvSpPr>
            <a:spLocks noGrp="1"/>
          </p:cNvSpPr>
          <p:nvPr/>
        </p:nvSpPr>
        <p:spPr>
          <a:xfrm>
            <a:off x="95250" y="6419850"/>
            <a:ext cx="400050" cy="333375"/>
          </a:xfrm>
          <a:prstGeom prst="rect">
            <a:avLst/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38" name="folio-13"/>
          <p:cNvSpPr>
            <a:spLocks noGrp="1"/>
          </p:cNvSpPr>
          <p:nvPr/>
        </p:nvSpPr>
        <p:spPr>
          <a:xfrm>
            <a:off x="114300" y="64198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lang="en-US" altLang="zh-CN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80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" name="folio-caption-13"/>
          <p:cNvSpPr>
            <a:spLocks noGrp="1"/>
          </p:cNvSpPr>
          <p:nvPr/>
        </p:nvSpPr>
        <p:spPr>
          <a:xfrm>
            <a:off x="552450" y="64770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COMPETITION BY TASK CHAIN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510" y="1845310"/>
            <a:ext cx="4424680" cy="22517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team5-paper-background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am5-section"/>
          <p:cNvSpPr>
            <a:spLocks noGrp="1"/>
          </p:cNvSpPr>
          <p:nvPr/>
        </p:nvSpPr>
        <p:spPr>
          <a:xfrm>
            <a:off x="514350" y="2381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团队展示  ·  并肩同行</a:t>
            </a:r>
          </a:p>
        </p:txBody>
      </p:sp>
      <p:sp>
        <p:nvSpPr>
          <p:cNvPr id="3" name="team5-title"/>
          <p:cNvSpPr>
            <a:spLocks noGrp="1"/>
          </p:cNvSpPr>
          <p:nvPr/>
        </p:nvSpPr>
        <p:spPr>
          <a:xfrm>
            <a:off x="514350" y="523875"/>
            <a:ext cx="838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773"/>
          </a:bodyPr>
          <a:lstStyle/>
          <a:p>
            <a:pPr algn="l">
              <a:lnSpc>
                <a:spcPct val="105000"/>
              </a:lnSpc>
              <a:buNone/>
              <a:defRPr sz="262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625" b="1" dirty="0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</a:t>
            </a:r>
            <a:r>
              <a:rPr sz="2625" b="1" dirty="0" err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位成员，共同把项目做到真实场景</a:t>
            </a:r>
            <a:endParaRPr sz="2625" b="1" dirty="0">
              <a:solidFill>
                <a:srgbClr val="0D3A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am5-subtitle"/>
          <p:cNvSpPr>
            <a:spLocks noGrp="1"/>
          </p:cNvSpPr>
          <p:nvPr/>
        </p:nvSpPr>
        <p:spPr>
          <a:xfrm>
            <a:off x="533400" y="1019175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0" dirty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实战</a:t>
            </a:r>
            <a:r>
              <a:rPr lang="en-US" altLang="zh-CN" sz="1350" b="0" dirty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350" b="0" dirty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应用落地能力</a:t>
            </a:r>
            <a:r>
              <a:rPr lang="en-US" altLang="zh-CN" sz="1350" b="0" dirty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</a:t>
            </a:r>
            <a:r>
              <a:rPr lang="zh-CN" altLang="en-US" sz="1350" b="0" dirty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垂类专业背景</a:t>
            </a:r>
            <a:endParaRPr sz="1350" b="0" dirty="0">
              <a:solidFill>
                <a:srgbClr val="263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am5-member-01-card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28650" y="1466850"/>
            <a:ext cx="5219700" cy="3448685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123825">
            <a:solidFill>
              <a:srgbClr val="D4CDBE"/>
            </a:solidFill>
            <a:prstDash val="solid"/>
          </a:ln>
        </p:spPr>
      </p:sp>
      <p:sp>
        <p:nvSpPr>
          <p:cNvPr id="6" name="team5-member-01-accent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28650" y="1466850"/>
            <a:ext cx="57150" cy="1638300"/>
          </a:xfrm>
          <a:prstGeom prst="rect">
            <a:avLst/>
          </a:prstGeom>
          <a:solidFill>
            <a:srgbClr val="92D4BC"/>
          </a:solidFill>
          <a:ln w="0">
            <a:noFill/>
            <a:prstDash val="solid"/>
          </a:ln>
        </p:spPr>
      </p:sp>
      <p:sp>
        <p:nvSpPr>
          <p:cNvPr id="7" name="team5-member-01-portrait-frame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57250" y="2060575"/>
            <a:ext cx="1123950" cy="1333500"/>
          </a:xfrm>
          <a:prstGeom prst="rect">
            <a:avLst/>
          </a:prstGeom>
          <a:solidFill>
            <a:srgbClr val="FFFDF8"/>
          </a:solidFill>
          <a:ln w="19050">
            <a:solidFill>
              <a:srgbClr val="92D4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5" name="team5-member-01-portrait-placeholder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1" b="1681"/>
          <a:stretch>
            <a:fillRect/>
          </a:stretch>
        </p:blipFill>
        <p:spPr>
          <a:xfrm>
            <a:off x="914400" y="2132965"/>
            <a:ext cx="1009650" cy="1219200"/>
          </a:xfrm>
          <a:prstGeom prst="rect">
            <a:avLst/>
          </a:prstGeom>
        </p:spPr>
      </p:pic>
      <p:sp>
        <p:nvSpPr>
          <p:cNvPr id="9" name="team5-member-01-index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33450" y="356108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92D4B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92D4B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11" name="team5-member-01-copy-space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247900" y="1845310"/>
            <a:ext cx="3314700" cy="2847975"/>
          </a:xfrm>
          <a:prstGeom prst="roundRect">
            <a:avLst>
              <a:gd name="adj" fmla="val 9524"/>
            </a:avLst>
          </a:prstGeom>
          <a:solidFill>
            <a:srgbClr val="F4F0E6"/>
          </a:solidFill>
          <a:ln w="66675">
            <a:solidFill>
              <a:srgbClr val="D4CDBE"/>
            </a:solidFill>
            <a:prstDash val="solid"/>
          </a:ln>
        </p:spPr>
      </p:sp>
      <p:sp>
        <p:nvSpPr>
          <p:cNvPr id="12" name="team5-member-01-quote-mark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381250" y="206121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8047" lnSpcReduction="10000"/>
          </a:bodyPr>
          <a:lstStyle/>
          <a:p>
            <a:pPr algn="l">
              <a:lnSpc>
                <a:spcPct val="105000"/>
              </a:lnSpc>
              <a:buNone/>
              <a:defRPr sz="2025" b="0">
                <a:solidFill>
                  <a:srgbClr val="92D4BC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025" b="0">
                <a:solidFill>
                  <a:srgbClr val="92D4BC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“</a:t>
            </a:r>
          </a:p>
        </p:txBody>
      </p:sp>
      <p:sp>
        <p:nvSpPr>
          <p:cNvPr id="13" name="team5-member-01-copy-placeholder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567305" y="2091055"/>
            <a:ext cx="2819400" cy="22269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15" b="0">
                <a:solidFill>
                  <a:srgbClr val="6A74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华中科技大学网络空间安全学院</a:t>
            </a:r>
            <a:r>
              <a:rPr lang="zh-CN" altLang="en-US" sz="1200" b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博士研究生，</a:t>
            </a: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网络与信息安全专业。曾获</a:t>
            </a:r>
            <a:r>
              <a:rPr lang="en-US" altLang="zh-CN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2025</a:t>
            </a: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年“华为杯”第四届中国研究生网络安全创新大赛全国一等奖，</a:t>
            </a:r>
            <a:r>
              <a:rPr lang="en-US" altLang="zh-CN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</a:t>
            </a: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年华中科技大学首届创意</a:t>
            </a:r>
            <a:r>
              <a:rPr lang="en-US" altLang="zh-CN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智能体校园开发大赛一等奖，国际大学生程序设计竞赛亚洲区域赛铜牌。</a:t>
            </a:r>
            <a:r>
              <a:rPr lang="en-US" altLang="zh-CN" sz="1200" b="0" dirty="0" err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Dify</a:t>
            </a: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开源仓库贡献者，熟悉智能体架构与开发。</a:t>
            </a:r>
            <a:endParaRPr sz="1200" b="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team5-member-04-card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343650" y="1466850"/>
            <a:ext cx="5219700" cy="344805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123825">
            <a:solidFill>
              <a:srgbClr val="D4CDBE"/>
            </a:solidFill>
            <a:prstDash val="solid"/>
          </a:ln>
        </p:spPr>
      </p:sp>
      <p:sp>
        <p:nvSpPr>
          <p:cNvPr id="34" name="team5-member-04-portrait-frame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629400" y="2018665"/>
            <a:ext cx="1123950" cy="1333500"/>
          </a:xfrm>
          <a:prstGeom prst="rect">
            <a:avLst/>
          </a:prstGeom>
          <a:solidFill>
            <a:srgbClr val="FFFDF8"/>
          </a:solidFill>
          <a:ln w="19050">
            <a:solidFill>
              <a:srgbClr val="6B8E83"/>
            </a:solidFill>
            <a:prstDash val="solid"/>
          </a:ln>
        </p:spPr>
      </p:sp>
      <p:pic>
        <p:nvPicPr>
          <p:cNvPr id="82" name="team5-member-04-portrait-placeholder" descr="C:/Users/AIMFl/OneDrive/图片/孔德羽 (2).jpg孔德羽 (2)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2"/>
          <a:srcRect t="6855" b="6855"/>
          <a:stretch>
            <a:fillRect/>
          </a:stretch>
        </p:blipFill>
        <p:spPr>
          <a:xfrm>
            <a:off x="6686550" y="2091055"/>
            <a:ext cx="1009650" cy="1219200"/>
          </a:xfrm>
          <a:prstGeom prst="rect">
            <a:avLst/>
          </a:prstGeom>
        </p:spPr>
      </p:pic>
      <p:sp>
        <p:nvSpPr>
          <p:cNvPr id="36" name="team5-member-04-index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619875" y="356108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00" b="1">
                <a:solidFill>
                  <a:srgbClr val="6B8E8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6B8E8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sz="900" b="1">
                <a:solidFill>
                  <a:srgbClr val="6B8E8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</a:p>
        </p:txBody>
      </p:sp>
      <p:sp>
        <p:nvSpPr>
          <p:cNvPr id="37" name="team5-member-04-name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816090" y="373824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72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孔德羽</a:t>
            </a:r>
          </a:p>
        </p:txBody>
      </p:sp>
      <p:sp>
        <p:nvSpPr>
          <p:cNvPr id="38" name="team5-member-04-copy-space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962900" y="1845310"/>
            <a:ext cx="3314700" cy="2850515"/>
          </a:xfrm>
          <a:prstGeom prst="roundRect">
            <a:avLst>
              <a:gd name="adj" fmla="val 9524"/>
            </a:avLst>
          </a:prstGeom>
          <a:solidFill>
            <a:srgbClr val="F4F0E6"/>
          </a:solidFill>
          <a:ln w="66675">
            <a:solidFill>
              <a:srgbClr val="D4CDBE"/>
            </a:solidFill>
            <a:prstDash val="solid"/>
          </a:ln>
        </p:spPr>
      </p:sp>
      <p:sp>
        <p:nvSpPr>
          <p:cNvPr id="39" name="team5-member-04-quote-mark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096250" y="206121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8047" lnSpcReduction="10000"/>
          </a:bodyPr>
          <a:lstStyle/>
          <a:p>
            <a:pPr algn="l">
              <a:lnSpc>
                <a:spcPct val="105000"/>
              </a:lnSpc>
              <a:buNone/>
              <a:defRPr sz="2025" b="0">
                <a:solidFill>
                  <a:srgbClr val="6B8E83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pPr>
            <a:r>
              <a:rPr sz="2025" b="0">
                <a:solidFill>
                  <a:srgbClr val="6B8E83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“</a:t>
            </a:r>
          </a:p>
        </p:txBody>
      </p:sp>
      <p:sp>
        <p:nvSpPr>
          <p:cNvPr id="40" name="team5-member-04-copy-placeholder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8324850" y="2086610"/>
            <a:ext cx="2819400" cy="25139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15" b="0">
                <a:solidFill>
                  <a:srgbClr val="6A74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华中科技大学同济医学院强基计划实验班本科生，基础医学专业。华中科技大学同济医学院基础医学院医路求索宣讲团（校级）技术组组长；</a:t>
            </a:r>
            <a:r>
              <a:rPr lang="en-US" altLang="zh-CN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</a:t>
            </a: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年华中科技大学首届创意</a:t>
            </a:r>
            <a:r>
              <a:rPr lang="en-US" altLang="zh-CN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智能体校园开发大赛三等奖；华中科技大学</a:t>
            </a:r>
            <a:r>
              <a:rPr lang="en-US" altLang="zh-CN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</a:t>
            </a: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年度寒假返家乡社会实践项目院级优秀队伍技术组成员；第二届（</a:t>
            </a:r>
            <a:r>
              <a:rPr lang="en-US" altLang="zh-CN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2025</a:t>
            </a: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年）</a:t>
            </a:r>
            <a:r>
              <a:rPr lang="en-US" altLang="zh-CN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中国高校计算机大赛</a:t>
            </a:r>
            <a:r>
              <a:rPr lang="en-US" altLang="zh-CN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-AIGC</a:t>
            </a: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创新赛</a:t>
            </a:r>
            <a:r>
              <a:rPr lang="en-US" altLang="zh-CN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决赛二等奖（省级）；</a:t>
            </a:r>
            <a:r>
              <a:rPr lang="en-US" altLang="zh-CN" sz="1200" b="0" dirty="0" err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AdventureX</a:t>
            </a:r>
            <a:r>
              <a:rPr lang="en-US" altLang="zh-CN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2026 </a:t>
            </a: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全国青年</a:t>
            </a:r>
            <a:r>
              <a:rPr lang="en-US" altLang="zh-CN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黑客松大会</a:t>
            </a:r>
            <a:r>
              <a:rPr lang="en-US" altLang="zh-CN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- </a:t>
            </a:r>
            <a:r>
              <a:rPr lang="zh-CN" altLang="en-US" sz="1200" b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阶跃星辰赛道三等奖</a:t>
            </a:r>
          </a:p>
        </p:txBody>
      </p:sp>
      <p:sp>
        <p:nvSpPr>
          <p:cNvPr id="41" name="team5-shared-goal"/>
          <p:cNvSpPr>
            <a:spLocks noGrp="1"/>
          </p:cNvSpPr>
          <p:nvPr/>
        </p:nvSpPr>
        <p:spPr>
          <a:xfrm>
            <a:off x="2381250" y="5434965"/>
            <a:ext cx="7429500" cy="400050"/>
          </a:xfrm>
          <a:prstGeom prst="roundRect">
            <a:avLst>
              <a:gd name="adj" fmla="val 19048"/>
            </a:avLst>
          </a:prstGeom>
          <a:solidFill>
            <a:srgbClr val="0D3A2D"/>
          </a:solidFill>
          <a:ln w="85725">
            <a:solidFill>
              <a:srgbClr val="0D3A2D"/>
            </a:solidFill>
            <a:prstDash val="solid"/>
          </a:ln>
        </p:spPr>
      </p:sp>
      <p:sp>
        <p:nvSpPr>
          <p:cNvPr id="42" name="team5-shared-goal-text"/>
          <p:cNvSpPr>
            <a:spLocks noGrp="1"/>
          </p:cNvSpPr>
          <p:nvPr/>
        </p:nvSpPr>
        <p:spPr>
          <a:xfrm>
            <a:off x="2533650" y="5434965"/>
            <a:ext cx="7124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C7EB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EB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同一目标  ·  并肩协作  ·  共同交付</a:t>
            </a:r>
          </a:p>
        </p:txBody>
      </p:sp>
      <p:sp>
        <p:nvSpPr>
          <p:cNvPr id="43" name="team5-footer"/>
          <p:cNvSpPr>
            <a:spLocks noGrp="1"/>
          </p:cNvSpPr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rgbClr val="0D3A2D"/>
          </a:solidFill>
          <a:ln w="0">
            <a:noFill/>
            <a:prstDash val="solid"/>
          </a:ln>
        </p:spPr>
      </p:sp>
      <p:sp>
        <p:nvSpPr>
          <p:cNvPr id="44" name="team5-footer-page"/>
          <p:cNvSpPr>
            <a:spLocks noGrp="1"/>
          </p:cNvSpPr>
          <p:nvPr/>
        </p:nvSpPr>
        <p:spPr>
          <a:xfrm>
            <a:off x="457200" y="6400800"/>
            <a:ext cx="400050" cy="304800"/>
          </a:xfrm>
          <a:prstGeom prst="rect">
            <a:avLst/>
          </a:prstGeom>
          <a:solidFill>
            <a:srgbClr val="92D4BC"/>
          </a:solidFill>
          <a:ln w="0">
            <a:noFill/>
            <a:prstDash val="solid"/>
          </a:ln>
        </p:spPr>
      </p:sp>
      <p:sp>
        <p:nvSpPr>
          <p:cNvPr id="45" name="team5-footer-page-text"/>
          <p:cNvSpPr>
            <a:spLocks noGrp="1"/>
          </p:cNvSpPr>
          <p:nvPr/>
        </p:nvSpPr>
        <p:spPr>
          <a:xfrm>
            <a:off x="457200" y="640080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lang="en-US" altLang="zh-CN" sz="1500" b="1" dirty="0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500" b="1" dirty="0">
              <a:solidFill>
                <a:srgbClr val="0D3A2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team5-footer-full-name"/>
          <p:cNvSpPr>
            <a:spLocks noGrp="1"/>
          </p:cNvSpPr>
          <p:nvPr/>
        </p:nvSpPr>
        <p:spPr>
          <a:xfrm>
            <a:off x="1066800" y="6391275"/>
            <a:ext cx="826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C7EB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EBD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颐路同行——基于多智能体协同的护理康养人才成长与照护服务平台</a:t>
            </a:r>
          </a:p>
        </p:txBody>
      </p:sp>
      <p:sp>
        <p:nvSpPr>
          <p:cNvPr id="47" name="team5-footer-label"/>
          <p:cNvSpPr>
            <a:spLocks noGrp="1"/>
          </p:cNvSpPr>
          <p:nvPr/>
        </p:nvSpPr>
        <p:spPr>
          <a:xfrm>
            <a:off x="9620250" y="64103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 · 并肩向前</a:t>
            </a:r>
          </a:p>
        </p:txBody>
      </p:sp>
      <p:sp>
        <p:nvSpPr>
          <p:cNvPr id="50" name="team5-member-04-name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1066800" y="373824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25" b="1" dirty="0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万祚全</a:t>
            </a:r>
            <a:endParaRPr lang="en-US" altLang="zh-CN" sz="1725" b="1" dirty="0">
              <a:solidFill>
                <a:srgbClr val="0D3A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backgroun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-title"/>
          <p:cNvSpPr>
            <a:spLocks noGrp="1"/>
          </p:cNvSpPr>
          <p:nvPr/>
        </p:nvSpPr>
        <p:spPr>
          <a:xfrm>
            <a:off x="514350" y="228600"/>
            <a:ext cx="11163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 fontScale="97289"/>
          </a:bodyPr>
          <a:lstStyle/>
          <a:p>
            <a:pPr algn="l">
              <a:lnSpc>
                <a:spcPct val="108000"/>
              </a:lnSpc>
              <a:buNone/>
              <a:def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验证三件事：学得会、进得去、交付稳</a:t>
            </a: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666750" y="833755"/>
            <a:ext cx="1085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围绕学习有效、就业转化、服务交付三大结果，建立可复验的基线与复验机制</a:t>
            </a:r>
          </a:p>
        </p:txBody>
      </p:sp>
      <p:sp>
        <p:nvSpPr>
          <p:cNvPr id="4" name="future-1"/>
          <p:cNvSpPr>
            <a:spLocks noGrp="1"/>
          </p:cNvSpPr>
          <p:nvPr/>
        </p:nvSpPr>
        <p:spPr>
          <a:xfrm>
            <a:off x="514350" y="1200150"/>
            <a:ext cx="3524250" cy="3333750"/>
          </a:xfrm>
          <a:prstGeom prst="roundRect">
            <a:avLst>
              <a:gd name="adj" fmla="val 3429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5" name="future-num-1"/>
          <p:cNvSpPr>
            <a:spLocks noGrp="1"/>
          </p:cNvSpPr>
          <p:nvPr/>
        </p:nvSpPr>
        <p:spPr>
          <a:xfrm>
            <a:off x="685800" y="1333500"/>
            <a:ext cx="400050" cy="400050"/>
          </a:xfrm>
          <a:prstGeom prst="roundRect">
            <a:avLst>
              <a:gd name="adj" fmla="val 14286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 fontScale="95032"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6" name="future-title-1"/>
          <p:cNvSpPr>
            <a:spLocks noGrp="1"/>
          </p:cNvSpPr>
          <p:nvPr/>
        </p:nvSpPr>
        <p:spPr>
          <a:xfrm>
            <a:off x="1200150" y="1352550"/>
            <a:ext cx="2552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学习有效</a:t>
            </a:r>
          </a:p>
        </p:txBody>
      </p:sp>
      <p:sp>
        <p:nvSpPr>
          <p:cNvPr id="7" name="future-source-label-1"/>
          <p:cNvSpPr>
            <a:spLocks noGrp="1"/>
          </p:cNvSpPr>
          <p:nvPr/>
        </p:nvSpPr>
        <p:spPr>
          <a:xfrm>
            <a:off x="742950" y="1943100"/>
            <a:ext cx="819150" cy="266700"/>
          </a:xfrm>
          <a:prstGeom prst="roundRect">
            <a:avLst>
              <a:gd name="adj" fmla="val 17857"/>
            </a:avLst>
          </a:prstGeom>
          <a:solidFill>
            <a:srgbClr val="2E6A56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</a:t>
            </a:r>
          </a:p>
        </p:txBody>
      </p:sp>
      <p:sp>
        <p:nvSpPr>
          <p:cNvPr id="8" name="future-source-1"/>
          <p:cNvSpPr>
            <a:spLocks noGrp="1"/>
          </p:cNvSpPr>
          <p:nvPr/>
        </p:nvSpPr>
        <p:spPr>
          <a:xfrm>
            <a:off x="742950" y="2266950"/>
            <a:ext cx="3067050" cy="552450"/>
          </a:xfrm>
          <a:prstGeom prst="roundRect">
            <a:avLst>
              <a:gd name="adj" fmla="val 12069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课程记录 · 实操记录 · 考试记录</a:t>
            </a:r>
          </a:p>
        </p:txBody>
      </p:sp>
      <p:sp>
        <p:nvSpPr>
          <p:cNvPr id="9" name="future-flow-1"/>
          <p:cNvSpPr>
            <a:spLocks noGrp="1"/>
          </p:cNvSpPr>
          <p:nvPr/>
        </p:nvSpPr>
        <p:spPr>
          <a:xfrm rot="5400000">
            <a:off x="2076450" y="3039110"/>
            <a:ext cx="400050" cy="285750"/>
          </a:xfrm>
          <a:prstGeom prst="rightArrow">
            <a:avLst/>
          </a:prstGeom>
          <a:solidFill>
            <a:srgbClr val="B64A3D"/>
          </a:solidFill>
          <a:ln w="0">
            <a:solidFill>
              <a:srgbClr val="B64A3D"/>
            </a:solidFill>
            <a:prstDash val="solid"/>
          </a:ln>
        </p:spPr>
      </p:sp>
      <p:sp>
        <p:nvSpPr>
          <p:cNvPr id="10" name="future-output-label-1"/>
          <p:cNvSpPr>
            <a:spLocks noGrp="1"/>
          </p:cNvSpPr>
          <p:nvPr/>
        </p:nvSpPr>
        <p:spPr>
          <a:xfrm>
            <a:off x="742950" y="3276600"/>
            <a:ext cx="819150" cy="266700"/>
          </a:xfrm>
          <a:prstGeom prst="roundRect">
            <a:avLst>
              <a:gd name="adj" fmla="val 17857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验证输出</a:t>
            </a:r>
          </a:p>
        </p:txBody>
      </p:sp>
      <p:sp>
        <p:nvSpPr>
          <p:cNvPr id="11" name="future-output-1"/>
          <p:cNvSpPr>
            <a:spLocks noGrp="1"/>
          </p:cNvSpPr>
          <p:nvPr/>
        </p:nvSpPr>
        <p:spPr>
          <a:xfrm>
            <a:off x="742950" y="3600450"/>
            <a:ext cx="3067050" cy="514350"/>
          </a:xfrm>
          <a:prstGeom prst="roundRect">
            <a:avLst>
              <a:gd name="adj" fmla="val 12963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课程完成率</a:t>
            </a:r>
          </a:p>
          <a:p>
            <a:pPr algn="ctr">
              <a:lnSpc>
                <a:spcPct val="108000"/>
              </a:lnSpc>
              <a:buNone/>
              <a:defRPr sz="12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实操达标率｜首次取证通过率</a:t>
            </a:r>
          </a:p>
        </p:txBody>
      </p:sp>
      <p:sp>
        <p:nvSpPr>
          <p:cNvPr id="13" name="future-2"/>
          <p:cNvSpPr>
            <a:spLocks noGrp="1"/>
          </p:cNvSpPr>
          <p:nvPr/>
        </p:nvSpPr>
        <p:spPr>
          <a:xfrm>
            <a:off x="4371975" y="1200150"/>
            <a:ext cx="3524250" cy="3333750"/>
          </a:xfrm>
          <a:prstGeom prst="roundRect">
            <a:avLst>
              <a:gd name="adj" fmla="val 3429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14" name="future-num-2"/>
          <p:cNvSpPr>
            <a:spLocks noGrp="1"/>
          </p:cNvSpPr>
          <p:nvPr/>
        </p:nvSpPr>
        <p:spPr>
          <a:xfrm>
            <a:off x="4543425" y="1333500"/>
            <a:ext cx="400050" cy="400050"/>
          </a:xfrm>
          <a:prstGeom prst="roundRect">
            <a:avLst>
              <a:gd name="adj" fmla="val 14286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 fontScale="95032"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15" name="future-title-2"/>
          <p:cNvSpPr>
            <a:spLocks noGrp="1"/>
          </p:cNvSpPr>
          <p:nvPr/>
        </p:nvSpPr>
        <p:spPr>
          <a:xfrm>
            <a:off x="5057775" y="1352550"/>
            <a:ext cx="2552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就业转化</a:t>
            </a:r>
          </a:p>
        </p:txBody>
      </p:sp>
      <p:sp>
        <p:nvSpPr>
          <p:cNvPr id="16" name="future-source-label-2"/>
          <p:cNvSpPr>
            <a:spLocks noGrp="1"/>
          </p:cNvSpPr>
          <p:nvPr/>
        </p:nvSpPr>
        <p:spPr>
          <a:xfrm>
            <a:off x="4600575" y="1943100"/>
            <a:ext cx="819150" cy="266700"/>
          </a:xfrm>
          <a:prstGeom prst="roundRect">
            <a:avLst>
              <a:gd name="adj" fmla="val 17857"/>
            </a:avLst>
          </a:prstGeom>
          <a:solidFill>
            <a:srgbClr val="2E6A56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</a:t>
            </a:r>
          </a:p>
        </p:txBody>
      </p:sp>
      <p:sp>
        <p:nvSpPr>
          <p:cNvPr id="17" name="future-source-2"/>
          <p:cNvSpPr>
            <a:spLocks noGrp="1"/>
          </p:cNvSpPr>
          <p:nvPr/>
        </p:nvSpPr>
        <p:spPr>
          <a:xfrm>
            <a:off x="4600575" y="2266950"/>
            <a:ext cx="3067050" cy="552450"/>
          </a:xfrm>
          <a:prstGeom prst="roundRect">
            <a:avLst>
              <a:gd name="adj" fmla="val 12069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核验入职记录 · 在岗状态记录</a:t>
            </a:r>
          </a:p>
        </p:txBody>
      </p:sp>
      <p:sp>
        <p:nvSpPr>
          <p:cNvPr id="18" name="future-flow-2"/>
          <p:cNvSpPr>
            <a:spLocks noGrp="1"/>
          </p:cNvSpPr>
          <p:nvPr/>
        </p:nvSpPr>
        <p:spPr>
          <a:xfrm rot="5400000">
            <a:off x="5934075" y="3039110"/>
            <a:ext cx="400050" cy="285750"/>
          </a:xfrm>
          <a:prstGeom prst="rightArrow">
            <a:avLst/>
          </a:prstGeom>
          <a:solidFill>
            <a:srgbClr val="B64A3D"/>
          </a:solidFill>
          <a:ln w="0">
            <a:solidFill>
              <a:srgbClr val="B64A3D"/>
            </a:solidFill>
            <a:prstDash val="solid"/>
          </a:ln>
        </p:spPr>
      </p:sp>
      <p:sp>
        <p:nvSpPr>
          <p:cNvPr id="19" name="future-output-label-2"/>
          <p:cNvSpPr>
            <a:spLocks noGrp="1"/>
          </p:cNvSpPr>
          <p:nvPr/>
        </p:nvSpPr>
        <p:spPr>
          <a:xfrm>
            <a:off x="4600575" y="3276600"/>
            <a:ext cx="819150" cy="266700"/>
          </a:xfrm>
          <a:prstGeom prst="roundRect">
            <a:avLst>
              <a:gd name="adj" fmla="val 17857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验证输出</a:t>
            </a:r>
          </a:p>
        </p:txBody>
      </p:sp>
      <p:sp>
        <p:nvSpPr>
          <p:cNvPr id="20" name="future-output-2"/>
          <p:cNvSpPr>
            <a:spLocks noGrp="1"/>
          </p:cNvSpPr>
          <p:nvPr/>
        </p:nvSpPr>
        <p:spPr>
          <a:xfrm>
            <a:off x="4600575" y="3600450"/>
            <a:ext cx="3067050" cy="514350"/>
          </a:xfrm>
          <a:prstGeom prst="roundRect">
            <a:avLst>
              <a:gd name="adj" fmla="val 12963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dirty="0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30日入职率｜90日在岗率</a:t>
            </a:r>
          </a:p>
        </p:txBody>
      </p:sp>
      <p:sp>
        <p:nvSpPr>
          <p:cNvPr id="22" name="future-3"/>
          <p:cNvSpPr>
            <a:spLocks noGrp="1"/>
          </p:cNvSpPr>
          <p:nvPr/>
        </p:nvSpPr>
        <p:spPr>
          <a:xfrm>
            <a:off x="8229600" y="1200150"/>
            <a:ext cx="3524250" cy="3333750"/>
          </a:xfrm>
          <a:prstGeom prst="roundRect">
            <a:avLst>
              <a:gd name="adj" fmla="val 3429"/>
            </a:avLst>
          </a:prstGeom>
          <a:solidFill>
            <a:srgbClr val="FFFDF8"/>
          </a:solidFill>
          <a:ln w="9525">
            <a:solidFill>
              <a:srgbClr val="C9C2B3"/>
            </a:solidFill>
            <a:prstDash val="solid"/>
          </a:ln>
        </p:spPr>
      </p:sp>
      <p:sp>
        <p:nvSpPr>
          <p:cNvPr id="23" name="future-num-3"/>
          <p:cNvSpPr>
            <a:spLocks noGrp="1"/>
          </p:cNvSpPr>
          <p:nvPr/>
        </p:nvSpPr>
        <p:spPr>
          <a:xfrm>
            <a:off x="8401050" y="1333500"/>
            <a:ext cx="400050" cy="400050"/>
          </a:xfrm>
          <a:prstGeom prst="roundRect">
            <a:avLst>
              <a:gd name="adj" fmla="val 14286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 fontScale="95032"/>
          </a:bodyPr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24" name="future-title-3"/>
          <p:cNvSpPr>
            <a:spLocks noGrp="1"/>
          </p:cNvSpPr>
          <p:nvPr/>
        </p:nvSpPr>
        <p:spPr>
          <a:xfrm>
            <a:off x="8915400" y="1352550"/>
            <a:ext cx="2552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服务交付</a:t>
            </a:r>
          </a:p>
        </p:txBody>
      </p:sp>
      <p:sp>
        <p:nvSpPr>
          <p:cNvPr id="25" name="future-source-label-3"/>
          <p:cNvSpPr>
            <a:spLocks noGrp="1"/>
          </p:cNvSpPr>
          <p:nvPr/>
        </p:nvSpPr>
        <p:spPr>
          <a:xfrm>
            <a:off x="8458200" y="1943100"/>
            <a:ext cx="819150" cy="266700"/>
          </a:xfrm>
          <a:prstGeom prst="roundRect">
            <a:avLst>
              <a:gd name="adj" fmla="val 17857"/>
            </a:avLst>
          </a:prstGeom>
          <a:solidFill>
            <a:srgbClr val="2E6A56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</a:t>
            </a:r>
          </a:p>
        </p:txBody>
      </p:sp>
      <p:sp>
        <p:nvSpPr>
          <p:cNvPr id="26" name="future-source-3"/>
          <p:cNvSpPr>
            <a:spLocks noGrp="1"/>
          </p:cNvSpPr>
          <p:nvPr/>
        </p:nvSpPr>
        <p:spPr>
          <a:xfrm>
            <a:off x="8458200" y="2266950"/>
            <a:ext cx="3067050" cy="552450"/>
          </a:xfrm>
          <a:prstGeom prst="roundRect">
            <a:avLst>
              <a:gd name="adj" fmla="val 12069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订单记录 · 履约记录 · 风险事件</a:t>
            </a:r>
          </a:p>
        </p:txBody>
      </p:sp>
      <p:sp>
        <p:nvSpPr>
          <p:cNvPr id="27" name="future-flow-3"/>
          <p:cNvSpPr>
            <a:spLocks noGrp="1"/>
          </p:cNvSpPr>
          <p:nvPr/>
        </p:nvSpPr>
        <p:spPr>
          <a:xfrm rot="5400000">
            <a:off x="9791700" y="3039110"/>
            <a:ext cx="400050" cy="285750"/>
          </a:xfrm>
          <a:prstGeom prst="rightArrow">
            <a:avLst/>
          </a:prstGeom>
          <a:solidFill>
            <a:srgbClr val="B64A3D"/>
          </a:solidFill>
          <a:ln w="0">
            <a:solidFill>
              <a:srgbClr val="B64A3D"/>
            </a:solidFill>
            <a:prstDash val="solid"/>
          </a:ln>
        </p:spPr>
      </p:sp>
      <p:sp>
        <p:nvSpPr>
          <p:cNvPr id="28" name="future-output-label-3"/>
          <p:cNvSpPr>
            <a:spLocks noGrp="1"/>
          </p:cNvSpPr>
          <p:nvPr/>
        </p:nvSpPr>
        <p:spPr>
          <a:xfrm>
            <a:off x="8458200" y="3276600"/>
            <a:ext cx="819150" cy="266700"/>
          </a:xfrm>
          <a:prstGeom prst="roundRect">
            <a:avLst>
              <a:gd name="adj" fmla="val 17857"/>
            </a:avLst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验证输出</a:t>
            </a:r>
          </a:p>
        </p:txBody>
      </p:sp>
      <p:sp>
        <p:nvSpPr>
          <p:cNvPr id="29" name="future-output-3"/>
          <p:cNvSpPr>
            <a:spLocks noGrp="1"/>
          </p:cNvSpPr>
          <p:nvPr/>
        </p:nvSpPr>
        <p:spPr>
          <a:xfrm>
            <a:off x="8458200" y="3600450"/>
            <a:ext cx="3067050" cy="514350"/>
          </a:xfrm>
          <a:prstGeom prst="roundRect">
            <a:avLst>
              <a:gd name="adj" fmla="val 12963"/>
            </a:avLst>
          </a:prstGeom>
          <a:solidFill>
            <a:srgbClr val="E4F1EB"/>
          </a:solidFill>
          <a:ln w="9525">
            <a:solidFill>
              <a:srgbClr val="2E6A56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履约完成率｜高风险事件率</a:t>
            </a:r>
          </a:p>
        </p:txBody>
      </p:sp>
      <p:sp>
        <p:nvSpPr>
          <p:cNvPr id="31" name="ai-safety-bg"/>
          <p:cNvSpPr>
            <a:spLocks noGrp="1"/>
          </p:cNvSpPr>
          <p:nvPr/>
        </p:nvSpPr>
        <p:spPr>
          <a:xfrm>
            <a:off x="2000250" y="4829810"/>
            <a:ext cx="8191500" cy="400050"/>
          </a:xfrm>
          <a:prstGeom prst="roundRect">
            <a:avLst>
              <a:gd name="adj" fmla="val 19048"/>
            </a:avLst>
          </a:prstGeom>
          <a:solidFill>
            <a:srgbClr val="2E6A56"/>
          </a:solidFill>
          <a:ln w="9525">
            <a:solidFill>
              <a:srgbClr val="2E6A56"/>
            </a:solidFill>
            <a:prstDash val="solid"/>
          </a:ln>
        </p:spPr>
      </p:sp>
      <p:sp>
        <p:nvSpPr>
          <p:cNvPr id="32" name="ai-safety"/>
          <p:cNvSpPr>
            <a:spLocks noGrp="1"/>
          </p:cNvSpPr>
          <p:nvPr/>
        </p:nvSpPr>
        <p:spPr>
          <a:xfrm>
            <a:off x="2133600" y="4829810"/>
            <a:ext cx="7924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AI安全与人机协同：建议采纳率  ·  人工升级率</a:t>
            </a:r>
          </a:p>
        </p:txBody>
      </p:sp>
      <p:sp>
        <p:nvSpPr>
          <p:cNvPr id="33" name="method-1"/>
          <p:cNvSpPr>
            <a:spLocks noGrp="1"/>
          </p:cNvSpPr>
          <p:nvPr/>
        </p:nvSpPr>
        <p:spPr>
          <a:xfrm>
            <a:off x="1333500" y="5458460"/>
            <a:ext cx="2857500" cy="628650"/>
          </a:xfrm>
          <a:prstGeom prst="roundRect">
            <a:avLst>
              <a:gd name="adj" fmla="val 12121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先锁口径</a:t>
            </a:r>
          </a:p>
          <a:p>
            <a:pPr algn="ctr">
              <a:lnSpc>
                <a:spcPct val="108000"/>
              </a:lnSpc>
              <a:buNone/>
              <a:defRPr sz="13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明确事件、分母与排除条件</a:t>
            </a:r>
          </a:p>
        </p:txBody>
      </p:sp>
      <p:sp>
        <p:nvSpPr>
          <p:cNvPr id="34" name="method-arrow-1"/>
          <p:cNvSpPr>
            <a:spLocks noGrp="1"/>
          </p:cNvSpPr>
          <p:nvPr/>
        </p:nvSpPr>
        <p:spPr>
          <a:xfrm>
            <a:off x="4248150" y="5629910"/>
            <a:ext cx="323850" cy="266700"/>
          </a:xfrm>
          <a:prstGeom prst="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35" name="method-2"/>
          <p:cNvSpPr>
            <a:spLocks noGrp="1"/>
          </p:cNvSpPr>
          <p:nvPr/>
        </p:nvSpPr>
        <p:spPr>
          <a:xfrm>
            <a:off x="4667250" y="5458460"/>
            <a:ext cx="2857500" cy="628650"/>
          </a:xfrm>
          <a:prstGeom prst="roundRect">
            <a:avLst>
              <a:gd name="adj" fmla="val 12121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再采基线</a:t>
            </a:r>
          </a:p>
          <a:p>
            <a:pPr algn="ctr">
              <a:lnSpc>
                <a:spcPct val="108000"/>
              </a:lnSpc>
              <a:buNone/>
              <a:defRPr sz="13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小样本真实运行、人工兜底</a:t>
            </a:r>
          </a:p>
        </p:txBody>
      </p:sp>
      <p:sp>
        <p:nvSpPr>
          <p:cNvPr id="36" name="method-arrow-2"/>
          <p:cNvSpPr>
            <a:spLocks noGrp="1"/>
          </p:cNvSpPr>
          <p:nvPr/>
        </p:nvSpPr>
        <p:spPr>
          <a:xfrm>
            <a:off x="7581900" y="5629910"/>
            <a:ext cx="323850" cy="266700"/>
          </a:xfrm>
          <a:prstGeom prst="rightArrow">
            <a:avLst/>
          </a:prstGeom>
          <a:solidFill>
            <a:srgbClr val="2E6A56"/>
          </a:solidFill>
          <a:ln w="0">
            <a:solidFill>
              <a:srgbClr val="2E6A56"/>
            </a:solidFill>
            <a:prstDash val="solid"/>
          </a:ln>
        </p:spPr>
      </p:sp>
      <p:sp>
        <p:nvSpPr>
          <p:cNvPr id="37" name="method-3"/>
          <p:cNvSpPr>
            <a:spLocks noGrp="1"/>
          </p:cNvSpPr>
          <p:nvPr/>
        </p:nvSpPr>
        <p:spPr>
          <a:xfrm>
            <a:off x="8001000" y="5458460"/>
            <a:ext cx="2857500" cy="628650"/>
          </a:xfrm>
          <a:prstGeom prst="roundRect">
            <a:avLst>
              <a:gd name="adj" fmla="val 12121"/>
            </a:avLst>
          </a:prstGeom>
          <a:solidFill>
            <a:srgbClr val="F4F0E6"/>
          </a:solidFill>
          <a:ln w="9525">
            <a:solidFill>
              <a:srgbClr val="C9C2B3"/>
            </a:solidFill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后做复验</a:t>
            </a:r>
          </a:p>
          <a:p>
            <a:pPr algn="ctr">
              <a:lnSpc>
                <a:spcPct val="108000"/>
              </a:lnSpc>
              <a:buNone/>
              <a:defRPr sz="13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17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同口径复验后决定是否扩展</a:t>
            </a:r>
          </a:p>
        </p:txBody>
      </p:sp>
      <p:sp>
        <p:nvSpPr>
          <p:cNvPr id="38" name="folio-box-14"/>
          <p:cNvSpPr>
            <a:spLocks noGrp="1"/>
          </p:cNvSpPr>
          <p:nvPr/>
        </p:nvSpPr>
        <p:spPr>
          <a:xfrm>
            <a:off x="95250" y="6419850"/>
            <a:ext cx="400050" cy="333375"/>
          </a:xfrm>
          <a:prstGeom prst="rect">
            <a:avLst/>
          </a:prstGeom>
          <a:solidFill>
            <a:srgbClr val="0D3A2D"/>
          </a:solidFill>
          <a:ln w="9525">
            <a:solidFill>
              <a:srgbClr val="0D3A2D"/>
            </a:solidFill>
            <a:prstDash val="solid"/>
          </a:ln>
        </p:spPr>
      </p:sp>
      <p:sp>
        <p:nvSpPr>
          <p:cNvPr id="39" name="folio-14"/>
          <p:cNvSpPr>
            <a:spLocks noGrp="1"/>
          </p:cNvSpPr>
          <p:nvPr/>
        </p:nvSpPr>
        <p:spPr>
          <a:xfrm>
            <a:off x="114300" y="64198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6451"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lang="en-US" altLang="zh-CN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lang="en-US" sz="180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folio-caption-14"/>
          <p:cNvSpPr>
            <a:spLocks noGrp="1"/>
          </p:cNvSpPr>
          <p:nvPr/>
        </p:nvSpPr>
        <p:spPr>
          <a:xfrm>
            <a:off x="552450" y="64770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263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 STAGE VALIDATION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tage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A2D"/>
          </a:solidFill>
          <a:ln w="0">
            <a:noFill/>
            <a:prstDash val="solid"/>
          </a:ln>
        </p:spPr>
      </p:sp>
      <p:pic>
        <p:nvPicPr>
          <p:cNvPr id="30" name="stage-organic-gradient"/>
          <p:cNvPicPr>
            <a:picLocks noChangeAspect="1"/>
          </p:cNvPicPr>
          <p:nvPr/>
        </p:nvPicPr>
        <p:blipFill>
          <a:blip r:embed="rId3"/>
          <a:srcRect t="3947" b="3947"/>
          <a:stretch>
            <a:fillRect/>
          </a:stretch>
        </p:blipFill>
        <p:spPr>
          <a:xfrm>
            <a:off x="0" y="0"/>
            <a:ext cx="7239000" cy="6858000"/>
          </a:xfrm>
          <a:prstGeom prst="rect">
            <a:avLst/>
          </a:prstGeom>
        </p:spPr>
      </p:pic>
      <p:sp>
        <p:nvSpPr>
          <p:cNvPr id="3" name="closing-orbit"/>
          <p:cNvSpPr>
            <a:spLocks noGrp="1"/>
          </p:cNvSpPr>
          <p:nvPr/>
        </p:nvSpPr>
        <p:spPr>
          <a:xfrm>
            <a:off x="7962900" y="171450"/>
            <a:ext cx="4038600" cy="4038600"/>
          </a:xfrm>
          <a:prstGeom prst="ellipse">
            <a:avLst/>
          </a:prstGeom>
          <a:solidFill>
            <a:srgbClr val="F4F0E6"/>
          </a:solidFill>
          <a:ln w="0">
            <a:noFill/>
            <a:prstDash val="solid"/>
          </a:ln>
        </p:spPr>
      </p:sp>
      <p:sp>
        <p:nvSpPr>
          <p:cNvPr id="4" name="closing-orbit-inner"/>
          <p:cNvSpPr>
            <a:spLocks noGrp="1"/>
          </p:cNvSpPr>
          <p:nvPr/>
        </p:nvSpPr>
        <p:spPr>
          <a:xfrm>
            <a:off x="8801100" y="1009650"/>
            <a:ext cx="2362200" cy="2362200"/>
          </a:xfrm>
          <a:prstGeom prst="ellipse">
            <a:avLst/>
          </a:prstGeom>
          <a:solidFill>
            <a:srgbClr val="BFE8D7"/>
          </a:solidFill>
          <a:ln w="0">
            <a:noFill/>
            <a:prstDash val="solid"/>
          </a:ln>
        </p:spPr>
      </p:sp>
      <p:sp>
        <p:nvSpPr>
          <p:cNvPr id="5" name="closing-orbit-core"/>
          <p:cNvSpPr>
            <a:spLocks noGrp="1"/>
          </p:cNvSpPr>
          <p:nvPr/>
        </p:nvSpPr>
        <p:spPr>
          <a:xfrm>
            <a:off x="9458325" y="1666875"/>
            <a:ext cx="1047750" cy="1047750"/>
          </a:xfrm>
          <a:prstGeom prst="ellipse">
            <a:avLst/>
          </a:prstGeom>
          <a:solidFill>
            <a:srgbClr val="0D3A2D"/>
          </a:solidFill>
          <a:ln w="0">
            <a:noFill/>
            <a:prstDash val="solid"/>
          </a:ln>
        </p:spPr>
      </p:sp>
      <p:sp>
        <p:nvSpPr>
          <p:cNvPr id="6" name="closing-node-1"/>
          <p:cNvSpPr>
            <a:spLocks noGrp="1"/>
          </p:cNvSpPr>
          <p:nvPr/>
        </p:nvSpPr>
        <p:spPr>
          <a:xfrm>
            <a:off x="9696450" y="1412875"/>
            <a:ext cx="609600" cy="609600"/>
          </a:xfrm>
          <a:prstGeom prst="ellipse">
            <a:avLst/>
          </a:prstGeom>
          <a:solidFill>
            <a:srgbClr val="C5A36A"/>
          </a:solidFill>
          <a:ln w="0">
            <a:noFill/>
            <a:prstDash val="solid"/>
          </a:ln>
        </p:spPr>
      </p:sp>
      <p:sp>
        <p:nvSpPr>
          <p:cNvPr id="7" name="closing-node-2"/>
          <p:cNvSpPr>
            <a:spLocks noGrp="1"/>
          </p:cNvSpPr>
          <p:nvPr/>
        </p:nvSpPr>
        <p:spPr>
          <a:xfrm>
            <a:off x="9264015" y="2132965"/>
            <a:ext cx="609600" cy="609600"/>
          </a:xfrm>
          <a:prstGeom prst="ellipse">
            <a:avLst/>
          </a:prstGeom>
          <a:solidFill>
            <a:srgbClr val="D27A62"/>
          </a:solidFill>
          <a:ln w="0">
            <a:noFill/>
            <a:prstDash val="solid"/>
          </a:ln>
        </p:spPr>
      </p:sp>
      <p:sp>
        <p:nvSpPr>
          <p:cNvPr id="8" name="closing-node-3"/>
          <p:cNvSpPr>
            <a:spLocks noGrp="1"/>
          </p:cNvSpPr>
          <p:nvPr/>
        </p:nvSpPr>
        <p:spPr>
          <a:xfrm>
            <a:off x="10200640" y="2132965"/>
            <a:ext cx="609600" cy="609600"/>
          </a:xfrm>
          <a:prstGeom prst="ellipse">
            <a:avLst/>
          </a:prstGeom>
          <a:solidFill>
            <a:srgbClr val="2E6A56"/>
          </a:solidFill>
          <a:ln w="0">
            <a:noFill/>
            <a:prstDash val="solid"/>
          </a:ln>
        </p:spPr>
      </p:sp>
      <p:sp>
        <p:nvSpPr>
          <p:cNvPr id="10" name="closing-orbit-caption"/>
          <p:cNvSpPr>
            <a:spLocks noGrp="1"/>
          </p:cNvSpPr>
          <p:nvPr/>
        </p:nvSpPr>
        <p:spPr>
          <a:xfrm>
            <a:off x="8324850" y="3429000"/>
            <a:ext cx="3314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从成长，到照护</a:t>
            </a:r>
          </a:p>
        </p:txBody>
      </p:sp>
      <p:sp>
        <p:nvSpPr>
          <p:cNvPr id="11" name="closing-node-label-1"/>
          <p:cNvSpPr>
            <a:spLocks noGrp="1"/>
          </p:cNvSpPr>
          <p:nvPr/>
        </p:nvSpPr>
        <p:spPr>
          <a:xfrm>
            <a:off x="9552305" y="1557020"/>
            <a:ext cx="876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BFE8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FE8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成长</a:t>
            </a:r>
          </a:p>
        </p:txBody>
      </p:sp>
      <p:sp>
        <p:nvSpPr>
          <p:cNvPr id="12" name="closing-node-label-2"/>
          <p:cNvSpPr>
            <a:spLocks noGrp="1"/>
          </p:cNvSpPr>
          <p:nvPr/>
        </p:nvSpPr>
        <p:spPr>
          <a:xfrm>
            <a:off x="9130665" y="2277110"/>
            <a:ext cx="876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BFE8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FE8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就业</a:t>
            </a:r>
          </a:p>
        </p:txBody>
      </p:sp>
      <p:sp>
        <p:nvSpPr>
          <p:cNvPr id="13" name="closing-node-label-3"/>
          <p:cNvSpPr>
            <a:spLocks noGrp="1"/>
          </p:cNvSpPr>
          <p:nvPr/>
        </p:nvSpPr>
        <p:spPr>
          <a:xfrm>
            <a:off x="10056495" y="2277110"/>
            <a:ext cx="876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BFE8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FE8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照护</a:t>
            </a:r>
          </a:p>
        </p:txBody>
      </p:sp>
      <p:sp>
        <p:nvSpPr>
          <p:cNvPr id="14" name="closing-orbit-note"/>
          <p:cNvSpPr>
            <a:spLocks noGrp="1"/>
          </p:cNvSpPr>
          <p:nvPr/>
        </p:nvSpPr>
        <p:spPr>
          <a:xfrm>
            <a:off x="8420100" y="5657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92D4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一条协同链，落到真实现场</a:t>
            </a:r>
          </a:p>
        </p:txBody>
      </p:sp>
      <p:sp>
        <p:nvSpPr>
          <p:cNvPr id="16" name="closing-brand"/>
          <p:cNvSpPr>
            <a:spLocks noGrp="1"/>
          </p:cNvSpPr>
          <p:nvPr/>
        </p:nvSpPr>
        <p:spPr>
          <a:xfrm>
            <a:off x="335280" y="69278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2850" b="1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defRPr>
            </a:pPr>
            <a:r>
              <a:rPr lang="zh-CN" sz="6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黑体" panose="02010609060101010101" charset="-122"/>
                <a:ea typeface="黑体" panose="02010609060101010101" charset="-122"/>
                <a:cs typeface="华文楷体" panose="02010600040101010101" charset="-122"/>
              </a:rPr>
              <a:t>『</a:t>
            </a:r>
            <a:r>
              <a:rPr sz="6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黑体" panose="02010609060101010101" charset="-122"/>
                <a:ea typeface="黑体" panose="02010609060101010101" charset="-122"/>
                <a:sym typeface="+mn-ea"/>
              </a:rPr>
              <a:t>颐路同行</a:t>
            </a:r>
            <a:r>
              <a:rPr lang="zh-CN" sz="600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黑体" panose="02010609060101010101" charset="-122"/>
                <a:ea typeface="黑体" panose="02010609060101010101" charset="-122"/>
                <a:cs typeface="华文楷体" panose="02010600040101010101" charset="-122"/>
              </a:rPr>
              <a:t>』</a:t>
            </a:r>
          </a:p>
        </p:txBody>
      </p:sp>
      <p:sp>
        <p:nvSpPr>
          <p:cNvPr id="17" name="closing-claim"/>
          <p:cNvSpPr>
            <a:spLocks noGrp="1"/>
          </p:cNvSpPr>
          <p:nvPr/>
        </p:nvSpPr>
        <p:spPr>
          <a:xfrm>
            <a:off x="609600" y="1619250"/>
            <a:ext cx="666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让人才成长，</a:t>
            </a:r>
          </a:p>
          <a:p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真正抵达照护现场</a:t>
            </a:r>
          </a:p>
        </p:txBody>
      </p:sp>
      <p:sp>
        <p:nvSpPr>
          <p:cNvPr id="18" name="closing-claim-underline"/>
          <p:cNvSpPr>
            <a:spLocks noGrp="1"/>
          </p:cNvSpPr>
          <p:nvPr/>
        </p:nvSpPr>
        <p:spPr>
          <a:xfrm>
            <a:off x="647700" y="31813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BFE8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dirty="0" err="1">
                <a:solidFill>
                  <a:srgbClr val="BFE8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把学习、就业与照护，放回同一条真实路径</a:t>
            </a:r>
            <a:br>
              <a:rPr lang="en-US" sz="1650" b="0" dirty="0">
                <a:solidFill>
                  <a:srgbClr val="BFE8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sz="1650" b="0" dirty="0" err="1">
                <a:solidFill>
                  <a:srgbClr val="BFE8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共同驱动</a:t>
            </a:r>
            <a:r>
              <a:rPr lang="en-US" sz="1650" b="0" dirty="0">
                <a:solidFill>
                  <a:srgbClr val="BFE8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en-US" sz="1650" b="0" dirty="0" err="1">
                <a:solidFill>
                  <a:srgbClr val="BFE8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时代的智能体数据飞轮</a:t>
            </a:r>
            <a:endParaRPr sz="1650" b="0" dirty="0">
              <a:solidFill>
                <a:srgbClr val="BFE8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losing-project-name"/>
          <p:cNvSpPr>
            <a:spLocks noGrp="1"/>
          </p:cNvSpPr>
          <p:nvPr/>
        </p:nvSpPr>
        <p:spPr>
          <a:xfrm>
            <a:off x="647700" y="3933825"/>
            <a:ext cx="666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颐路同行</a:t>
            </a:r>
            <a:r>
              <a:rPr sz="15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sz="1575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基于多智能体协同的</a:t>
            </a:r>
            <a:endParaRPr sz="157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护理康养人才成长与照护服务平台</a:t>
            </a:r>
            <a:endParaRPr sz="157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closing-ask-panel"/>
          <p:cNvSpPr>
            <a:spLocks noGrp="1"/>
          </p:cNvSpPr>
          <p:nvPr/>
        </p:nvSpPr>
        <p:spPr>
          <a:xfrm>
            <a:off x="609600" y="4857750"/>
            <a:ext cx="6572250" cy="914400"/>
          </a:xfrm>
          <a:prstGeom prst="roundRect">
            <a:avLst>
              <a:gd name="adj" fmla="val 8333"/>
            </a:avLst>
          </a:prstGeom>
          <a:solidFill>
            <a:srgbClr val="92D4BC"/>
          </a:solidFill>
          <a:ln w="114300">
            <a:solidFill>
              <a:srgbClr val="92D4BC"/>
            </a:solidFill>
            <a:prstDash val="solid"/>
          </a:ln>
        </p:spPr>
      </p:sp>
      <p:sp>
        <p:nvSpPr>
          <p:cNvPr id="21" name="closing-ask-title"/>
          <p:cNvSpPr>
            <a:spLocks noGrp="1"/>
          </p:cNvSpPr>
          <p:nvPr/>
        </p:nvSpPr>
        <p:spPr>
          <a:xfrm>
            <a:off x="838200" y="4972050"/>
            <a:ext cx="611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dirty="0" err="1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sz="2100" b="1" dirty="0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100" b="1" dirty="0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从可交互原型到</a:t>
            </a:r>
            <a:r>
              <a:rPr lang="en-US" altLang="zh-CN" sz="2100" b="1" dirty="0">
                <a:solidFill>
                  <a:srgbClr val="0D3A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MVP</a:t>
            </a:r>
            <a:endParaRPr sz="2100" b="1" dirty="0">
              <a:solidFill>
                <a:srgbClr val="0D3A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closing-ask-sub"/>
          <p:cNvSpPr>
            <a:spLocks noGrp="1"/>
          </p:cNvSpPr>
          <p:nvPr/>
        </p:nvSpPr>
        <p:spPr>
          <a:xfrm>
            <a:off x="857250" y="53911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E6A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真实机构  ·  专业指导  ·  过程数据</a:t>
            </a:r>
          </a:p>
        </p:txBody>
      </p:sp>
      <p:sp>
        <p:nvSpPr>
          <p:cNvPr id="24" name="footer-divider"/>
          <p:cNvSpPr>
            <a:spLocks noGrp="1"/>
          </p:cNvSpPr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2E6A56"/>
          </a:solidFill>
          <a:ln w="0">
            <a:noFill/>
            <a:prstDash val="solid"/>
          </a:ln>
        </p:spPr>
      </p:sp>
      <p:sp>
        <p:nvSpPr>
          <p:cNvPr id="25" name="footer-page-marker"/>
          <p:cNvSpPr>
            <a:spLocks noGrp="1"/>
          </p:cNvSpPr>
          <p:nvPr/>
        </p:nvSpPr>
        <p:spPr>
          <a:xfrm>
            <a:off x="609600" y="6438900"/>
            <a:ext cx="361950" cy="266700"/>
          </a:xfrm>
          <a:prstGeom prst="rect">
            <a:avLst/>
          </a:prstGeom>
          <a:solidFill>
            <a:srgbClr val="92D4BC"/>
          </a:solidFill>
          <a:ln w="0">
            <a:noFill/>
            <a:prstDash val="solid"/>
          </a:ln>
        </p:spPr>
      </p:sp>
      <p:sp>
        <p:nvSpPr>
          <p:cNvPr id="26" name="footer-page-number"/>
          <p:cNvSpPr>
            <a:spLocks noGrp="1"/>
          </p:cNvSpPr>
          <p:nvPr/>
        </p:nvSpPr>
        <p:spPr>
          <a:xfrm>
            <a:off x="609600" y="6450965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dirty="0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lang="en-US" altLang="zh-CN" sz="1350" b="1" dirty="0">
                <a:solidFill>
                  <a:srgbClr val="0D3A2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lang="en-US" sz="1350" b="1" dirty="0">
              <a:solidFill>
                <a:srgbClr val="0D3A2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footer-project-name"/>
          <p:cNvSpPr>
            <a:spLocks noGrp="1"/>
          </p:cNvSpPr>
          <p:nvPr/>
        </p:nvSpPr>
        <p:spPr>
          <a:xfrm>
            <a:off x="1143000" y="6391275"/>
            <a:ext cx="876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BFE8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BFE8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颐路同行——基于多智能体协同的护理康养人才成长与照护服务平台</a:t>
            </a:r>
          </a:p>
        </p:txBody>
      </p:sp>
      <p:sp>
        <p:nvSpPr>
          <p:cNvPr id="28" name="footer-contact-cue"/>
          <p:cNvSpPr>
            <a:spLocks noGrp="1"/>
          </p:cNvSpPr>
          <p:nvPr/>
        </p:nvSpPr>
        <p:spPr>
          <a:xfrm>
            <a:off x="9925050" y="6410325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6000"/>
              </a:lnSpc>
              <a:buNone/>
              <a:defRPr sz="1200" b="1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欢迎交流 · 共建 </a:t>
            </a:r>
            <a:r>
              <a:rPr lang="en-US" sz="1200" b="1">
                <a:solidFill>
                  <a:srgbClr val="C5A3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MVP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75,&quot;left&quot;:388.5,&quot;top&quot;:99,&quot;width&quot;:511.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,&quot;left&quot;:36,&quot;top&quot;:381,&quot;width&quot;:879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,&quot;left&quot;:40.5,&quot;top&quot;:85.5,&quot;width&quot;:87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,&quot;left&quot;:40.5,&quot;top&quot;:85.5,&quot;width&quot;:87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,&quot;left&quot;:40.5,&quot;top&quot;:85.5,&quot;width&quot;:87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,&quot;left&quot;:40.5,&quot;top&quot;:85.5,&quot;width&quot;:87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,&quot;left&quot;:40.5,&quot;top&quot;:85.5,&quot;width&quot;:87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,&quot;left&quot;:40.5,&quot;top&quot;:85.5,&quot;width&quot;:87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,&quot;left&quot;:40.5,&quot;top&quot;:85.5,&quot;width&quot;:87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,&quot;left&quot;:40.5,&quot;top&quot;:85.5,&quot;width&quot;:87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,&quot;left&quot;:40.5,&quot;top&quot;:85.5,&quot;width&quot;:87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,&quot;left&quot;:40.5,&quot;top&quot;:85.5,&quot;width&quot;:87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,&quot;left&quot;:40.5,&quot;top&quot;:85.5,&quot;width&quot;:876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,&quot;left&quot;:40.5,&quot;top&quot;:85.5,&quot;width&quot;:876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.5,&quot;left&quot;:319.5,&quot;top&quot;:385.35,&quot;width&quot;:592.5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.5,&quot;left&quot;:319.5,&quot;top&quot;:385.35,&quot;width&quot;:592.5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.5,&quot;left&quot;:319.5,&quot;top&quot;:385.35,&quot;width&quot;:592.5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.5,&quot;left&quot;:319.5,&quot;top&quot;:385.35,&quot;width&quot;:592.5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.5,&quot;left&quot;:319.5,&quot;top&quot;:385.35,&quot;width&quot;:592.5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.5,&quot;left&quot;:319.5,&quot;top&quot;:385.35,&quot;width&quot;:592.5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.5,&quot;left&quot;:319.5,&quot;top&quot;:385.35,&quot;width&quot;:592.5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.5,&quot;left&quot;:319.5,&quot;top&quot;:385.35,&quot;width&quot;:592.5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.5,&quot;left&quot;:319.5,&quot;top&quot;:385.35,&quot;width&quot;:592.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.5,&quot;left&quot;:319.5,&quot;top&quot;:385.35,&quot;width&quot;:592.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.5,&quot;left&quot;:319.5,&quot;top&quot;:385.35,&quot;width&quot;:592.5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.5,&quot;left&quot;:319.5,&quot;top&quot;:385.35,&quot;width&quot;:592.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1.55,&quot;left&quot;:49.5,&quot;top&quot;:115.5,&quot;width&quot;:861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1562</Words>
  <Application>Microsoft Macintosh PowerPoint</Application>
  <PresentationFormat>宽屏</PresentationFormat>
  <Paragraphs>471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黑体</vt:lpstr>
      <vt:lpstr>微软雅黑</vt:lpstr>
      <vt:lpstr>Arial</vt:lpstr>
      <vt:lpstr>Calibri</vt:lpstr>
      <vt:lpstr>Georgia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KinomotoMio</cp:lastModifiedBy>
  <cp:revision>90</cp:revision>
  <dcterms:created xsi:type="dcterms:W3CDTF">2026-08-09T23:39:00Z</dcterms:created>
  <dcterms:modified xsi:type="dcterms:W3CDTF">2026-08-12T11:12:25Z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D4C16252ADCA4DF884429AF7A9484B9B_13</vt:lpwstr>
  </property>
</Properties>
</file>